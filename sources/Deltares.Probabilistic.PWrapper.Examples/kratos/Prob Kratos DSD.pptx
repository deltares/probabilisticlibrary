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260" r:id="rId5"/>
    <p:sldId id="263" r:id="rId6"/>
    <p:sldId id="287" r:id="rId7"/>
    <p:sldId id="288" r:id="rId8"/>
    <p:sldId id="286" r:id="rId9"/>
    <p:sldId id="289" r:id="rId10"/>
    <p:sldId id="261" r:id="rId11"/>
    <p:sldId id="290" r:id="rId12"/>
    <p:sldId id="291" r:id="rId13"/>
    <p:sldId id="292" r:id="rId14"/>
    <p:sldId id="293" r:id="rId15"/>
    <p:sldId id="294" r:id="rId16"/>
    <p:sldId id="296" r:id="rId17"/>
    <p:sldId id="295" r:id="rId18"/>
    <p:sldId id="297" r:id="rId19"/>
    <p:sldId id="298" r:id="rId20"/>
    <p:sldId id="299" r:id="rId21"/>
    <p:sldId id="300" r:id="rId2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  <a:srgbClr val="FFFFFF"/>
    <a:srgbClr val="C0C0C0"/>
    <a:srgbClr val="707070"/>
    <a:srgbClr val="00B389"/>
    <a:srgbClr val="F1F3FD"/>
    <a:srgbClr val="0D38E0"/>
    <a:srgbClr val="080C80"/>
    <a:srgbClr val="0EA2ED"/>
    <a:srgbClr val="00D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301B821-A1FF-4177-AEE7-76D212191A09}" styleName="Stijl, gemiddeld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929" autoAdjust="0"/>
    <p:restoredTop sz="94712" autoAdjust="0"/>
  </p:normalViewPr>
  <p:slideViewPr>
    <p:cSldViewPr snapToGrid="0" showGuides="1">
      <p:cViewPr>
        <p:scale>
          <a:sx n="100" d="100"/>
          <a:sy n="100" d="100"/>
        </p:scale>
        <p:origin x="480" y="3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B07A4AF-8444-4E55-9211-06750DF868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059487" y="8229664"/>
            <a:ext cx="588963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9B6C5B75-63DC-4795-B872-D188C0279E99}" type="slidenum">
              <a:rPr lang="nl-NL" sz="1000" smtClean="0"/>
              <a:pPr/>
              <a:t>‹#›</a:t>
            </a:fld>
            <a:endParaRPr lang="nl-NL" sz="1000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3086CC55-5F13-427E-8D55-23A3E11C4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512" y="8635837"/>
            <a:ext cx="1080000" cy="35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53493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extLst>
    <p:ext uri="{56416CCD-93CA-4268-BC5B-53C4BB910035}">
      <p15:sldGuideLst xmlns:p15="http://schemas.microsoft.com/office/powerpoint/2012/main"/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6172200" y="8685213"/>
            <a:ext cx="438150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000"/>
            </a:lvl1pPr>
          </a:lstStyle>
          <a:p>
            <a:fld id="{309F7339-69D5-4EA7-B93A-8AF4EDB56B8B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3EB29D91-C68B-40E2-ACA8-22AC17FBF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2" y="8592970"/>
            <a:ext cx="1080000" cy="351000"/>
          </a:xfrm>
          <a:prstGeom prst="rect">
            <a:avLst/>
          </a:prstGeom>
        </p:spPr>
      </p:pic>
      <p:sp>
        <p:nvSpPr>
          <p:cNvPr id="9" name="Tijdelijke aanduiding voor notities 8">
            <a:extLst>
              <a:ext uri="{FF2B5EF4-FFF2-40B4-BE49-F238E27FC236}">
                <a16:creationId xmlns:a16="http://schemas.microsoft.com/office/drawing/2014/main" id="{A3C8BF89-5841-4101-9B55-9A1ADF2AA4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73795008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10772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DeltaresNL/" TargetMode="External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hyperlink" Target="mailto:info@deltares.nl" TargetMode="External"/><Relationship Id="rId21" Type="http://schemas.openxmlformats.org/officeDocument/2006/relationships/image" Target="../media/image19.svg"/><Relationship Id="rId7" Type="http://schemas.openxmlformats.org/officeDocument/2006/relationships/hyperlink" Target="https://www.instagram.com/deltares/" TargetMode="External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" Type="http://schemas.openxmlformats.org/officeDocument/2006/relationships/image" Target="../media/image6.jp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deltares.nl/" TargetMode="External"/><Relationship Id="rId11" Type="http://schemas.openxmlformats.org/officeDocument/2006/relationships/image" Target="../media/image9.svg"/><Relationship Id="rId5" Type="http://schemas.openxmlformats.org/officeDocument/2006/relationships/hyperlink" Target="https://www.linkedin.com/company/deltares" TargetMode="External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4" Type="http://schemas.openxmlformats.org/officeDocument/2006/relationships/hyperlink" Target="https://twitter.com/deltares/" TargetMode="External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1.svg"/><Relationship Id="rId3" Type="http://schemas.openxmlformats.org/officeDocument/2006/relationships/image" Target="../media/image7.png"/><Relationship Id="rId7" Type="http://schemas.openxmlformats.org/officeDocument/2006/relationships/image" Target="../media/image13.svg"/><Relationship Id="rId12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9.svg"/><Relationship Id="rId1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8.png"/><Relationship Id="rId9" Type="http://schemas.openxmlformats.org/officeDocument/2006/relationships/image" Target="../media/image17.svg"/><Relationship Id="rId14" Type="http://schemas.openxmlformats.org/officeDocument/2006/relationships/image" Target="../media/image1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532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860" y="5295900"/>
            <a:ext cx="600222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861" y="3854640"/>
            <a:ext cx="600222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22938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258" y="1766078"/>
            <a:ext cx="6006145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604582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B057708-D1C8-4296-B46B-067A31C01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0135801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.Titeldia met vierkant be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685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180256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Groen)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454C307C-D04D-4709-9FD4-571150894DD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4193988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Blauw)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FE604B20-D198-4E8C-9B1F-0066D909E5D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3739235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opgave met Partner 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FEC7CA-9C23-4C8C-8E52-48827CB3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AB16DB44-A35C-4555-8271-1BC45D5EE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8298A93-251E-4C71-ACF3-6A1388860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E74A889B-77F6-4552-B217-7A2CA16B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9EBD329-956B-407B-9AD6-0D41AC6CBE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1" y="1762124"/>
            <a:ext cx="10517112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ijdelijke aanduiding voor afbeelding 13">
            <a:extLst>
              <a:ext uri="{FF2B5EF4-FFF2-40B4-BE49-F238E27FC236}">
                <a16:creationId xmlns:a16="http://schemas.microsoft.com/office/drawing/2014/main" id="{29C6F091-D152-418D-B9F8-A87580FF62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358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1" name="Tijdelijke aanduiding voor afbeelding 13">
            <a:extLst>
              <a:ext uri="{FF2B5EF4-FFF2-40B4-BE49-F238E27FC236}">
                <a16:creationId xmlns:a16="http://schemas.microsoft.com/office/drawing/2014/main" id="{60BE643B-1ED0-4C44-A1BD-69154E57883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73876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2" name="Tijdelijke aanduiding voor afbeelding 13">
            <a:extLst>
              <a:ext uri="{FF2B5EF4-FFF2-40B4-BE49-F238E27FC236}">
                <a16:creationId xmlns:a16="http://schemas.microsoft.com/office/drawing/2014/main" id="{A065EEC8-0E39-4605-AE1D-D95CBC90482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14164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3" name="Tijdelijke aanduiding voor afbeelding 13">
            <a:extLst>
              <a:ext uri="{FF2B5EF4-FFF2-40B4-BE49-F238E27FC236}">
                <a16:creationId xmlns:a16="http://schemas.microsoft.com/office/drawing/2014/main" id="{48162130-D103-42A6-B07E-E8EF0590181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54452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4" name="Tijdelijke aanduiding voor afbeelding 13">
            <a:extLst>
              <a:ext uri="{FF2B5EF4-FFF2-40B4-BE49-F238E27FC236}">
                <a16:creationId xmlns:a16="http://schemas.microsoft.com/office/drawing/2014/main" id="{7250C887-952A-4DC1-8215-8DFA36C6EDD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94740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5" name="Tijdelijke aanduiding voor afbeelding 13">
            <a:extLst>
              <a:ext uri="{FF2B5EF4-FFF2-40B4-BE49-F238E27FC236}">
                <a16:creationId xmlns:a16="http://schemas.microsoft.com/office/drawing/2014/main" id="{B0075813-47FE-4243-A0DB-86635BED623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73502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6" name="Tijdelijke aanduiding voor afbeelding 13">
            <a:extLst>
              <a:ext uri="{FF2B5EF4-FFF2-40B4-BE49-F238E27FC236}">
                <a16:creationId xmlns:a16="http://schemas.microsoft.com/office/drawing/2014/main" id="{B8D44326-7D12-4338-99E1-2E879D21A25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0075317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648288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2 objec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BD4A7-30E2-4E78-B4FA-A8B2C41A6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89361EE-4435-4145-8E9D-4F0A53E9E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6DFBB55-F053-4FC0-8FD6-FD27BC57E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220EB44-40D1-4CAF-8FFD-29202A0A5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564A6160-4B2C-4199-AB7C-023FEDE195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5650" y="1768763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8" name="Tijdelijke aanduiding voor inhoud 6">
            <a:extLst>
              <a:ext uri="{FF2B5EF4-FFF2-40B4-BE49-F238E27FC236}">
                <a16:creationId xmlns:a16="http://schemas.microsoft.com/office/drawing/2014/main" id="{A7315F35-EA75-4506-B955-CB617ACBDB4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1825" y="1770636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4359406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 met tite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B360240-711C-40DC-B819-28D5F76EA2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2125"/>
            <a:ext cx="5065347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485B8C4-FFE1-4941-89E1-E5B658D719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5650" y="2556001"/>
            <a:ext cx="5065347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D244503-4D19-475F-8DE3-680EA8CDC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0997" y="1762125"/>
            <a:ext cx="5087002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D37810D-DEFA-432E-B30A-7F13B7EF0F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0997" y="2556001"/>
            <a:ext cx="5087002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D5B83A0-F52F-4A50-A779-6FBDEC06B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0DF3265-27D0-49AD-8963-A3EC3CB22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632C89B3-2645-49EA-AE6E-C0189B3A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9CFFACB9-41BE-4C1C-8FD9-C0590014C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4474446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77C9B-D616-43D5-9E9C-399615DA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497891F0-8DCB-4D52-8695-2AD665086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B044C9F-B1E5-43F8-ABA5-F8A0AF3BD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14021C5-B1DD-464A-832F-A03BCAB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49620551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076175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5"/>
            <a:ext cx="5076175" cy="4322762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481776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ee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4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724001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jdelijke aanduiding voor tekst 8">
            <a:extLst>
              <a:ext uri="{FF2B5EF4-FFF2-40B4-BE49-F238E27FC236}">
                <a16:creationId xmlns:a16="http://schemas.microsoft.com/office/drawing/2014/main" id="{B5530F62-171F-4B44-ACAA-AC786B92F20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191825" y="5724000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051189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r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61FC5BFF-809B-4D7D-AC0F-5D7B92535F0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455737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F51408D9-846A-496F-B660-9763E7E9FC9C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55911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B1122521-F62D-48C8-B637-D4F27028964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55824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650134BB-B103-4668-BCD7-561087B391F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55737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jdelijke aanduiding voor tekst 8">
            <a:extLst>
              <a:ext uri="{FF2B5EF4-FFF2-40B4-BE49-F238E27FC236}">
                <a16:creationId xmlns:a16="http://schemas.microsoft.com/office/drawing/2014/main" id="{545B6CBB-4649-4D2E-B29A-C3F6E02090C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55824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9D1568BF-DD59-4BEE-A218-1B34F1C6B38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855911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450455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1768763"/>
            <a:ext cx="10512348" cy="4320000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6227857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volle breed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1743163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jdelijke aanduiding voor tekst 61">
            <a:extLst>
              <a:ext uri="{FF2B5EF4-FFF2-40B4-BE49-F238E27FC236}">
                <a16:creationId xmlns:a16="http://schemas.microsoft.com/office/drawing/2014/main" id="{CAD4495B-AA1A-4F62-8627-35615163577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0752" y="6267443"/>
            <a:ext cx="1188000" cy="3852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532634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str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7382169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70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140700" y="857"/>
            <a:ext cx="3599932" cy="6857143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124537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 sta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5340000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2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096000" y="857"/>
            <a:ext cx="5644632" cy="6857143"/>
          </a:xfrm>
          <a:solidFill>
            <a:schemeClr val="bg1">
              <a:lumMod val="85000"/>
            </a:schemeClr>
          </a:solidFill>
        </p:spPr>
        <p:txBody>
          <a:bodyPr tIns="378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274022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of logo overz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F2D50-CADF-4163-A029-8B9A0424B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10512000" cy="46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60EC3D4-D14B-4BCD-BF52-05BE98A99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36323C5-92AF-4A0E-82DF-F4AB426B3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FFE8BBA-2E99-4D96-8F25-2A98D038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8" name="Tijdelijke aanduiding voor afbeelding 65">
            <a:extLst>
              <a:ext uri="{FF2B5EF4-FFF2-40B4-BE49-F238E27FC236}">
                <a16:creationId xmlns:a16="http://schemas.microsoft.com/office/drawing/2014/main" id="{2AF1D927-9FAE-49C1-9BD6-F1C4F8D7594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afbeelding 65">
            <a:extLst>
              <a:ext uri="{FF2B5EF4-FFF2-40B4-BE49-F238E27FC236}">
                <a16:creationId xmlns:a16="http://schemas.microsoft.com/office/drawing/2014/main" id="{733ADF27-84E5-4C77-A414-7F0E4DA3DA9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906724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1C857FC7-6D65-4C72-9D0F-581A48D07155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057799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B765388F-978F-43F5-923F-85D826894A4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208875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A87D663-B54E-4A21-A00C-0BD3BFB4647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3599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3" name="Tijdelijke aanduiding voor afbeelding 65">
            <a:extLst>
              <a:ext uri="{FF2B5EF4-FFF2-40B4-BE49-F238E27FC236}">
                <a16:creationId xmlns:a16="http://schemas.microsoft.com/office/drawing/2014/main" id="{56FDE74E-0F50-4155-BEEC-2850FDC97DB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556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D71C804D-3C0F-41A5-8373-6A3A8168C95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906724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0C3E9BDF-7ACE-40C6-8AC1-CCDE842E1F33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057799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4E753E60-0CC4-4D5F-9F09-D1EB7F5C1B6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7208875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afbeelding 65">
            <a:extLst>
              <a:ext uri="{FF2B5EF4-FFF2-40B4-BE49-F238E27FC236}">
                <a16:creationId xmlns:a16="http://schemas.microsoft.com/office/drawing/2014/main" id="{3CA6A3D3-992C-4A44-ACE1-E437BA7329B1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3599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8" name="Tijdelijke aanduiding voor afbeelding 65">
            <a:extLst>
              <a:ext uri="{FF2B5EF4-FFF2-40B4-BE49-F238E27FC236}">
                <a16:creationId xmlns:a16="http://schemas.microsoft.com/office/drawing/2014/main" id="{92F6A7FF-822A-4C63-8F78-1CCC66B869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556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9" name="Tijdelijke aanduiding voor afbeelding 65">
            <a:extLst>
              <a:ext uri="{FF2B5EF4-FFF2-40B4-BE49-F238E27FC236}">
                <a16:creationId xmlns:a16="http://schemas.microsoft.com/office/drawing/2014/main" id="{9E6C6AC3-C163-4C9D-AC60-05BBCCF91478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906724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0" name="Tijdelijke aanduiding voor afbeelding 65">
            <a:extLst>
              <a:ext uri="{FF2B5EF4-FFF2-40B4-BE49-F238E27FC236}">
                <a16:creationId xmlns:a16="http://schemas.microsoft.com/office/drawing/2014/main" id="{3168A12F-BFBE-4360-98BA-A467C3F113E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5057799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1" name="Tijdelijke aanduiding voor afbeelding 65">
            <a:extLst>
              <a:ext uri="{FF2B5EF4-FFF2-40B4-BE49-F238E27FC236}">
                <a16:creationId xmlns:a16="http://schemas.microsoft.com/office/drawing/2014/main" id="{27717DEB-1276-417F-A482-0C7E87407CFC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7208875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2" name="Tijdelijke aanduiding voor afbeelding 65">
            <a:extLst>
              <a:ext uri="{FF2B5EF4-FFF2-40B4-BE49-F238E27FC236}">
                <a16:creationId xmlns:a16="http://schemas.microsoft.com/office/drawing/2014/main" id="{DC804FE7-5194-45B7-9F11-66B83C126F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3599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3" name="Tijdelijke aanduiding voor afbeelding 65">
            <a:extLst>
              <a:ext uri="{FF2B5EF4-FFF2-40B4-BE49-F238E27FC236}">
                <a16:creationId xmlns:a16="http://schemas.microsoft.com/office/drawing/2014/main" id="{13BF1A4D-0004-47F5-BD22-5574315802E6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556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4" name="Tijdelijke aanduiding voor afbeelding 65">
            <a:extLst>
              <a:ext uri="{FF2B5EF4-FFF2-40B4-BE49-F238E27FC236}">
                <a16:creationId xmlns:a16="http://schemas.microsoft.com/office/drawing/2014/main" id="{40E7FE1B-81AA-4D57-A470-4914C5DE257A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2906724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5" name="Tijdelijke aanduiding voor afbeelding 65">
            <a:extLst>
              <a:ext uri="{FF2B5EF4-FFF2-40B4-BE49-F238E27FC236}">
                <a16:creationId xmlns:a16="http://schemas.microsoft.com/office/drawing/2014/main" id="{D4810DC4-4E2F-4B0D-88EA-49713EC28B6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5057799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6" name="Tijdelijke aanduiding voor afbeelding 65">
            <a:extLst>
              <a:ext uri="{FF2B5EF4-FFF2-40B4-BE49-F238E27FC236}">
                <a16:creationId xmlns:a16="http://schemas.microsoft.com/office/drawing/2014/main" id="{C38C4235-7F22-4988-B598-0D97819CFE5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7208875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7" name="Tijdelijke aanduiding voor afbeelding 65">
            <a:extLst>
              <a:ext uri="{FF2B5EF4-FFF2-40B4-BE49-F238E27FC236}">
                <a16:creationId xmlns:a16="http://schemas.microsoft.com/office/drawing/2014/main" id="{F9CC71FE-8D91-41AA-BD80-0A48C4E294A3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93599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69775882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met bol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B256FF6D-B760-43BA-B16F-E3D5015A3F29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53" y="447038"/>
            <a:ext cx="5497409" cy="594360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2711AF3-2B55-481E-9ED2-5ACC1009CDAE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439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4876A113-1D30-4087-9D42-E90369759F0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132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81E34DD4-0E1C-4461-98C5-DDEC9922F5D9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670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449E03-26AF-49A4-81EB-7C9E07304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11957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blauw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tx2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C2BE7A57-D121-4714-8A53-2C2146121931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820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6C7F7593-F4BA-42C6-A380-DDE2C8EFDE6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513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DDBCD6E0-B215-4817-9034-DD97790855F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5051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617776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accent4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4924D0FF-5EBE-4860-837B-BFB572136BD6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54CB1E06-8FF5-435E-8680-1F32B34785F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A789FDD-DFC0-4340-8081-AD0F03E80E4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40792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en Vide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50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2035359" y="1513268"/>
            <a:ext cx="8128800" cy="4572000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5BDAF44-690D-4351-8FD6-C1E9BED26CF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9915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3674169-AF61-4435-A283-A72FDC76FF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608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37B8B9B-1532-42C6-9518-5A4FFA46DAC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146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0105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 hele di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-582255"/>
            <a:ext cx="10517113" cy="504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0" y="-381"/>
            <a:ext cx="12192000" cy="6857325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44074A4-CF50-4C78-B45A-809AAE1C0D8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22ABB8A6-5903-42F4-80B8-B80E7DE199A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1603FA5-FFD5-4564-BBCA-638420254FD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1011587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434A854-1FA0-4B51-9A92-125BD510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60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B3C54020-6274-482D-BF87-6C38C2F9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74C2B89-1B52-4DA9-B304-A626BCE88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A8AA3559-A58B-438D-A544-F79B7A9C8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96020416"/>
      </p:ext>
    </p:extLst>
  </p:cSld>
  <p:clrMapOvr>
    <a:masterClrMapping/>
  </p:clrMapOvr>
  <p:hf hdr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met rond elem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bg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_wi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8" name="Ovaal 7">
            <a:extLst>
              <a:ext uri="{FF2B5EF4-FFF2-40B4-BE49-F238E27FC236}">
                <a16:creationId xmlns:a16="http://schemas.microsoft.com/office/drawing/2014/main" id="{EA007BEC-B68F-4D17-A66D-5C87F079B473}"/>
              </a:ext>
            </a:extLst>
          </p:cNvPr>
          <p:cNvSpPr>
            <a:spLocks noChangeAspect="1"/>
          </p:cNvSpPr>
          <p:nvPr userDrawn="1"/>
        </p:nvSpPr>
        <p:spPr>
          <a:xfrm>
            <a:off x="465064" y="455811"/>
            <a:ext cx="5943600" cy="5943600"/>
          </a:xfrm>
          <a:prstGeom prst="ellipse">
            <a:avLst/>
          </a:prstGeom>
          <a:gradFill flip="none" rotWithShape="1">
            <a:gsLst>
              <a:gs pos="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8" name="Enabling_deltalife_wit">
            <a:extLst>
              <a:ext uri="{FF2B5EF4-FFF2-40B4-BE49-F238E27FC236}">
                <a16:creationId xmlns:a16="http://schemas.microsoft.com/office/drawing/2014/main" id="{CC1AB181-2C98-49C8-B934-9DA01A7107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62554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2026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9" name="Enabling_deltalife_wit">
            <a:extLst>
              <a:ext uri="{FF2B5EF4-FFF2-40B4-BE49-F238E27FC236}">
                <a16:creationId xmlns:a16="http://schemas.microsoft.com/office/drawing/2014/main" id="{A4EF4C13-16AE-4FBA-9B9D-2EEA812DFA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485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(met animatie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ircle Blue">
            <a:extLst>
              <a:ext uri="{FF2B5EF4-FFF2-40B4-BE49-F238E27FC236}">
                <a16:creationId xmlns:a16="http://schemas.microsoft.com/office/drawing/2014/main" id="{E67129F5-F9B1-464C-B563-6456865CCFF2}"/>
              </a:ext>
            </a:extLst>
          </p:cNvPr>
          <p:cNvSpPr>
            <a:spLocks noChangeAspect="1"/>
          </p:cNvSpPr>
          <p:nvPr userDrawn="1"/>
        </p:nvSpPr>
        <p:spPr>
          <a:xfrm>
            <a:off x="4384800" y="1580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Circle Green">
            <a:extLst>
              <a:ext uri="{FF2B5EF4-FFF2-40B4-BE49-F238E27FC236}">
                <a16:creationId xmlns:a16="http://schemas.microsoft.com/office/drawing/2014/main" id="{9D1A10F2-6EA4-4646-94AB-D1971B8790AC}"/>
              </a:ext>
            </a:extLst>
          </p:cNvPr>
          <p:cNvSpPr>
            <a:spLocks noChangeAspect="1"/>
          </p:cNvSpPr>
          <p:nvPr userDrawn="1"/>
        </p:nvSpPr>
        <p:spPr>
          <a:xfrm>
            <a:off x="4240800" y="1796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6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E1DF8627-4105-4921-8328-8A3BE55CDA89}"/>
              </a:ext>
            </a:extLst>
          </p:cNvPr>
          <p:cNvSpPr/>
          <p:nvPr userDrawn="1"/>
        </p:nvSpPr>
        <p:spPr>
          <a:xfrm>
            <a:off x="3123210" y="985652"/>
            <a:ext cx="7030193" cy="47738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1" name="Enabling_deltalife_wit">
            <a:extLst>
              <a:ext uri="{FF2B5EF4-FFF2-40B4-BE49-F238E27FC236}">
                <a16:creationId xmlns:a16="http://schemas.microsoft.com/office/drawing/2014/main" id="{F6979AE7-8CDB-45F8-88A4-AC18A1F0E5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40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7.40741E-7 L -0.0332 0.06042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300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8.33333E-7 2.22222E-6 L 0.04115 -0.07477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57" y="-375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3" animBg="1"/>
      <p:bldP spid="10" grpId="0" animBg="1"/>
      <p:bldP spid="10" grpId="1" animBg="1"/>
      <p:bldP spid="10" grpId="3" animBg="1"/>
      <p:bldP spid="3" grpId="0" animBg="1"/>
      <p:bldP spid="12" grpId="0" animBg="1"/>
    </p:bldLst>
  </p:timing>
  <p:hf hd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29" name="Tekstvak 28">
            <a:hlinkClick r:id="rId3"/>
            <a:extLst>
              <a:ext uri="{FF2B5EF4-FFF2-40B4-BE49-F238E27FC236}">
                <a16:creationId xmlns:a16="http://schemas.microsoft.com/office/drawing/2014/main" id="{C731B5EA-6866-4EBE-8138-DEC893F2E2E3}"/>
              </a:ext>
            </a:extLst>
          </p:cNvPr>
          <p:cNvSpPr txBox="1"/>
          <p:nvPr userDrawn="1"/>
        </p:nvSpPr>
        <p:spPr>
          <a:xfrm>
            <a:off x="1260000" y="2267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info@deltares.nl</a:t>
            </a:r>
          </a:p>
        </p:txBody>
      </p:sp>
      <p:sp>
        <p:nvSpPr>
          <p:cNvPr id="30" name="Tekstvak 29">
            <a:hlinkClick r:id="rId4"/>
            <a:extLst>
              <a:ext uri="{FF2B5EF4-FFF2-40B4-BE49-F238E27FC236}">
                <a16:creationId xmlns:a16="http://schemas.microsoft.com/office/drawing/2014/main" id="{B2A41075-9E8D-4E25-B2BA-1D1DD506088A}"/>
              </a:ext>
            </a:extLst>
          </p:cNvPr>
          <p:cNvSpPr txBox="1"/>
          <p:nvPr userDrawn="1"/>
        </p:nvSpPr>
        <p:spPr>
          <a:xfrm>
            <a:off x="4212000" y="1763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1" name="Tekstvak 30">
            <a:hlinkClick r:id="rId5"/>
            <a:extLst>
              <a:ext uri="{FF2B5EF4-FFF2-40B4-BE49-F238E27FC236}">
                <a16:creationId xmlns:a16="http://schemas.microsoft.com/office/drawing/2014/main" id="{58C063EF-2783-4DB8-8B62-49C28C8695C5}"/>
              </a:ext>
            </a:extLst>
          </p:cNvPr>
          <p:cNvSpPr txBox="1"/>
          <p:nvPr userDrawn="1"/>
        </p:nvSpPr>
        <p:spPr>
          <a:xfrm>
            <a:off x="6912000" y="1763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linkedin.com/company/deltares</a:t>
            </a:r>
          </a:p>
        </p:txBody>
      </p:sp>
      <p:sp>
        <p:nvSpPr>
          <p:cNvPr id="32" name="Tekstvak 31">
            <a:hlinkClick r:id="rId6"/>
            <a:extLst>
              <a:ext uri="{FF2B5EF4-FFF2-40B4-BE49-F238E27FC236}">
                <a16:creationId xmlns:a16="http://schemas.microsoft.com/office/drawing/2014/main" id="{5F163D96-77E3-420C-8665-5CE311574B20}"/>
              </a:ext>
            </a:extLst>
          </p:cNvPr>
          <p:cNvSpPr txBox="1"/>
          <p:nvPr userDrawn="1"/>
        </p:nvSpPr>
        <p:spPr>
          <a:xfrm>
            <a:off x="1260000" y="1763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www.deltares.nl</a:t>
            </a:r>
          </a:p>
        </p:txBody>
      </p:sp>
      <p:sp>
        <p:nvSpPr>
          <p:cNvPr id="33" name="Tekstvak 32">
            <a:hlinkClick r:id="rId7"/>
            <a:extLst>
              <a:ext uri="{FF2B5EF4-FFF2-40B4-BE49-F238E27FC236}">
                <a16:creationId xmlns:a16="http://schemas.microsoft.com/office/drawing/2014/main" id="{3B4E325A-D4A5-415E-A8C3-FF4A98631369}"/>
              </a:ext>
            </a:extLst>
          </p:cNvPr>
          <p:cNvSpPr txBox="1"/>
          <p:nvPr userDrawn="1"/>
        </p:nvSpPr>
        <p:spPr>
          <a:xfrm>
            <a:off x="4212000" y="2267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4" name="Tekstvak 33">
            <a:hlinkClick r:id="rId8"/>
            <a:extLst>
              <a:ext uri="{FF2B5EF4-FFF2-40B4-BE49-F238E27FC236}">
                <a16:creationId xmlns:a16="http://schemas.microsoft.com/office/drawing/2014/main" id="{052934D0-6B1B-4AB9-8002-224050C7A1A1}"/>
              </a:ext>
            </a:extLst>
          </p:cNvPr>
          <p:cNvSpPr txBox="1"/>
          <p:nvPr userDrawn="1"/>
        </p:nvSpPr>
        <p:spPr>
          <a:xfrm>
            <a:off x="6912000" y="2267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facebook.com/deltaresNL</a:t>
            </a:r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hlinkClick r:id="rId6"/>
            <a:extLst>
              <a:ext uri="{FF2B5EF4-FFF2-40B4-BE49-F238E27FC236}">
                <a16:creationId xmlns:a16="http://schemas.microsoft.com/office/drawing/2014/main" id="{0D7005BD-5B17-436C-95BF-D53FCBDA054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6000" y="1764000"/>
            <a:ext cx="306000" cy="306000"/>
          </a:xfrm>
          <a:prstGeom prst="rect">
            <a:avLst/>
          </a:prstGeom>
        </p:spPr>
      </p:pic>
      <p:pic>
        <p:nvPicPr>
          <p:cNvPr id="9" name="Graphic 8">
            <a:hlinkClick r:id="rId5"/>
            <a:extLst>
              <a:ext uri="{FF2B5EF4-FFF2-40B4-BE49-F238E27FC236}">
                <a16:creationId xmlns:a16="http://schemas.microsoft.com/office/drawing/2014/main" id="{48ED5D6E-BB00-4DF8-8A4A-B64CCA3200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08000" y="1764000"/>
            <a:ext cx="306000" cy="306000"/>
          </a:xfrm>
          <a:prstGeom prst="rect">
            <a:avLst/>
          </a:prstGeom>
        </p:spPr>
      </p:pic>
      <p:pic>
        <p:nvPicPr>
          <p:cNvPr id="12" name="Graphic 11">
            <a:hlinkClick r:id="rId3"/>
            <a:extLst>
              <a:ext uri="{FF2B5EF4-FFF2-40B4-BE49-F238E27FC236}">
                <a16:creationId xmlns:a16="http://schemas.microsoft.com/office/drawing/2014/main" id="{3D248AEC-10A5-4B7E-BF95-2E949619BAC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6000" y="2268000"/>
            <a:ext cx="306000" cy="306000"/>
          </a:xfrm>
          <a:prstGeom prst="rect">
            <a:avLst/>
          </a:prstGeom>
        </p:spPr>
      </p:pic>
      <p:pic>
        <p:nvPicPr>
          <p:cNvPr id="16" name="Graphic 15">
            <a:hlinkClick r:id="rId8"/>
            <a:extLst>
              <a:ext uri="{FF2B5EF4-FFF2-40B4-BE49-F238E27FC236}">
                <a16:creationId xmlns:a16="http://schemas.microsoft.com/office/drawing/2014/main" id="{54EB740A-0F53-4E1C-8587-DA2F01870AD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08000" y="2268000"/>
            <a:ext cx="306000" cy="306000"/>
          </a:xfrm>
          <a:prstGeom prst="rect">
            <a:avLst/>
          </a:prstGeom>
        </p:spPr>
      </p:pic>
      <p:pic>
        <p:nvPicPr>
          <p:cNvPr id="19" name="Graphic 18">
            <a:hlinkClick r:id="rId4"/>
            <a:extLst>
              <a:ext uri="{FF2B5EF4-FFF2-40B4-BE49-F238E27FC236}">
                <a16:creationId xmlns:a16="http://schemas.microsoft.com/office/drawing/2014/main" id="{3C2A80C3-6754-49BB-AE1D-787E3C8B82C9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708000" y="1764000"/>
            <a:ext cx="306000" cy="306000"/>
          </a:xfrm>
          <a:prstGeom prst="rect">
            <a:avLst/>
          </a:prstGeom>
        </p:spPr>
      </p:pic>
      <p:pic>
        <p:nvPicPr>
          <p:cNvPr id="44" name="Graphic 43">
            <a:hlinkClick r:id="rId7"/>
            <a:extLst>
              <a:ext uri="{FF2B5EF4-FFF2-40B4-BE49-F238E27FC236}">
                <a16:creationId xmlns:a16="http://schemas.microsoft.com/office/drawing/2014/main" id="{7232CAEC-F3CE-4040-A772-F8A6B930251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708000" y="2268000"/>
            <a:ext cx="306000" cy="306000"/>
          </a:xfrm>
          <a:prstGeom prst="rect">
            <a:avLst/>
          </a:prstGeom>
        </p:spPr>
      </p:pic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5255237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 userDrawn="1">
          <p15:clr>
            <a:srgbClr val="FBAE40"/>
          </p15:clr>
        </p15:guide>
        <p15:guide id="2" orient="horz" pos="2058" userDrawn="1">
          <p15:clr>
            <a:srgbClr val="FBAE40"/>
          </p15:clr>
        </p15:guide>
        <p15:guide id="3" orient="horz" pos="4026" userDrawn="1">
          <p15:clr>
            <a:srgbClr val="FBAE40"/>
          </p15:clr>
        </p15:guide>
        <p15:guide id="4" pos="4044" userDrawn="1">
          <p15:clr>
            <a:srgbClr val="FBAE40"/>
          </p15:clr>
        </p15:guide>
        <p15:guide id="5" pos="4362" userDrawn="1">
          <p15:clr>
            <a:srgbClr val="FBAE40"/>
          </p15:clr>
        </p15:guide>
        <p15:guide id="6" pos="2661" userDrawn="1">
          <p15:clr>
            <a:srgbClr val="FBAE40"/>
          </p15:clr>
        </p15:guide>
        <p15:guide id="7" pos="2343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(Vrij invulbaa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23" name="Tijdelijke aanduiding voor tekst 3">
            <a:extLst>
              <a:ext uri="{FF2B5EF4-FFF2-40B4-BE49-F238E27FC236}">
                <a16:creationId xmlns:a16="http://schemas.microsoft.com/office/drawing/2014/main" id="{D05F72AB-9143-4CEB-9995-BC46F87996D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260000" y="1764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4" name="Tijdelijke aanduiding voor tekst 3">
            <a:extLst>
              <a:ext uri="{FF2B5EF4-FFF2-40B4-BE49-F238E27FC236}">
                <a16:creationId xmlns:a16="http://schemas.microsoft.com/office/drawing/2014/main" id="{140C74ED-3843-44B5-A036-98F1C0983D0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60000" y="2268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5" name="Tijdelijke aanduiding voor tekst 3">
            <a:extLst>
              <a:ext uri="{FF2B5EF4-FFF2-40B4-BE49-F238E27FC236}">
                <a16:creationId xmlns:a16="http://schemas.microsoft.com/office/drawing/2014/main" id="{7CB3B72F-829E-4802-89CE-5FAA887211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12000" y="1764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6" name="Tijdelijke aanduiding voor tekst 3">
            <a:extLst>
              <a:ext uri="{FF2B5EF4-FFF2-40B4-BE49-F238E27FC236}">
                <a16:creationId xmlns:a16="http://schemas.microsoft.com/office/drawing/2014/main" id="{E96C0F79-C1F5-448A-9B02-130652C5EFD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212000" y="2268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7" name="Tijdelijke aanduiding voor tekst 3">
            <a:extLst>
              <a:ext uri="{FF2B5EF4-FFF2-40B4-BE49-F238E27FC236}">
                <a16:creationId xmlns:a16="http://schemas.microsoft.com/office/drawing/2014/main" id="{3008B147-EF81-4851-A6A3-FDBC85BB5B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10369" y="1764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8" name="Tijdelijke aanduiding voor tekst 3">
            <a:extLst>
              <a:ext uri="{FF2B5EF4-FFF2-40B4-BE49-F238E27FC236}">
                <a16:creationId xmlns:a16="http://schemas.microsoft.com/office/drawing/2014/main" id="{D61D01F4-0D94-49A0-A0C6-2A6964B3939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910369" y="2268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13" name="Tijdelijke aanduiding voor afbeelding 12">
            <a:extLst>
              <a:ext uri="{FF2B5EF4-FFF2-40B4-BE49-F238E27FC236}">
                <a16:creationId xmlns:a16="http://schemas.microsoft.com/office/drawing/2014/main" id="{12238712-852D-4C83-A179-EE0F3F65535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755650" y="1764000"/>
            <a:ext cx="306000" cy="306000"/>
          </a:xfr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5" name="Tijdelijke aanduiding voor afbeelding 12">
            <a:extLst>
              <a:ext uri="{FF2B5EF4-FFF2-40B4-BE49-F238E27FC236}">
                <a16:creationId xmlns:a16="http://schemas.microsoft.com/office/drawing/2014/main" id="{B94B33D8-9ADC-46F3-9BAD-244DD869287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755650" y="2268000"/>
            <a:ext cx="306000" cy="306000"/>
          </a:xfr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6" name="Tijdelijke aanduiding voor afbeelding 12">
            <a:extLst>
              <a:ext uri="{FF2B5EF4-FFF2-40B4-BE49-F238E27FC236}">
                <a16:creationId xmlns:a16="http://schemas.microsoft.com/office/drawing/2014/main" id="{7B078E79-A086-4E54-9016-28A2DBA0692E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08000" y="1764000"/>
            <a:ext cx="306000" cy="306000"/>
          </a:xfr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7" name="Tijdelijke aanduiding voor afbeelding 12">
            <a:extLst>
              <a:ext uri="{FF2B5EF4-FFF2-40B4-BE49-F238E27FC236}">
                <a16:creationId xmlns:a16="http://schemas.microsoft.com/office/drawing/2014/main" id="{9A2E3717-085D-4920-9B0E-8DBF1A42FCA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708000" y="2268000"/>
            <a:ext cx="306000" cy="306000"/>
          </a:xfr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8" name="Tijdelijke aanduiding voor afbeelding 12">
            <a:extLst>
              <a:ext uri="{FF2B5EF4-FFF2-40B4-BE49-F238E27FC236}">
                <a16:creationId xmlns:a16="http://schemas.microsoft.com/office/drawing/2014/main" id="{77467CBB-F989-40AA-BAA1-DDC3FE2145D6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408000" y="1764000"/>
            <a:ext cx="306000" cy="306000"/>
          </a:xfr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9" name="Tijdelijke aanduiding voor afbeelding 12">
            <a:extLst>
              <a:ext uri="{FF2B5EF4-FFF2-40B4-BE49-F238E27FC236}">
                <a16:creationId xmlns:a16="http://schemas.microsoft.com/office/drawing/2014/main" id="{1C25A578-0CC7-464F-9CFB-1B9EC232EF8C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408000" y="2268000"/>
            <a:ext cx="306000" cy="306000"/>
          </a:xfr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40945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>
          <p15:clr>
            <a:srgbClr val="FBAE40"/>
          </p15:clr>
        </p15:guide>
        <p15:guide id="2" orient="horz" pos="2058">
          <p15:clr>
            <a:srgbClr val="FBAE40"/>
          </p15:clr>
        </p15:guide>
        <p15:guide id="3" orient="horz" pos="4026">
          <p15:clr>
            <a:srgbClr val="FBAE40"/>
          </p15:clr>
        </p15:guide>
        <p15:guide id="4" pos="4044">
          <p15:clr>
            <a:srgbClr val="FBAE40"/>
          </p15:clr>
        </p15:guide>
        <p15:guide id="5" pos="4362">
          <p15:clr>
            <a:srgbClr val="FBAE40"/>
          </p15:clr>
        </p15:guide>
        <p15:guide id="6" pos="2661">
          <p15:clr>
            <a:srgbClr val="FBAE40"/>
          </p15:clr>
        </p15:guide>
        <p15:guide id="7" pos="234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Footer Bar">
            <a:extLst>
              <a:ext uri="{FF2B5EF4-FFF2-40B4-BE49-F238E27FC236}">
                <a16:creationId xmlns:a16="http://schemas.microsoft.com/office/drawing/2014/main" id="{022EB8B7-6824-4AED-BB2B-C0B109993AD1}"/>
              </a:ext>
            </a:extLst>
          </p:cNvPr>
          <p:cNvGrpSpPr/>
          <p:nvPr userDrawn="1"/>
        </p:nvGrpSpPr>
        <p:grpSpPr>
          <a:xfrm>
            <a:off x="11742000" y="0"/>
            <a:ext cx="450000" cy="6858000"/>
            <a:chOff x="11742000" y="0"/>
            <a:chExt cx="450000" cy="6858000"/>
          </a:xfrm>
          <a:solidFill>
            <a:schemeClr val="accent2">
              <a:alpha val="5882"/>
            </a:schemeClr>
          </a:solidFill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F9EE001-C15B-435E-9F44-1622C159FC17}"/>
                </a:ext>
              </a:extLst>
            </p:cNvPr>
            <p:cNvSpPr/>
            <p:nvPr userDrawn="1"/>
          </p:nvSpPr>
          <p:spPr>
            <a:xfrm>
              <a:off x="11742000" y="0"/>
              <a:ext cx="450000" cy="6858000"/>
            </a:xfrm>
            <a:prstGeom prst="rect">
              <a:avLst/>
            </a:prstGeom>
            <a:solidFill>
              <a:srgbClr val="F1F3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32440EA2-337B-4EDA-9C88-10B9002EF364}"/>
                </a:ext>
              </a:extLst>
            </p:cNvPr>
            <p:cNvCxnSpPr/>
            <p:nvPr userDrawn="1"/>
          </p:nvCxnSpPr>
          <p:spPr>
            <a:xfrm>
              <a:off x="11801530" y="6081711"/>
              <a:ext cx="324000" cy="0"/>
            </a:xfrm>
            <a:prstGeom prst="line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8E966F5-006F-433A-9691-0B17633B2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93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 dirty="0"/>
              <a:t>Dia met tekst. Voorbeeld van een lange tekst over twee regels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1B2E2CE-1F7F-4603-9A75-FEAAFF738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8763"/>
            <a:ext cx="10512349" cy="432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 dirty="0"/>
              <a:t>Niveau 1, standaard met </a:t>
            </a:r>
            <a:r>
              <a:rPr lang="nl-NL" dirty="0" err="1"/>
              <a:t>bullets</a:t>
            </a:r>
            <a:endParaRPr lang="nl-NL" dirty="0"/>
          </a:p>
          <a:p>
            <a:pPr lvl="1"/>
            <a:r>
              <a:rPr lang="nl-NL" dirty="0"/>
              <a:t>Tweede niveau, (sub </a:t>
            </a:r>
            <a:r>
              <a:rPr lang="nl-NL" dirty="0" err="1"/>
              <a:t>bullets</a:t>
            </a:r>
            <a:r>
              <a:rPr lang="nl-NL" dirty="0"/>
              <a:t>)</a:t>
            </a:r>
          </a:p>
          <a:p>
            <a:pPr lvl="2"/>
            <a:r>
              <a:rPr lang="nl-NL" dirty="0"/>
              <a:t>Derde niveau (Leestekst)</a:t>
            </a:r>
          </a:p>
          <a:p>
            <a:pPr lvl="3"/>
            <a:r>
              <a:rPr lang="nl-NL" dirty="0"/>
              <a:t>Vierde niveau (Subtitel)</a:t>
            </a:r>
          </a:p>
          <a:p>
            <a:pPr lvl="4"/>
            <a:r>
              <a:rPr lang="nl-NL" dirty="0"/>
              <a:t>Vijfde niveau (Standaard met nummers)</a:t>
            </a:r>
          </a:p>
          <a:p>
            <a:pPr lvl="5"/>
            <a:r>
              <a:rPr lang="nl-NL" dirty="0"/>
              <a:t>Niveau zes (sub nummers)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E4571E1-7B78-4AC3-AB7A-7A15720DF4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20000" y="4157669"/>
            <a:ext cx="153888" cy="1485895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sz="1000" b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nl-NL" dirty="0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004B6D2-F868-492E-8371-701F4F999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889372" y="541695"/>
            <a:ext cx="153888" cy="5101869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lang="nl-NL" sz="1000" b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nl-NL" dirty="0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491C4D-045B-4D79-8E4E-A715678ECC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43163" y="6413498"/>
            <a:ext cx="450000" cy="18466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ctr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5" name="Deltares_Logo_klein">
            <a:extLst>
              <a:ext uri="{FF2B5EF4-FFF2-40B4-BE49-F238E27FC236}">
                <a16:creationId xmlns:a16="http://schemas.microsoft.com/office/drawing/2014/main" id="{CA5E38F1-EE2E-4740-B411-6A2F5838BECA}"/>
              </a:ext>
            </a:extLst>
          </p:cNvPr>
          <p:cNvPicPr>
            <a:picLocks noChangeAspect="1"/>
          </p:cNvPicPr>
          <p:nvPr userDrawn="1"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756" y="6267123"/>
            <a:ext cx="1188000" cy="38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553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47" r:id="rId3"/>
    <p:sldLayoutId id="2147483691" r:id="rId4"/>
    <p:sldLayoutId id="2147483692" r:id="rId5"/>
    <p:sldLayoutId id="2147483664" r:id="rId6"/>
    <p:sldLayoutId id="2147483687" r:id="rId7"/>
    <p:sldLayoutId id="2147483689" r:id="rId8"/>
    <p:sldLayoutId id="2147483690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96" r:id="rId17"/>
    <p:sldLayoutId id="2147483682" r:id="rId18"/>
    <p:sldLayoutId id="2147483683" r:id="rId19"/>
    <p:sldLayoutId id="2147483749" r:id="rId20"/>
    <p:sldLayoutId id="2147483681" r:id="rId21"/>
    <p:sldLayoutId id="2147483752" r:id="rId22"/>
    <p:sldLayoutId id="2147483699" r:id="rId23"/>
    <p:sldLayoutId id="2147483748" r:id="rId24"/>
    <p:sldLayoutId id="2147483656" r:id="rId25"/>
    <p:sldLayoutId id="2147483753" r:id="rId26"/>
    <p:sldLayoutId id="2147483698" r:id="rId27"/>
    <p:sldLayoutId id="2147483754" r:id="rId2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24000" indent="-324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8000" indent="-324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−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324000" indent="-324000" algn="l" defTabSz="914400" rtl="0" eaLnBrk="1" latinLnBrk="0" hangingPunct="1">
        <a:lnSpc>
          <a:spcPct val="90000"/>
        </a:lnSpc>
        <a:spcBef>
          <a:spcPts val="1000"/>
        </a:spcBef>
        <a:buSzPct val="90000"/>
        <a:buFont typeface="+mj-lt"/>
        <a:buAutoNum type="arabicPeriod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648000" indent="-324000" algn="l" defTabSz="914400" rtl="0" eaLnBrk="1" latinLnBrk="0" hangingPunct="1">
        <a:lnSpc>
          <a:spcPct val="90000"/>
        </a:lnSpc>
        <a:spcBef>
          <a:spcPts val="500"/>
        </a:spcBef>
        <a:buSzPct val="95000"/>
        <a:buFont typeface="+mj-lt"/>
        <a:buAutoNum type="alphaL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1110" userDrawn="1">
          <p15:clr>
            <a:srgbClr val="F26B43"/>
          </p15:clr>
        </p15:guide>
        <p15:guide id="3" pos="476" userDrawn="1">
          <p15:clr>
            <a:srgbClr val="F26B43"/>
          </p15:clr>
        </p15:guide>
        <p15:guide id="4" orient="horz" pos="4133" userDrawn="1">
          <p15:clr>
            <a:srgbClr val="F26B43"/>
          </p15:clr>
        </p15:guide>
        <p15:guide id="6" pos="792" userDrawn="1">
          <p15:clr>
            <a:srgbClr val="F26B43"/>
          </p15:clr>
        </p15:guide>
        <p15:guide id="7" orient="horz" pos="3833" userDrawn="1">
          <p15:clr>
            <a:srgbClr val="F26B43"/>
          </p15:clr>
        </p15:guide>
        <p15:guide id="8" orient="horz" pos="336" userDrawn="1">
          <p15:clr>
            <a:srgbClr val="F26B43"/>
          </p15:clr>
        </p15:guide>
        <p15:guide id="9" pos="7098" userDrawn="1">
          <p15:clr>
            <a:srgbClr val="F26B43"/>
          </p15:clr>
        </p15:guide>
        <p15:guide id="10" pos="74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ijdelijke aanduiding voor afbeelding 17">
            <a:extLst>
              <a:ext uri="{FF2B5EF4-FFF2-40B4-BE49-F238E27FC236}">
                <a16:creationId xmlns:a16="http://schemas.microsoft.com/office/drawing/2014/main" id="{AA69BC65-8AFE-4119-BE77-AE1B7096E43E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2" r="42"/>
          <a:stretch>
            <a:fillRect/>
          </a:stretch>
        </p:blipFill>
        <p:spPr/>
      </p:pic>
      <p:sp>
        <p:nvSpPr>
          <p:cNvPr id="7" name="Ondertitel 6">
            <a:extLst>
              <a:ext uri="{FF2B5EF4-FFF2-40B4-BE49-F238E27FC236}">
                <a16:creationId xmlns:a16="http://schemas.microsoft.com/office/drawing/2014/main" id="{838C8FD7-55FC-4DBD-825A-309E45D663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94002" y="3854640"/>
            <a:ext cx="6002228" cy="676275"/>
          </a:xfrm>
        </p:spPr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Kratos</a:t>
            </a:r>
            <a:endParaRPr lang="nl-NL" dirty="0"/>
          </a:p>
        </p:txBody>
      </p:sp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D510B812-7AC5-475D-ACB5-69A9EF35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94002" y="6264000"/>
            <a:ext cx="2340000" cy="184666"/>
          </a:xfrm>
        </p:spPr>
        <p:txBody>
          <a:bodyPr/>
          <a:lstStyle/>
          <a:p>
            <a:r>
              <a:rPr lang="nl-NL" dirty="0"/>
              <a:t> 19 juni 2025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9A199952-5E95-4A28-BD26-74ECEF647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/>
              <a:t>Voettekst van de presentatie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8D4A5E8-322A-4392-899C-82090DBD4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1</a:t>
            </a:fld>
            <a:endParaRPr lang="nl-NL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D010081-142B-471A-8A79-433EA62F4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94002" y="1766078"/>
            <a:ext cx="6006145" cy="1990582"/>
          </a:xfrm>
        </p:spPr>
        <p:txBody>
          <a:bodyPr/>
          <a:lstStyle/>
          <a:p>
            <a:r>
              <a:rPr lang="nl-NL" dirty="0"/>
              <a:t>Sheet </a:t>
            </a:r>
            <a:r>
              <a:rPr lang="nl-NL" dirty="0" err="1"/>
              <a:t>pile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7F40214-05A9-459B-91CB-FE5EED05289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nl-NL" dirty="0"/>
              <a:t>Naam Achternaam</a:t>
            </a:r>
          </a:p>
        </p:txBody>
      </p:sp>
      <p:sp>
        <p:nvSpPr>
          <p:cNvPr id="2" name="Tijdelijke aanduiding voor datum 13">
            <a:extLst>
              <a:ext uri="{FF2B5EF4-FFF2-40B4-BE49-F238E27FC236}">
                <a16:creationId xmlns:a16="http://schemas.microsoft.com/office/drawing/2014/main" id="{5EB55133-3DD4-3598-CCC9-450373E1189A}"/>
              </a:ext>
            </a:extLst>
          </p:cNvPr>
          <p:cNvSpPr txBox="1">
            <a:spLocks/>
          </p:cNvSpPr>
          <p:nvPr/>
        </p:nvSpPr>
        <p:spPr>
          <a:xfrm>
            <a:off x="5694002" y="5363259"/>
            <a:ext cx="2340000" cy="450968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nl-NL"/>
            </a:defPPr>
            <a:lvl1pPr marL="0" algn="l" defTabSz="914400" rtl="0" eaLnBrk="1" latinLnBrk="0" hangingPunct="1">
              <a:defRPr sz="1000" b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/>
              <a:t>Edwin Spee</a:t>
            </a:r>
          </a:p>
          <a:p>
            <a:r>
              <a:rPr lang="nl-NL" dirty="0"/>
              <a:t>Rob Brinkman</a:t>
            </a:r>
          </a:p>
          <a:p>
            <a:r>
              <a:rPr lang="nl-NL" dirty="0"/>
              <a:t>Karolina Wojciechowska</a:t>
            </a:r>
          </a:p>
        </p:txBody>
      </p:sp>
    </p:spTree>
    <p:extLst>
      <p:ext uri="{BB962C8B-B14F-4D97-AF65-F5344CB8AC3E}">
        <p14:creationId xmlns:p14="http://schemas.microsoft.com/office/powerpoint/2010/main" val="1848310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9412A-07C7-DE29-F08F-84DC8AA07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D33DE-AEEB-6AC7-BC22-1D3D8F4DD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Kratos</a:t>
            </a:r>
            <a:endParaRPr lang="nl-NL" dirty="0"/>
          </a:p>
          <a:p>
            <a:endParaRPr lang="nl-NL" dirty="0"/>
          </a:p>
          <a:p>
            <a:r>
              <a:rPr lang="nl-NL" dirty="0"/>
              <a:t>Sheet </a:t>
            </a:r>
            <a:r>
              <a:rPr lang="nl-NL" dirty="0" err="1"/>
              <a:t>pile</a:t>
            </a:r>
            <a:r>
              <a:rPr lang="nl-NL" dirty="0"/>
              <a:t> model</a:t>
            </a:r>
          </a:p>
          <a:p>
            <a:endParaRPr lang="nl-NL" dirty="0"/>
          </a:p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Kratos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Variables</a:t>
            </a:r>
          </a:p>
          <a:p>
            <a:pPr lvl="1"/>
            <a:r>
              <a:rPr lang="nl-NL" dirty="0" err="1"/>
              <a:t>Uncertainty</a:t>
            </a:r>
            <a:r>
              <a:rPr lang="nl-NL" dirty="0"/>
              <a:t> analysis</a:t>
            </a:r>
          </a:p>
          <a:p>
            <a:pPr lvl="1"/>
            <a:r>
              <a:rPr lang="nl-NL" dirty="0" err="1"/>
              <a:t>Reliability</a:t>
            </a:r>
            <a:r>
              <a:rPr lang="nl-NL" dirty="0"/>
              <a:t> analysis</a:t>
            </a:r>
          </a:p>
          <a:p>
            <a:pPr lvl="1"/>
            <a:r>
              <a:rPr lang="nl-NL" dirty="0"/>
              <a:t>Proven </a:t>
            </a:r>
            <a:r>
              <a:rPr lang="nl-NL" dirty="0" err="1"/>
              <a:t>strength</a:t>
            </a:r>
            <a:endParaRPr lang="nl-NL" dirty="0"/>
          </a:p>
          <a:p>
            <a:pPr lvl="1"/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10F70-4ED8-586E-F24E-36E305D53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8333A-629D-A3D8-C6E0-320EB9299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51C3C-6E3A-C89A-2793-7B0B71505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7334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24E9B-380F-E960-7A37-7494FF954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library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86151-B450-AFC7-44A9-21DD82DC6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It is </a:t>
            </a:r>
            <a:r>
              <a:rPr lang="nl-NL" dirty="0" err="1"/>
              <a:t>written</a:t>
            </a:r>
            <a:r>
              <a:rPr lang="nl-NL" dirty="0"/>
              <a:t> in C++</a:t>
            </a:r>
          </a:p>
          <a:p>
            <a:endParaRPr lang="nl-NL" dirty="0"/>
          </a:p>
          <a:p>
            <a:r>
              <a:rPr lang="en-GB" dirty="0">
                <a:latin typeface="Arial"/>
                <a:cs typeface="Arial"/>
              </a:rPr>
              <a:t>A Python wrapper and </a:t>
            </a:r>
            <a:r>
              <a:rPr lang="en-GB" dirty="0" err="1">
                <a:latin typeface="Arial"/>
                <a:cs typeface="Arial"/>
              </a:rPr>
              <a:t>.Net</a:t>
            </a:r>
            <a:r>
              <a:rPr lang="en-GB" dirty="0">
                <a:latin typeface="Arial"/>
                <a:cs typeface="Arial"/>
              </a:rPr>
              <a:t> wrapper are available</a:t>
            </a:r>
          </a:p>
          <a:p>
            <a:endParaRPr lang="en-GB" dirty="0">
              <a:latin typeface="Arial"/>
              <a:cs typeface="Arial"/>
            </a:endParaRPr>
          </a:p>
          <a:p>
            <a:r>
              <a:rPr lang="en-GB" dirty="0"/>
              <a:t>The library is thoroughly validated. Its algorithms are used for the safety assessment of primary flood defences in the Netherlands and within the Probabilistic Toolkit</a:t>
            </a:r>
          </a:p>
          <a:p>
            <a:endParaRPr lang="en-GB" dirty="0"/>
          </a:p>
          <a:p>
            <a:r>
              <a:rPr lang="en-GB" dirty="0"/>
              <a:t>Functionality: distribution functions, reliability analysis, uncertainty analysis</a:t>
            </a:r>
          </a:p>
          <a:p>
            <a:pPr marL="324000" lvl="1" indent="0">
              <a:buNone/>
            </a:pPr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2B4DC-3C54-B463-08B6-29C1E0C35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FA4E4C-E5F6-4895-268E-3E02BFBFD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28401-8A89-C6F8-2F68-AFA0670B2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93150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A5556-8B82-854A-6735-961BAF02D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Kratos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D78A6-70BD-9A5E-CE21-FDC3B1BF1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Kratos is an Open-Source framework for the implementation of numerical methods for the solution of engineering problems</a:t>
            </a:r>
          </a:p>
          <a:p>
            <a:endParaRPr lang="en-GB" dirty="0"/>
          </a:p>
          <a:p>
            <a:r>
              <a:rPr lang="en-GB" dirty="0"/>
              <a:t>It is written in C++</a:t>
            </a:r>
          </a:p>
          <a:p>
            <a:endParaRPr lang="en-GB" dirty="0"/>
          </a:p>
          <a:p>
            <a:r>
              <a:rPr lang="en-GB" dirty="0"/>
              <a:t>The Kratos features a "core" and "applications" approach where "standard tools" (databases, linear algebra, search structures, etc...) come as a part of the core and are available as building blocks in the development of "applications" which focus on the solution of the problems of interest.</a:t>
            </a:r>
          </a:p>
          <a:p>
            <a:endParaRPr lang="en-GB" dirty="0"/>
          </a:p>
          <a:p>
            <a:r>
              <a:rPr lang="en-GB" dirty="0"/>
              <a:t>In Deltares we have successfully implemented a several numerical geotechnical kernels using this Finite Element Framework, culminating in the </a:t>
            </a:r>
            <a:r>
              <a:rPr lang="en-GB" u="sng" dirty="0"/>
              <a:t>Geo-Mechanics Application</a:t>
            </a:r>
            <a:endParaRPr lang="nl-NL" u="sng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0477A-4E7B-E8FC-DE20-AB2F6FADF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BBC800-7C66-6B95-F40F-011372CA4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B0E5CE-86F3-C214-425C-A9F36E489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53733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827B1-BC50-319C-A2ED-D10FBA406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Sheet </a:t>
            </a:r>
            <a:r>
              <a:rPr lang="nl-NL" dirty="0" err="1"/>
              <a:t>pile</a:t>
            </a:r>
            <a:r>
              <a:rPr lang="nl-NL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A867E-2172-264B-AB1E-25A5C11B85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Stage 0: initial situation</a:t>
            </a:r>
          </a:p>
          <a:p>
            <a:r>
              <a:rPr lang="en-GB" noProof="0" dirty="0"/>
              <a:t>Stage 1: added sheet pile</a:t>
            </a:r>
          </a:p>
          <a:p>
            <a:r>
              <a:rPr lang="en-GB" noProof="0" dirty="0"/>
              <a:t>Stage 2: excavation</a:t>
            </a:r>
          </a:p>
          <a:p>
            <a:r>
              <a:rPr lang="en-GB" noProof="0" dirty="0"/>
              <a:t>Stage 3: added anker</a:t>
            </a:r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29A070-1596-90C9-4A31-BD0B86A49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7841D-0DFA-84DC-D00A-BDAA5184A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14510-4E34-DB8C-F493-D9EF22801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5</a:t>
            </a:fld>
            <a:endParaRPr lang="nl-NL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668C83B-4451-518F-0C67-051501782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074" y="1292089"/>
            <a:ext cx="3612677" cy="36010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7D6ED5-3B34-3BB4-2950-0D400B0B4390}"/>
              </a:ext>
            </a:extLst>
          </p:cNvPr>
          <p:cNvSpPr txBox="1"/>
          <p:nvPr/>
        </p:nvSpPr>
        <p:spPr>
          <a:xfrm>
            <a:off x="7949579" y="4318000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56BFDE-F3F2-670E-8383-2470BC7DA4E2}"/>
              </a:ext>
            </a:extLst>
          </p:cNvPr>
          <p:cNvSpPr txBox="1"/>
          <p:nvPr/>
        </p:nvSpPr>
        <p:spPr>
          <a:xfrm>
            <a:off x="7006803" y="3448441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220A98-D85C-C1D1-10F2-07FB97BA0B76}"/>
              </a:ext>
            </a:extLst>
          </p:cNvPr>
          <p:cNvSpPr txBox="1"/>
          <p:nvPr/>
        </p:nvSpPr>
        <p:spPr>
          <a:xfrm>
            <a:off x="8792424" y="3448441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5300F6-9665-C608-7E3B-8D2640EB6656}"/>
              </a:ext>
            </a:extLst>
          </p:cNvPr>
          <p:cNvSpPr txBox="1"/>
          <p:nvPr/>
        </p:nvSpPr>
        <p:spPr>
          <a:xfrm>
            <a:off x="7024909" y="260362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endParaRPr lang="nl-NL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CD8B97-4646-FAE0-A604-5E3612D261AB}"/>
              </a:ext>
            </a:extLst>
          </p:cNvPr>
          <p:cNvSpPr txBox="1"/>
          <p:nvPr/>
        </p:nvSpPr>
        <p:spPr>
          <a:xfrm>
            <a:off x="8783371" y="25818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A7D34C-AA0C-FC08-7F21-074245C8CC8A}"/>
              </a:ext>
            </a:extLst>
          </p:cNvPr>
          <p:cNvSpPr txBox="1"/>
          <p:nvPr/>
        </p:nvSpPr>
        <p:spPr>
          <a:xfrm>
            <a:off x="8792424" y="19214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7463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35FF4-E2A9-45F5-4AA0-3D99AB633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Sheet </a:t>
            </a:r>
            <a:r>
              <a:rPr lang="nl-NL" dirty="0" err="1"/>
              <a:t>pile</a:t>
            </a:r>
            <a:r>
              <a:rPr lang="nl-NL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9245CF-EBCE-034A-82A1-09EB18B6C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model is implemented in Kratos (linear)</a:t>
            </a:r>
          </a:p>
          <a:p>
            <a:endParaRPr lang="en-GB" dirty="0"/>
          </a:p>
          <a:p>
            <a:r>
              <a:rPr lang="en-GB" noProof="0" dirty="0"/>
              <a:t>Given input we can calculate the total displacement in the x-direction (maaiveld) and the maximum bending moment</a:t>
            </a:r>
          </a:p>
          <a:p>
            <a:endParaRPr lang="nl-NL" dirty="0"/>
          </a:p>
          <a:p>
            <a:r>
              <a:rPr lang="nl-NL" dirty="0"/>
              <a:t>Parameters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describe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soil</a:t>
            </a:r>
            <a:r>
              <a:rPr lang="nl-NL" dirty="0"/>
              <a:t> </a:t>
            </a:r>
            <a:r>
              <a:rPr lang="nl-NL" dirty="0" err="1"/>
              <a:t>properties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sheet </a:t>
            </a:r>
            <a:r>
              <a:rPr lang="nl-NL" dirty="0" err="1"/>
              <a:t>pile</a:t>
            </a:r>
            <a:r>
              <a:rPr lang="nl-NL" dirty="0"/>
              <a:t> are </a:t>
            </a:r>
            <a:r>
              <a:rPr lang="nl-NL" dirty="0" err="1"/>
              <a:t>uncertain</a:t>
            </a:r>
            <a:endParaRPr lang="nl-NL" dirty="0"/>
          </a:p>
          <a:p>
            <a:endParaRPr lang="nl-NL" dirty="0"/>
          </a:p>
          <a:p>
            <a:r>
              <a:rPr lang="nl-NL" dirty="0"/>
              <a:t>We want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calculate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The </a:t>
            </a:r>
            <a:r>
              <a:rPr lang="nl-NL" dirty="0" err="1"/>
              <a:t>probability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total</a:t>
            </a:r>
            <a:r>
              <a:rPr lang="nl-NL" dirty="0"/>
              <a:t> displacement in </a:t>
            </a:r>
            <a:r>
              <a:rPr lang="nl-NL" dirty="0" err="1"/>
              <a:t>the</a:t>
            </a:r>
            <a:r>
              <a:rPr lang="nl-NL" dirty="0"/>
              <a:t> x-</a:t>
            </a:r>
            <a:r>
              <a:rPr lang="nl-NL" dirty="0" err="1"/>
              <a:t>direction</a:t>
            </a:r>
            <a:r>
              <a:rPr lang="nl-NL" dirty="0"/>
              <a:t> </a:t>
            </a:r>
            <a:r>
              <a:rPr lang="nl-NL" dirty="0" err="1"/>
              <a:t>exceeds</a:t>
            </a:r>
            <a:r>
              <a:rPr lang="nl-NL" dirty="0"/>
              <a:t> a </a:t>
            </a:r>
            <a:r>
              <a:rPr lang="nl-NL" dirty="0" err="1"/>
              <a:t>critical</a:t>
            </a:r>
            <a:r>
              <a:rPr lang="nl-NL" dirty="0"/>
              <a:t> </a:t>
            </a:r>
            <a:r>
              <a:rPr lang="nl-NL" dirty="0" err="1"/>
              <a:t>value</a:t>
            </a:r>
            <a:endParaRPr lang="nl-NL" dirty="0"/>
          </a:p>
          <a:p>
            <a:pPr lvl="1"/>
            <a:r>
              <a:rPr lang="nl-NL" dirty="0"/>
              <a:t>The </a:t>
            </a:r>
            <a:r>
              <a:rPr lang="nl-NL" dirty="0" err="1"/>
              <a:t>probability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maximum </a:t>
            </a:r>
            <a:r>
              <a:rPr lang="nl-NL" dirty="0" err="1"/>
              <a:t>bending</a:t>
            </a:r>
            <a:r>
              <a:rPr lang="nl-NL" dirty="0"/>
              <a:t> moment </a:t>
            </a:r>
            <a:r>
              <a:rPr lang="nl-NL" dirty="0" err="1"/>
              <a:t>exceeds</a:t>
            </a:r>
            <a:r>
              <a:rPr lang="nl-NL" dirty="0"/>
              <a:t> a </a:t>
            </a:r>
            <a:r>
              <a:rPr lang="nl-NL" dirty="0" err="1"/>
              <a:t>critical</a:t>
            </a:r>
            <a:r>
              <a:rPr lang="nl-NL" dirty="0"/>
              <a:t> </a:t>
            </a:r>
            <a:r>
              <a:rPr lang="nl-NL" dirty="0" err="1"/>
              <a:t>value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D5C85-9BC9-2E0E-23AC-74AB2B453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29BB4-1189-E4FF-9AA0-8BE1CA7F0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C0646-7087-8CAD-6374-8BC5ED1D1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42264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E404F-8BF4-09B4-56FA-7C23BAB78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Probabilistic calculations: variables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5C4B3-6D3D-27F4-8630-5555805DE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83F8E-4280-A2F9-D453-69FF05F1F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93F02-6127-5B76-8B78-40B977003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7</a:t>
            </a:fld>
            <a:endParaRPr lang="nl-NL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5A3D928-9177-5E7B-B8F6-D5BD54B449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962745"/>
              </p:ext>
            </p:extLst>
          </p:nvPr>
        </p:nvGraphicFramePr>
        <p:xfrm>
          <a:off x="755650" y="1980109"/>
          <a:ext cx="9520033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8243">
                  <a:extLst>
                    <a:ext uri="{9D8B030D-6E8A-4147-A177-3AD203B41FA5}">
                      <a16:colId xmlns:a16="http://schemas.microsoft.com/office/drawing/2014/main" val="800794412"/>
                    </a:ext>
                  </a:extLst>
                </a:gridCol>
                <a:gridCol w="2679826">
                  <a:extLst>
                    <a:ext uri="{9D8B030D-6E8A-4147-A177-3AD203B41FA5}">
                      <a16:colId xmlns:a16="http://schemas.microsoft.com/office/drawing/2014/main" val="3354784842"/>
                    </a:ext>
                  </a:extLst>
                </a:gridCol>
                <a:gridCol w="3041964">
                  <a:extLst>
                    <a:ext uri="{9D8B030D-6E8A-4147-A177-3AD203B41FA5}">
                      <a16:colId xmlns:a16="http://schemas.microsoft.com/office/drawing/2014/main" val="5789678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Variable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Distribution type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Parameters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712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Young modulus (clay)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Uniform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5x10</a:t>
                      </a:r>
                      <a:r>
                        <a:rPr lang="en-GB" baseline="30000" dirty="0"/>
                        <a:t>6</a:t>
                      </a:r>
                      <a:r>
                        <a:rPr lang="en-GB" dirty="0"/>
                        <a:t> – 8x10</a:t>
                      </a:r>
                      <a:r>
                        <a:rPr lang="en-GB" baseline="30000" dirty="0"/>
                        <a:t>6</a:t>
                      </a:r>
                      <a:endParaRPr lang="nl-NL" baseline="30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344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Young modulus (sand)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Uniform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30x10</a:t>
                      </a:r>
                      <a:r>
                        <a:rPr lang="en-GB" baseline="30000" dirty="0"/>
                        <a:t>6</a:t>
                      </a:r>
                      <a:r>
                        <a:rPr lang="en-GB" dirty="0"/>
                        <a:t> – 50x10</a:t>
                      </a:r>
                      <a:r>
                        <a:rPr lang="en-GB" baseline="30000" dirty="0"/>
                        <a:t>6</a:t>
                      </a:r>
                      <a:endParaRPr lang="nl-NL" baseline="30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806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Interface </a:t>
                      </a:r>
                      <a:r>
                        <a:rPr lang="en-GB" noProof="0" dirty="0"/>
                        <a:t>stiffness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Deterministic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10</a:t>
                      </a:r>
                      <a:r>
                        <a:rPr lang="nl-NL" baseline="30000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179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Young modulus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200x10</a:t>
                      </a:r>
                      <a:r>
                        <a:rPr lang="en-GB" baseline="30000" dirty="0"/>
                        <a:t>9</a:t>
                      </a:r>
                      <a:endParaRPr lang="nl-NL" baseline="30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2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Poisson ratio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75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thickness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0.02159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43658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B449821-510F-1631-6BD7-CA0168E153B1}"/>
              </a:ext>
            </a:extLst>
          </p:cNvPr>
          <p:cNvSpPr txBox="1"/>
          <p:nvPr/>
        </p:nvSpPr>
        <p:spPr>
          <a:xfrm>
            <a:off x="679010" y="1359570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Input:</a:t>
            </a:r>
            <a:endParaRPr lang="nl-NL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EE4117-0627-828E-DC43-4EBC0AC4BFDE}"/>
              </a:ext>
            </a:extLst>
          </p:cNvPr>
          <p:cNvSpPr txBox="1"/>
          <p:nvPr/>
        </p:nvSpPr>
        <p:spPr>
          <a:xfrm>
            <a:off x="679010" y="5078403"/>
            <a:ext cx="6930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Output:</a:t>
            </a:r>
            <a:r>
              <a:rPr lang="en-GB" dirty="0"/>
              <a:t> total displacement x </a:t>
            </a:r>
            <a:r>
              <a:rPr lang="en-GB" u="sng" dirty="0"/>
              <a:t>(surface level)</a:t>
            </a:r>
            <a:r>
              <a:rPr lang="en-GB" dirty="0"/>
              <a:t>, max bending moment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37517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BD5D9-C4AC-9E1B-4478-72D0CDDC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uncertainty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C935A-2ECA-2938-8B18-0FD540617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511588"/>
            <a:ext cx="10512349" cy="4320000"/>
          </a:xfrm>
        </p:spPr>
        <p:txBody>
          <a:bodyPr/>
          <a:lstStyle/>
          <a:p>
            <a:r>
              <a:rPr lang="nl-NL" dirty="0"/>
              <a:t>Total displacement in </a:t>
            </a:r>
            <a:r>
              <a:rPr lang="nl-NL" dirty="0" err="1"/>
              <a:t>the</a:t>
            </a:r>
            <a:r>
              <a:rPr lang="nl-NL" dirty="0"/>
              <a:t> x-</a:t>
            </a:r>
            <a:r>
              <a:rPr lang="nl-NL" dirty="0" err="1"/>
              <a:t>direction</a:t>
            </a:r>
            <a:r>
              <a:rPr lang="nl-NL" dirty="0"/>
              <a:t> (</a:t>
            </a:r>
            <a:r>
              <a:rPr lang="nl-NL" dirty="0" err="1"/>
              <a:t>surface</a:t>
            </a:r>
            <a:r>
              <a:rPr lang="nl-NL" dirty="0"/>
              <a:t> level)</a:t>
            </a:r>
          </a:p>
          <a:p>
            <a:r>
              <a:rPr lang="nl-NL" dirty="0" err="1"/>
              <a:t>Crude</a:t>
            </a:r>
            <a:r>
              <a:rPr lang="nl-NL" dirty="0"/>
              <a:t> Monte Carlo </a:t>
            </a:r>
            <a:r>
              <a:rPr lang="nl-NL" dirty="0" err="1"/>
              <a:t>with</a:t>
            </a:r>
            <a:r>
              <a:rPr lang="nl-NL" dirty="0"/>
              <a:t> 1000 samples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B9789-122D-7A8C-236B-62518BFEF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F3ADB5-5B69-077E-4EBE-4D4D9A100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339AC0-6B39-2FEE-CBF0-A3DB58761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8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087F52-7949-A6BA-C02B-16B89F46F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525" y="2959431"/>
            <a:ext cx="4702086" cy="32817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76A59C-0F6A-41E8-F8BF-69C12F1A3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425" y="2949906"/>
            <a:ext cx="4702086" cy="32856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37EC6C9-2F13-5E57-6ADC-70CD05F316AA}"/>
              </a:ext>
            </a:extLst>
          </p:cNvPr>
          <p:cNvSpPr txBox="1"/>
          <p:nvPr/>
        </p:nvSpPr>
        <p:spPr>
          <a:xfrm>
            <a:off x="2099253" y="2483697"/>
            <a:ext cx="2416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dirty="0"/>
              <a:t>Stage 2 (</a:t>
            </a:r>
            <a:r>
              <a:rPr lang="nl-NL" b="1" dirty="0" err="1"/>
              <a:t>excavation</a:t>
            </a:r>
            <a:r>
              <a:rPr lang="nl-NL" b="1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2871AE-57A8-9B57-ADCC-8EE5A66E8E3C}"/>
              </a:ext>
            </a:extLst>
          </p:cNvPr>
          <p:cNvSpPr txBox="1"/>
          <p:nvPr/>
        </p:nvSpPr>
        <p:spPr>
          <a:xfrm>
            <a:off x="7357053" y="2512603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dirty="0"/>
              <a:t>Stage 3 (anker)</a:t>
            </a:r>
          </a:p>
        </p:txBody>
      </p:sp>
    </p:spTree>
    <p:extLst>
      <p:ext uri="{BB962C8B-B14F-4D97-AF65-F5344CB8AC3E}">
        <p14:creationId xmlns:p14="http://schemas.microsoft.com/office/powerpoint/2010/main" val="2909249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87818-5493-0187-4019-F35B18FB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uncertainty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63E60-4B42-2D90-2AA6-93A2C68C6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477695"/>
            <a:ext cx="10512349" cy="4320000"/>
          </a:xfrm>
        </p:spPr>
        <p:txBody>
          <a:bodyPr/>
          <a:lstStyle/>
          <a:p>
            <a:r>
              <a:rPr lang="nl-NL" dirty="0" err="1"/>
              <a:t>Maximal</a:t>
            </a:r>
            <a:r>
              <a:rPr lang="nl-NL" dirty="0"/>
              <a:t> </a:t>
            </a:r>
            <a:r>
              <a:rPr lang="nl-NL" dirty="0" err="1"/>
              <a:t>bending</a:t>
            </a:r>
            <a:r>
              <a:rPr lang="nl-NL" dirty="0"/>
              <a:t> moment</a:t>
            </a:r>
          </a:p>
          <a:p>
            <a:r>
              <a:rPr lang="nl-NL" dirty="0" err="1"/>
              <a:t>Crude</a:t>
            </a:r>
            <a:r>
              <a:rPr lang="nl-NL" dirty="0"/>
              <a:t> Monte Carlo </a:t>
            </a:r>
            <a:r>
              <a:rPr lang="nl-NL" dirty="0" err="1"/>
              <a:t>with</a:t>
            </a:r>
            <a:r>
              <a:rPr lang="nl-NL" dirty="0"/>
              <a:t> 1000 samples</a:t>
            </a:r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2C38B-C4BC-F6CF-3DA8-ED4C85D65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7FCBF-2F77-9891-3D63-C7148B739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320AE-188E-9D8C-A2D3-435888D67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9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313DFE-6C2D-2399-BCA3-91C32807E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72" y="2811880"/>
            <a:ext cx="5424734" cy="35769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2FA873E-91C5-A387-A776-6DE0BAEE9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811880"/>
            <a:ext cx="6006852" cy="35114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F33280B-5CDA-7E53-2D01-76A356DC45F6}"/>
              </a:ext>
            </a:extLst>
          </p:cNvPr>
          <p:cNvSpPr txBox="1"/>
          <p:nvPr/>
        </p:nvSpPr>
        <p:spPr>
          <a:xfrm>
            <a:off x="2099253" y="2378922"/>
            <a:ext cx="2416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dirty="0"/>
              <a:t>Stage 2 (</a:t>
            </a:r>
            <a:r>
              <a:rPr lang="nl-NL" b="1" dirty="0" err="1"/>
              <a:t>excavation</a:t>
            </a:r>
            <a:r>
              <a:rPr lang="nl-NL" b="1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E70B8E-CC91-C25E-7E0F-377B2114DD32}"/>
              </a:ext>
            </a:extLst>
          </p:cNvPr>
          <p:cNvSpPr txBox="1"/>
          <p:nvPr/>
        </p:nvSpPr>
        <p:spPr>
          <a:xfrm>
            <a:off x="8100003" y="2407828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dirty="0"/>
              <a:t>Stage 3 (anker)</a:t>
            </a:r>
          </a:p>
        </p:txBody>
      </p:sp>
    </p:spTree>
    <p:extLst>
      <p:ext uri="{BB962C8B-B14F-4D97-AF65-F5344CB8AC3E}">
        <p14:creationId xmlns:p14="http://schemas.microsoft.com/office/powerpoint/2010/main" val="280293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5B427-C659-4086-E469-AFB9C5D8F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reliability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12F3E-7531-4103-2D75-F75F55BCB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Limit state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total</a:t>
            </a:r>
            <a:r>
              <a:rPr lang="nl-NL" dirty="0"/>
              <a:t> displacement in </a:t>
            </a:r>
            <a:r>
              <a:rPr lang="nl-NL" dirty="0" err="1"/>
              <a:t>the</a:t>
            </a:r>
            <a:r>
              <a:rPr lang="nl-NL" dirty="0"/>
              <a:t> x-</a:t>
            </a:r>
            <a:r>
              <a:rPr lang="nl-NL" dirty="0" err="1"/>
              <a:t>direction</a:t>
            </a:r>
            <a:r>
              <a:rPr lang="nl-NL" dirty="0"/>
              <a:t> (</a:t>
            </a:r>
            <a:r>
              <a:rPr lang="nl-NL" dirty="0" err="1"/>
              <a:t>surface</a:t>
            </a:r>
            <a:r>
              <a:rPr lang="nl-NL" dirty="0"/>
              <a:t> level): 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Limit state </a:t>
            </a:r>
            <a:r>
              <a:rPr lang="nl-NL" dirty="0" err="1"/>
              <a:t>function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maximal</a:t>
            </a:r>
            <a:r>
              <a:rPr lang="nl-NL" dirty="0"/>
              <a:t> </a:t>
            </a:r>
            <a:r>
              <a:rPr lang="nl-NL" dirty="0" err="1"/>
              <a:t>bending</a:t>
            </a:r>
            <a:r>
              <a:rPr lang="nl-NL" dirty="0"/>
              <a:t> moment: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B056E6-318C-47BE-9F1A-CE8BE6497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8F3F1-5044-0817-1A63-2D3924623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2D6065-1870-C739-1F3F-287F4A6EB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10</a:t>
            </a:fld>
            <a:endParaRPr lang="nl-NL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B60E87-1A3B-7090-B6E1-ECD3B1A21BFB}"/>
                  </a:ext>
                </a:extLst>
              </p:cNvPr>
              <p:cNvSpPr txBox="1"/>
              <p:nvPr/>
            </p:nvSpPr>
            <p:spPr>
              <a:xfrm>
                <a:off x="1053719" y="2240759"/>
                <a:ext cx="6380080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B60E87-1A3B-7090-B6E1-ECD3B1A21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719" y="2240759"/>
                <a:ext cx="6380080" cy="298415"/>
              </a:xfrm>
              <a:prstGeom prst="rect">
                <a:avLst/>
              </a:prstGeom>
              <a:blipFill>
                <a:blip r:embed="rId2"/>
                <a:stretch>
                  <a:fillRect l="-382" t="-2041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6BC8870-2886-B307-D71B-C93C516604DB}"/>
                  </a:ext>
                </a:extLst>
              </p:cNvPr>
              <p:cNvSpPr txBox="1"/>
              <p:nvPr/>
            </p:nvSpPr>
            <p:spPr>
              <a:xfrm>
                <a:off x="1053719" y="4233101"/>
                <a:ext cx="6839501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𝑚𝑎𝑥𝑖𝑚𝑎𝑙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6BC8870-2886-B307-D71B-C93C516604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719" y="4233101"/>
                <a:ext cx="6839501" cy="299569"/>
              </a:xfrm>
              <a:prstGeom prst="rect">
                <a:avLst/>
              </a:prstGeom>
              <a:blipFill>
                <a:blip r:embed="rId3"/>
                <a:stretch>
                  <a:fillRect l="-267" r="-89" b="-2800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52209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5AF7E-B229-BEC8-5736-7BE448751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D96F2-4961-E248-31F3-66F003D27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reliability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C22BDA-BD2F-FDDD-0014-00E7D0F75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nl-NL" dirty="0"/>
              <a:t>Failure </a:t>
            </a:r>
            <a:r>
              <a:rPr lang="nl-NL" dirty="0" err="1"/>
              <a:t>probability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displacement: 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r>
              <a:rPr lang="nl-NL" dirty="0"/>
              <a:t>Failure </a:t>
            </a:r>
            <a:r>
              <a:rPr lang="nl-NL" dirty="0" err="1"/>
              <a:t>probability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maximal</a:t>
            </a:r>
            <a:r>
              <a:rPr lang="nl-NL" dirty="0"/>
              <a:t> </a:t>
            </a:r>
            <a:r>
              <a:rPr lang="nl-NL" dirty="0" err="1"/>
              <a:t>bending</a:t>
            </a:r>
            <a:r>
              <a:rPr lang="nl-NL" dirty="0"/>
              <a:t> moment: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r>
              <a:rPr lang="nl-NL" dirty="0" err="1"/>
              <a:t>Combined</a:t>
            </a:r>
            <a:r>
              <a:rPr lang="nl-NL" dirty="0"/>
              <a:t> </a:t>
            </a:r>
            <a:r>
              <a:rPr lang="nl-NL" dirty="0" err="1"/>
              <a:t>probability</a:t>
            </a:r>
            <a:r>
              <a:rPr lang="nl-NL" dirty="0"/>
              <a:t>:</a:t>
            </a:r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6BDC9-7A7D-CF0E-6B3E-237DC7EB9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0515D-FAA6-458D-C15C-1CB4CD33F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62C42-6FDC-9298-29E5-940CAD26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11</a:t>
            </a:fld>
            <a:endParaRPr lang="nl-NL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642758-385A-B04A-0D94-8086DEDC39B3}"/>
                  </a:ext>
                </a:extLst>
              </p:cNvPr>
              <p:cNvSpPr txBox="1"/>
              <p:nvPr/>
            </p:nvSpPr>
            <p:spPr>
              <a:xfrm>
                <a:off x="995437" y="2205799"/>
                <a:ext cx="7465377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𝑝𝑙𝑎𝑐𝑒𝑚𝑒𝑛𝑡</m:t>
                          </m:r>
                        </m:sub>
                      </m:sSub>
                      <m:r>
                        <a:rPr lang="nl-NL" i="1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642758-385A-B04A-0D94-8086DEDC3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2205799"/>
                <a:ext cx="7465377" cy="298415"/>
              </a:xfrm>
              <a:prstGeom prst="rect">
                <a:avLst/>
              </a:prstGeom>
              <a:blipFill>
                <a:blip r:embed="rId2"/>
                <a:stretch>
                  <a:fillRect l="-163" r="-571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C21BBF-D9F7-3BF8-BC94-A547B99AECE3}"/>
                  </a:ext>
                </a:extLst>
              </p:cNvPr>
              <p:cNvSpPr txBox="1"/>
              <p:nvPr/>
            </p:nvSpPr>
            <p:spPr>
              <a:xfrm>
                <a:off x="995437" y="3750403"/>
                <a:ext cx="7950445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𝑚𝑎𝑥𝑖𝑚𝑎𝑙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C21BBF-D9F7-3BF8-BC94-A547B99AEC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3750403"/>
                <a:ext cx="7950445" cy="299569"/>
              </a:xfrm>
              <a:prstGeom prst="rect">
                <a:avLst/>
              </a:prstGeom>
              <a:blipFill>
                <a:blip r:embed="rId3"/>
                <a:stretch>
                  <a:fillRect r="-307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91B327D-5064-9AE7-C2C3-2605D103F585}"/>
                  </a:ext>
                </a:extLst>
              </p:cNvPr>
              <p:cNvSpPr txBox="1"/>
              <p:nvPr/>
            </p:nvSpPr>
            <p:spPr>
              <a:xfrm>
                <a:off x="995437" y="5243780"/>
                <a:ext cx="3704219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</m:t>
                              </m:r>
                              <m:r>
                                <a:rPr lang="nl-NL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𝑝𝑙𝑎𝑐𝑒𝑚𝑒𝑛𝑡</m:t>
                              </m:r>
                            </m:sub>
                          </m:s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&lt;0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𝑜𝑟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91B327D-5064-9AE7-C2C3-2605D103F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5243780"/>
                <a:ext cx="3704219" cy="299569"/>
              </a:xfrm>
              <a:prstGeom prst="rect">
                <a:avLst/>
              </a:prstGeom>
              <a:blipFill>
                <a:blip r:embed="rId4"/>
                <a:stretch>
                  <a:fillRect l="-822" r="-1645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6798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BDB28-6EA3-EACA-DEC4-5AC67CF4C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A3B4-98B2-224D-238C-AF4773161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reliability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E413D-CDAE-E37C-933F-CCD481E5F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Failure </a:t>
            </a:r>
            <a:r>
              <a:rPr lang="nl-NL" dirty="0" err="1"/>
              <a:t>probability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displacement, FORM: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B82CD-8D23-4539-D9C0-BFC762D57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7550-D734-E7D9-C1A6-45FB0809F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5F7A7-BEED-7748-3150-B5C48D377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12</a:t>
            </a:fld>
            <a:endParaRPr lang="nl-NL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80786F-018F-5881-15C2-AA5FBB84AB56}"/>
                  </a:ext>
                </a:extLst>
              </p:cNvPr>
              <p:cNvSpPr txBox="1"/>
              <p:nvPr/>
            </p:nvSpPr>
            <p:spPr>
              <a:xfrm>
                <a:off x="987044" y="2205799"/>
                <a:ext cx="7533473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l-NL" b="0" i="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nl-NL" b="0" i="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𝑑𝑖𝑝𝑙𝑎𝑐𝑒𝑚𝑒𝑛𝑡</m:t>
                          </m:r>
                        </m:sub>
                      </m:sSub>
                      <m:r>
                        <a:rPr lang="nl-NL" i="1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80786F-018F-5881-15C2-AA5FBB84A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044" y="2205799"/>
                <a:ext cx="7533473" cy="298415"/>
              </a:xfrm>
              <a:prstGeom prst="rect">
                <a:avLst/>
              </a:prstGeom>
              <a:blipFill>
                <a:blip r:embed="rId2"/>
                <a:stretch>
                  <a:fillRect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4C08C42-E55E-158B-9B7E-7080F1FE6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360844"/>
              </p:ext>
            </p:extLst>
          </p:nvPr>
        </p:nvGraphicFramePr>
        <p:xfrm>
          <a:off x="1117600" y="3158508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875">
                  <a:extLst>
                    <a:ext uri="{9D8B030D-6E8A-4147-A177-3AD203B41FA5}">
                      <a16:colId xmlns:a16="http://schemas.microsoft.com/office/drawing/2014/main" val="2781947665"/>
                    </a:ext>
                  </a:extLst>
                </a:gridCol>
                <a:gridCol w="2354791">
                  <a:extLst>
                    <a:ext uri="{9D8B030D-6E8A-4147-A177-3AD203B41FA5}">
                      <a16:colId xmlns:a16="http://schemas.microsoft.com/office/drawing/2014/main" val="142202190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740128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Critical displacement [m]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Failure </a:t>
                      </a:r>
                      <a:r>
                        <a:rPr lang="nl-NL" dirty="0" err="1"/>
                        <a:t>probability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 err="1"/>
                        <a:t>Reliability</a:t>
                      </a:r>
                      <a:r>
                        <a:rPr lang="nl-NL" dirty="0"/>
                        <a:t> 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540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623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0.72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0.55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-0.14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467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-40.0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753190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A284989D-B137-5E5C-817B-5819924B0283}"/>
              </a:ext>
            </a:extLst>
          </p:cNvPr>
          <p:cNvSpPr/>
          <p:nvPr/>
        </p:nvSpPr>
        <p:spPr>
          <a:xfrm>
            <a:off x="1117600" y="3543300"/>
            <a:ext cx="8127999" cy="304800"/>
          </a:xfrm>
          <a:custGeom>
            <a:avLst/>
            <a:gdLst>
              <a:gd name="connsiteX0" fmla="*/ 0 w 8127999"/>
              <a:gd name="connsiteY0" fmla="*/ 0 h 304800"/>
              <a:gd name="connsiteX1" fmla="*/ 499291 w 8127999"/>
              <a:gd name="connsiteY1" fmla="*/ 0 h 304800"/>
              <a:gd name="connsiteX2" fmla="*/ 917303 w 8127999"/>
              <a:gd name="connsiteY2" fmla="*/ 0 h 304800"/>
              <a:gd name="connsiteX3" fmla="*/ 1497874 w 8127999"/>
              <a:gd name="connsiteY3" fmla="*/ 0 h 304800"/>
              <a:gd name="connsiteX4" fmla="*/ 1834605 w 8127999"/>
              <a:gd name="connsiteY4" fmla="*/ 0 h 304800"/>
              <a:gd name="connsiteX5" fmla="*/ 2252617 w 8127999"/>
              <a:gd name="connsiteY5" fmla="*/ 0 h 304800"/>
              <a:gd name="connsiteX6" fmla="*/ 2995748 w 8127999"/>
              <a:gd name="connsiteY6" fmla="*/ 0 h 304800"/>
              <a:gd name="connsiteX7" fmla="*/ 3576320 w 8127999"/>
              <a:gd name="connsiteY7" fmla="*/ 0 h 304800"/>
              <a:gd name="connsiteX8" fmla="*/ 3994331 w 8127999"/>
              <a:gd name="connsiteY8" fmla="*/ 0 h 304800"/>
              <a:gd name="connsiteX9" fmla="*/ 4331062 w 8127999"/>
              <a:gd name="connsiteY9" fmla="*/ 0 h 304800"/>
              <a:gd name="connsiteX10" fmla="*/ 4830354 w 8127999"/>
              <a:gd name="connsiteY10" fmla="*/ 0 h 304800"/>
              <a:gd name="connsiteX11" fmla="*/ 5410925 w 8127999"/>
              <a:gd name="connsiteY11" fmla="*/ 0 h 304800"/>
              <a:gd name="connsiteX12" fmla="*/ 5828936 w 8127999"/>
              <a:gd name="connsiteY12" fmla="*/ 0 h 304800"/>
              <a:gd name="connsiteX13" fmla="*/ 6572068 w 8127999"/>
              <a:gd name="connsiteY13" fmla="*/ 0 h 304800"/>
              <a:gd name="connsiteX14" fmla="*/ 7071359 w 8127999"/>
              <a:gd name="connsiteY14" fmla="*/ 0 h 304800"/>
              <a:gd name="connsiteX15" fmla="*/ 7570650 w 8127999"/>
              <a:gd name="connsiteY15" fmla="*/ 0 h 304800"/>
              <a:gd name="connsiteX16" fmla="*/ 8127999 w 8127999"/>
              <a:gd name="connsiteY16" fmla="*/ 0 h 304800"/>
              <a:gd name="connsiteX17" fmla="*/ 8127999 w 8127999"/>
              <a:gd name="connsiteY17" fmla="*/ 304800 h 304800"/>
              <a:gd name="connsiteX18" fmla="*/ 7547428 w 8127999"/>
              <a:gd name="connsiteY18" fmla="*/ 304800 h 304800"/>
              <a:gd name="connsiteX19" fmla="*/ 7210696 w 8127999"/>
              <a:gd name="connsiteY19" fmla="*/ 304800 h 304800"/>
              <a:gd name="connsiteX20" fmla="*/ 6467565 w 8127999"/>
              <a:gd name="connsiteY20" fmla="*/ 304800 h 304800"/>
              <a:gd name="connsiteX21" fmla="*/ 6049554 w 8127999"/>
              <a:gd name="connsiteY21" fmla="*/ 304800 h 304800"/>
              <a:gd name="connsiteX22" fmla="*/ 5387702 w 8127999"/>
              <a:gd name="connsiteY22" fmla="*/ 304800 h 304800"/>
              <a:gd name="connsiteX23" fmla="*/ 4807131 w 8127999"/>
              <a:gd name="connsiteY23" fmla="*/ 304800 h 304800"/>
              <a:gd name="connsiteX24" fmla="*/ 4064000 w 8127999"/>
              <a:gd name="connsiteY24" fmla="*/ 304800 h 304800"/>
              <a:gd name="connsiteX25" fmla="*/ 3645988 w 8127999"/>
              <a:gd name="connsiteY25" fmla="*/ 304800 h 304800"/>
              <a:gd name="connsiteX26" fmla="*/ 2902857 w 8127999"/>
              <a:gd name="connsiteY26" fmla="*/ 304800 h 304800"/>
              <a:gd name="connsiteX27" fmla="*/ 2566125 w 8127999"/>
              <a:gd name="connsiteY27" fmla="*/ 304800 h 304800"/>
              <a:gd name="connsiteX28" fmla="*/ 1822994 w 8127999"/>
              <a:gd name="connsiteY28" fmla="*/ 304800 h 304800"/>
              <a:gd name="connsiteX29" fmla="*/ 1079863 w 8127999"/>
              <a:gd name="connsiteY29" fmla="*/ 304800 h 304800"/>
              <a:gd name="connsiteX30" fmla="*/ 499291 w 8127999"/>
              <a:gd name="connsiteY30" fmla="*/ 304800 h 304800"/>
              <a:gd name="connsiteX31" fmla="*/ 0 w 8127999"/>
              <a:gd name="connsiteY31" fmla="*/ 304800 h 304800"/>
              <a:gd name="connsiteX32" fmla="*/ 0 w 8127999"/>
              <a:gd name="connsiteY32" fmla="*/ 0 h 30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8127999" h="304800" extrusionOk="0">
                <a:moveTo>
                  <a:pt x="0" y="0"/>
                </a:moveTo>
                <a:cubicBezTo>
                  <a:pt x="217148" y="-10341"/>
                  <a:pt x="252830" y="2650"/>
                  <a:pt x="499291" y="0"/>
                </a:cubicBezTo>
                <a:cubicBezTo>
                  <a:pt x="745752" y="-2650"/>
                  <a:pt x="819572" y="46559"/>
                  <a:pt x="917303" y="0"/>
                </a:cubicBezTo>
                <a:cubicBezTo>
                  <a:pt x="1015034" y="-46559"/>
                  <a:pt x="1285951" y="20114"/>
                  <a:pt x="1497874" y="0"/>
                </a:cubicBezTo>
                <a:cubicBezTo>
                  <a:pt x="1709797" y="-20114"/>
                  <a:pt x="1765743" y="7446"/>
                  <a:pt x="1834605" y="0"/>
                </a:cubicBezTo>
                <a:cubicBezTo>
                  <a:pt x="1903467" y="-7446"/>
                  <a:pt x="2134761" y="48348"/>
                  <a:pt x="2252617" y="0"/>
                </a:cubicBezTo>
                <a:cubicBezTo>
                  <a:pt x="2370473" y="-48348"/>
                  <a:pt x="2777431" y="86519"/>
                  <a:pt x="2995748" y="0"/>
                </a:cubicBezTo>
                <a:cubicBezTo>
                  <a:pt x="3214065" y="-86519"/>
                  <a:pt x="3307484" y="1790"/>
                  <a:pt x="3576320" y="0"/>
                </a:cubicBezTo>
                <a:cubicBezTo>
                  <a:pt x="3845156" y="-1790"/>
                  <a:pt x="3894630" y="24370"/>
                  <a:pt x="3994331" y="0"/>
                </a:cubicBezTo>
                <a:cubicBezTo>
                  <a:pt x="4094032" y="-24370"/>
                  <a:pt x="4256424" y="38520"/>
                  <a:pt x="4331062" y="0"/>
                </a:cubicBezTo>
                <a:cubicBezTo>
                  <a:pt x="4405700" y="-38520"/>
                  <a:pt x="4688993" y="37019"/>
                  <a:pt x="4830354" y="0"/>
                </a:cubicBezTo>
                <a:cubicBezTo>
                  <a:pt x="4971715" y="-37019"/>
                  <a:pt x="5184742" y="67323"/>
                  <a:pt x="5410925" y="0"/>
                </a:cubicBezTo>
                <a:cubicBezTo>
                  <a:pt x="5637108" y="-67323"/>
                  <a:pt x="5659046" y="40693"/>
                  <a:pt x="5828936" y="0"/>
                </a:cubicBezTo>
                <a:cubicBezTo>
                  <a:pt x="5998826" y="-40693"/>
                  <a:pt x="6314176" y="82990"/>
                  <a:pt x="6572068" y="0"/>
                </a:cubicBezTo>
                <a:cubicBezTo>
                  <a:pt x="6829960" y="-82990"/>
                  <a:pt x="6862528" y="9129"/>
                  <a:pt x="7071359" y="0"/>
                </a:cubicBezTo>
                <a:cubicBezTo>
                  <a:pt x="7280190" y="-9129"/>
                  <a:pt x="7400533" y="52603"/>
                  <a:pt x="7570650" y="0"/>
                </a:cubicBezTo>
                <a:cubicBezTo>
                  <a:pt x="7740767" y="-52603"/>
                  <a:pt x="7891776" y="20023"/>
                  <a:pt x="8127999" y="0"/>
                </a:cubicBezTo>
                <a:cubicBezTo>
                  <a:pt x="8131393" y="136568"/>
                  <a:pt x="8123855" y="167094"/>
                  <a:pt x="8127999" y="304800"/>
                </a:cubicBezTo>
                <a:cubicBezTo>
                  <a:pt x="7858116" y="341724"/>
                  <a:pt x="7815644" y="251190"/>
                  <a:pt x="7547428" y="304800"/>
                </a:cubicBezTo>
                <a:cubicBezTo>
                  <a:pt x="7279212" y="358410"/>
                  <a:pt x="7341747" y="285918"/>
                  <a:pt x="7210696" y="304800"/>
                </a:cubicBezTo>
                <a:cubicBezTo>
                  <a:pt x="7079645" y="323682"/>
                  <a:pt x="6777863" y="250629"/>
                  <a:pt x="6467565" y="304800"/>
                </a:cubicBezTo>
                <a:cubicBezTo>
                  <a:pt x="6157267" y="358971"/>
                  <a:pt x="6230609" y="255097"/>
                  <a:pt x="6049554" y="304800"/>
                </a:cubicBezTo>
                <a:cubicBezTo>
                  <a:pt x="5868499" y="354503"/>
                  <a:pt x="5661387" y="238819"/>
                  <a:pt x="5387702" y="304800"/>
                </a:cubicBezTo>
                <a:cubicBezTo>
                  <a:pt x="5114017" y="370781"/>
                  <a:pt x="4934569" y="239921"/>
                  <a:pt x="4807131" y="304800"/>
                </a:cubicBezTo>
                <a:cubicBezTo>
                  <a:pt x="4679693" y="369679"/>
                  <a:pt x="4343672" y="296409"/>
                  <a:pt x="4064000" y="304800"/>
                </a:cubicBezTo>
                <a:cubicBezTo>
                  <a:pt x="3784328" y="313191"/>
                  <a:pt x="3762521" y="280010"/>
                  <a:pt x="3645988" y="304800"/>
                </a:cubicBezTo>
                <a:cubicBezTo>
                  <a:pt x="3529455" y="329590"/>
                  <a:pt x="3209413" y="237209"/>
                  <a:pt x="2902857" y="304800"/>
                </a:cubicBezTo>
                <a:cubicBezTo>
                  <a:pt x="2596301" y="372391"/>
                  <a:pt x="2655008" y="303546"/>
                  <a:pt x="2566125" y="304800"/>
                </a:cubicBezTo>
                <a:cubicBezTo>
                  <a:pt x="2477242" y="306054"/>
                  <a:pt x="1988433" y="304557"/>
                  <a:pt x="1822994" y="304800"/>
                </a:cubicBezTo>
                <a:cubicBezTo>
                  <a:pt x="1657555" y="305043"/>
                  <a:pt x="1260806" y="245390"/>
                  <a:pt x="1079863" y="304800"/>
                </a:cubicBezTo>
                <a:cubicBezTo>
                  <a:pt x="898920" y="364210"/>
                  <a:pt x="784156" y="259210"/>
                  <a:pt x="499291" y="304800"/>
                </a:cubicBezTo>
                <a:cubicBezTo>
                  <a:pt x="214426" y="350390"/>
                  <a:pt x="188663" y="247242"/>
                  <a:pt x="0" y="304800"/>
                </a:cubicBezTo>
                <a:cubicBezTo>
                  <a:pt x="-25768" y="181401"/>
                  <a:pt x="26998" y="86422"/>
                  <a:pt x="0" y="0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14524578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7768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D683C-83FD-F5E0-2EBF-5B1193255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257C-0783-FEE7-AE93-E4192E08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reliability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36235-3517-86B2-50B1-11B1215B0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Critical displacement = -0.19 m: 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3FBAA-DD0A-3A73-44BD-B8CD22CB4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6FEBF-786F-292E-0F20-212B8B9ED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E21D4-874E-93F3-C1EE-AD3E84C2C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13</a:t>
            </a:fld>
            <a:endParaRPr lang="nl-NL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577AED-29D9-D55D-57DE-39A678280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651" y="2737982"/>
            <a:ext cx="5180132" cy="283876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2B8585E-3F96-AAE3-3975-560CE5A04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392" y="2499857"/>
            <a:ext cx="4764371" cy="349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843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47ABA-0C9D-FC5D-E220-13E8C5697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21D66-A720-7A4B-317A-93C836F15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reliability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557A2-CCAF-07AC-8E81-84D079A7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Failure </a:t>
            </a:r>
            <a:r>
              <a:rPr lang="nl-NL" dirty="0" err="1"/>
              <a:t>probability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maximal</a:t>
            </a:r>
            <a:r>
              <a:rPr lang="nl-NL" dirty="0"/>
              <a:t> </a:t>
            </a:r>
            <a:r>
              <a:rPr lang="nl-NL" dirty="0" err="1"/>
              <a:t>bending</a:t>
            </a:r>
            <a:r>
              <a:rPr lang="nl-NL" dirty="0"/>
              <a:t> moment, FORM: 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3D883C-253E-F85E-C2C6-47A75BB08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F246BE-FD4E-384B-50BA-92D3B112D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21212-7F8B-F8CD-34EF-56E91AF8C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14</a:t>
            </a:fld>
            <a:endParaRPr lang="nl-NL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4A6CE48-CD2A-1EAB-3ECA-5B245B29DF7D}"/>
                  </a:ext>
                </a:extLst>
              </p:cNvPr>
              <p:cNvSpPr txBox="1"/>
              <p:nvPr/>
            </p:nvSpPr>
            <p:spPr>
              <a:xfrm>
                <a:off x="1004962" y="2299564"/>
                <a:ext cx="7950445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𝑚𝑎𝑥𝑖𝑚𝑎𝑙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4A6CE48-CD2A-1EAB-3ECA-5B245B29D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962" y="2299564"/>
                <a:ext cx="7950445" cy="299569"/>
              </a:xfrm>
              <a:prstGeom prst="rect">
                <a:avLst/>
              </a:prstGeom>
              <a:blipFill>
                <a:blip r:embed="rId2"/>
                <a:stretch>
                  <a:fillRect r="-383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6CFE28-4CCC-9897-7A15-590ECE661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9311989"/>
              </p:ext>
            </p:extLst>
          </p:nvPr>
        </p:nvGraphicFramePr>
        <p:xfrm>
          <a:off x="1117600" y="3158508"/>
          <a:ext cx="894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1075">
                  <a:extLst>
                    <a:ext uri="{9D8B030D-6E8A-4147-A177-3AD203B41FA5}">
                      <a16:colId xmlns:a16="http://schemas.microsoft.com/office/drawing/2014/main" val="2781947665"/>
                    </a:ext>
                  </a:extLst>
                </a:gridCol>
                <a:gridCol w="2439458">
                  <a:extLst>
                    <a:ext uri="{9D8B030D-6E8A-4147-A177-3AD203B41FA5}">
                      <a16:colId xmlns:a16="http://schemas.microsoft.com/office/drawing/2014/main" val="1422021900"/>
                    </a:ext>
                  </a:extLst>
                </a:gridCol>
                <a:gridCol w="2980267">
                  <a:extLst>
                    <a:ext uri="{9D8B030D-6E8A-4147-A177-3AD203B41FA5}">
                      <a16:colId xmlns:a16="http://schemas.microsoft.com/office/drawing/2014/main" val="17740128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Critical </a:t>
                      </a:r>
                      <a:r>
                        <a:rPr lang="nl-NL" dirty="0" err="1"/>
                        <a:t>bending</a:t>
                      </a:r>
                      <a:r>
                        <a:rPr lang="nl-NL" dirty="0"/>
                        <a:t> moment [Nm]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Failure </a:t>
                      </a:r>
                      <a:r>
                        <a:rPr lang="nl-NL" dirty="0" err="1"/>
                        <a:t>probability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 err="1"/>
                        <a:t>Reliability</a:t>
                      </a:r>
                      <a:r>
                        <a:rPr lang="nl-NL" dirty="0"/>
                        <a:t> 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540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0.74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623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30,000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1.17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0.047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1.67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467074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3FEAAD87-205D-B20B-4E14-EB20AC3C8AC7}"/>
              </a:ext>
            </a:extLst>
          </p:cNvPr>
          <p:cNvSpPr/>
          <p:nvPr/>
        </p:nvSpPr>
        <p:spPr>
          <a:xfrm>
            <a:off x="1257300" y="4295775"/>
            <a:ext cx="8601075" cy="346093"/>
          </a:xfrm>
          <a:custGeom>
            <a:avLst/>
            <a:gdLst>
              <a:gd name="connsiteX0" fmla="*/ 0 w 8601075"/>
              <a:gd name="connsiteY0" fmla="*/ 0 h 346093"/>
              <a:gd name="connsiteX1" fmla="*/ 315373 w 8601075"/>
              <a:gd name="connsiteY1" fmla="*/ 0 h 346093"/>
              <a:gd name="connsiteX2" fmla="*/ 974789 w 8601075"/>
              <a:gd name="connsiteY2" fmla="*/ 0 h 346093"/>
              <a:gd name="connsiteX3" fmla="*/ 1548194 w 8601075"/>
              <a:gd name="connsiteY3" fmla="*/ 0 h 346093"/>
              <a:gd name="connsiteX4" fmla="*/ 2293620 w 8601075"/>
              <a:gd name="connsiteY4" fmla="*/ 0 h 346093"/>
              <a:gd name="connsiteX5" fmla="*/ 2695004 w 8601075"/>
              <a:gd name="connsiteY5" fmla="*/ 0 h 346093"/>
              <a:gd name="connsiteX6" fmla="*/ 3010376 w 8601075"/>
              <a:gd name="connsiteY6" fmla="*/ 0 h 346093"/>
              <a:gd name="connsiteX7" fmla="*/ 3411760 w 8601075"/>
              <a:gd name="connsiteY7" fmla="*/ 0 h 346093"/>
              <a:gd name="connsiteX8" fmla="*/ 3813143 w 8601075"/>
              <a:gd name="connsiteY8" fmla="*/ 0 h 346093"/>
              <a:gd name="connsiteX9" fmla="*/ 4558570 w 8601075"/>
              <a:gd name="connsiteY9" fmla="*/ 0 h 346093"/>
              <a:gd name="connsiteX10" fmla="*/ 5131975 w 8601075"/>
              <a:gd name="connsiteY10" fmla="*/ 0 h 346093"/>
              <a:gd name="connsiteX11" fmla="*/ 5533358 w 8601075"/>
              <a:gd name="connsiteY11" fmla="*/ 0 h 346093"/>
              <a:gd name="connsiteX12" fmla="*/ 6192774 w 8601075"/>
              <a:gd name="connsiteY12" fmla="*/ 0 h 346093"/>
              <a:gd name="connsiteX13" fmla="*/ 6594157 w 8601075"/>
              <a:gd name="connsiteY13" fmla="*/ 0 h 346093"/>
              <a:gd name="connsiteX14" fmla="*/ 6995541 w 8601075"/>
              <a:gd name="connsiteY14" fmla="*/ 0 h 346093"/>
              <a:gd name="connsiteX15" fmla="*/ 7740967 w 8601075"/>
              <a:gd name="connsiteY15" fmla="*/ 0 h 346093"/>
              <a:gd name="connsiteX16" fmla="*/ 8601075 w 8601075"/>
              <a:gd name="connsiteY16" fmla="*/ 0 h 346093"/>
              <a:gd name="connsiteX17" fmla="*/ 8601075 w 8601075"/>
              <a:gd name="connsiteY17" fmla="*/ 346093 h 346093"/>
              <a:gd name="connsiteX18" fmla="*/ 8027670 w 8601075"/>
              <a:gd name="connsiteY18" fmla="*/ 346093 h 346093"/>
              <a:gd name="connsiteX19" fmla="*/ 7540276 w 8601075"/>
              <a:gd name="connsiteY19" fmla="*/ 346093 h 346093"/>
              <a:gd name="connsiteX20" fmla="*/ 7224903 w 8601075"/>
              <a:gd name="connsiteY20" fmla="*/ 346093 h 346093"/>
              <a:gd name="connsiteX21" fmla="*/ 6737509 w 8601075"/>
              <a:gd name="connsiteY21" fmla="*/ 346093 h 346093"/>
              <a:gd name="connsiteX22" fmla="*/ 6422136 w 8601075"/>
              <a:gd name="connsiteY22" fmla="*/ 346093 h 346093"/>
              <a:gd name="connsiteX23" fmla="*/ 6106763 w 8601075"/>
              <a:gd name="connsiteY23" fmla="*/ 346093 h 346093"/>
              <a:gd name="connsiteX24" fmla="*/ 5791391 w 8601075"/>
              <a:gd name="connsiteY24" fmla="*/ 346093 h 346093"/>
              <a:gd name="connsiteX25" fmla="*/ 5217986 w 8601075"/>
              <a:gd name="connsiteY25" fmla="*/ 346093 h 346093"/>
              <a:gd name="connsiteX26" fmla="*/ 4472559 w 8601075"/>
              <a:gd name="connsiteY26" fmla="*/ 346093 h 346093"/>
              <a:gd name="connsiteX27" fmla="*/ 4157186 w 8601075"/>
              <a:gd name="connsiteY27" fmla="*/ 346093 h 346093"/>
              <a:gd name="connsiteX28" fmla="*/ 3583781 w 8601075"/>
              <a:gd name="connsiteY28" fmla="*/ 346093 h 346093"/>
              <a:gd name="connsiteX29" fmla="*/ 2838355 w 8601075"/>
              <a:gd name="connsiteY29" fmla="*/ 346093 h 346093"/>
              <a:gd name="connsiteX30" fmla="*/ 2436971 w 8601075"/>
              <a:gd name="connsiteY30" fmla="*/ 346093 h 346093"/>
              <a:gd name="connsiteX31" fmla="*/ 2121599 w 8601075"/>
              <a:gd name="connsiteY31" fmla="*/ 346093 h 346093"/>
              <a:gd name="connsiteX32" fmla="*/ 1634204 w 8601075"/>
              <a:gd name="connsiteY32" fmla="*/ 346093 h 346093"/>
              <a:gd name="connsiteX33" fmla="*/ 974789 w 8601075"/>
              <a:gd name="connsiteY33" fmla="*/ 346093 h 346093"/>
              <a:gd name="connsiteX34" fmla="*/ 0 w 8601075"/>
              <a:gd name="connsiteY34" fmla="*/ 346093 h 346093"/>
              <a:gd name="connsiteX35" fmla="*/ 0 w 8601075"/>
              <a:gd name="connsiteY35" fmla="*/ 0 h 346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601075" h="346093" extrusionOk="0">
                <a:moveTo>
                  <a:pt x="0" y="0"/>
                </a:moveTo>
                <a:cubicBezTo>
                  <a:pt x="141396" y="-18702"/>
                  <a:pt x="237504" y="25287"/>
                  <a:pt x="315373" y="0"/>
                </a:cubicBezTo>
                <a:cubicBezTo>
                  <a:pt x="393242" y="-25287"/>
                  <a:pt x="671114" y="19766"/>
                  <a:pt x="974789" y="0"/>
                </a:cubicBezTo>
                <a:cubicBezTo>
                  <a:pt x="1278464" y="-19766"/>
                  <a:pt x="1412778" y="46679"/>
                  <a:pt x="1548194" y="0"/>
                </a:cubicBezTo>
                <a:cubicBezTo>
                  <a:pt x="1683610" y="-46679"/>
                  <a:pt x="2037756" y="44465"/>
                  <a:pt x="2293620" y="0"/>
                </a:cubicBezTo>
                <a:cubicBezTo>
                  <a:pt x="2549484" y="-44465"/>
                  <a:pt x="2522474" y="7384"/>
                  <a:pt x="2695004" y="0"/>
                </a:cubicBezTo>
                <a:cubicBezTo>
                  <a:pt x="2867534" y="-7384"/>
                  <a:pt x="2934642" y="33262"/>
                  <a:pt x="3010376" y="0"/>
                </a:cubicBezTo>
                <a:cubicBezTo>
                  <a:pt x="3086110" y="-33262"/>
                  <a:pt x="3279149" y="10422"/>
                  <a:pt x="3411760" y="0"/>
                </a:cubicBezTo>
                <a:cubicBezTo>
                  <a:pt x="3544371" y="-10422"/>
                  <a:pt x="3729325" y="21941"/>
                  <a:pt x="3813143" y="0"/>
                </a:cubicBezTo>
                <a:cubicBezTo>
                  <a:pt x="3896961" y="-21941"/>
                  <a:pt x="4377620" y="24170"/>
                  <a:pt x="4558570" y="0"/>
                </a:cubicBezTo>
                <a:cubicBezTo>
                  <a:pt x="4739520" y="-24170"/>
                  <a:pt x="4892288" y="1808"/>
                  <a:pt x="5131975" y="0"/>
                </a:cubicBezTo>
                <a:cubicBezTo>
                  <a:pt x="5371662" y="-1808"/>
                  <a:pt x="5363283" y="13257"/>
                  <a:pt x="5533358" y="0"/>
                </a:cubicBezTo>
                <a:cubicBezTo>
                  <a:pt x="5703433" y="-13257"/>
                  <a:pt x="5993618" y="46045"/>
                  <a:pt x="6192774" y="0"/>
                </a:cubicBezTo>
                <a:cubicBezTo>
                  <a:pt x="6391930" y="-46045"/>
                  <a:pt x="6453868" y="35052"/>
                  <a:pt x="6594157" y="0"/>
                </a:cubicBezTo>
                <a:cubicBezTo>
                  <a:pt x="6734446" y="-35052"/>
                  <a:pt x="6886663" y="6126"/>
                  <a:pt x="6995541" y="0"/>
                </a:cubicBezTo>
                <a:cubicBezTo>
                  <a:pt x="7104419" y="-6126"/>
                  <a:pt x="7557679" y="27827"/>
                  <a:pt x="7740967" y="0"/>
                </a:cubicBezTo>
                <a:cubicBezTo>
                  <a:pt x="7924255" y="-27827"/>
                  <a:pt x="8306001" y="74010"/>
                  <a:pt x="8601075" y="0"/>
                </a:cubicBezTo>
                <a:cubicBezTo>
                  <a:pt x="8624981" y="159227"/>
                  <a:pt x="8592910" y="258615"/>
                  <a:pt x="8601075" y="346093"/>
                </a:cubicBezTo>
                <a:cubicBezTo>
                  <a:pt x="8338855" y="411400"/>
                  <a:pt x="8312031" y="329288"/>
                  <a:pt x="8027670" y="346093"/>
                </a:cubicBezTo>
                <a:cubicBezTo>
                  <a:pt x="7743310" y="362898"/>
                  <a:pt x="7782272" y="308456"/>
                  <a:pt x="7540276" y="346093"/>
                </a:cubicBezTo>
                <a:cubicBezTo>
                  <a:pt x="7298280" y="383730"/>
                  <a:pt x="7307348" y="341225"/>
                  <a:pt x="7224903" y="346093"/>
                </a:cubicBezTo>
                <a:cubicBezTo>
                  <a:pt x="7142458" y="350961"/>
                  <a:pt x="6884207" y="329357"/>
                  <a:pt x="6737509" y="346093"/>
                </a:cubicBezTo>
                <a:cubicBezTo>
                  <a:pt x="6590811" y="362829"/>
                  <a:pt x="6553285" y="336420"/>
                  <a:pt x="6422136" y="346093"/>
                </a:cubicBezTo>
                <a:cubicBezTo>
                  <a:pt x="6290987" y="355766"/>
                  <a:pt x="6220905" y="320578"/>
                  <a:pt x="6106763" y="346093"/>
                </a:cubicBezTo>
                <a:cubicBezTo>
                  <a:pt x="5992621" y="371608"/>
                  <a:pt x="5926848" y="341527"/>
                  <a:pt x="5791391" y="346093"/>
                </a:cubicBezTo>
                <a:cubicBezTo>
                  <a:pt x="5655934" y="350659"/>
                  <a:pt x="5459350" y="322151"/>
                  <a:pt x="5217986" y="346093"/>
                </a:cubicBezTo>
                <a:cubicBezTo>
                  <a:pt x="4976622" y="370035"/>
                  <a:pt x="4753352" y="331174"/>
                  <a:pt x="4472559" y="346093"/>
                </a:cubicBezTo>
                <a:cubicBezTo>
                  <a:pt x="4191766" y="361012"/>
                  <a:pt x="4250818" y="323150"/>
                  <a:pt x="4157186" y="346093"/>
                </a:cubicBezTo>
                <a:cubicBezTo>
                  <a:pt x="4063554" y="369036"/>
                  <a:pt x="3786540" y="325947"/>
                  <a:pt x="3583781" y="346093"/>
                </a:cubicBezTo>
                <a:cubicBezTo>
                  <a:pt x="3381022" y="366239"/>
                  <a:pt x="3020507" y="283695"/>
                  <a:pt x="2838355" y="346093"/>
                </a:cubicBezTo>
                <a:cubicBezTo>
                  <a:pt x="2656203" y="408491"/>
                  <a:pt x="2555245" y="343981"/>
                  <a:pt x="2436971" y="346093"/>
                </a:cubicBezTo>
                <a:cubicBezTo>
                  <a:pt x="2318697" y="348205"/>
                  <a:pt x="2200994" y="312520"/>
                  <a:pt x="2121599" y="346093"/>
                </a:cubicBezTo>
                <a:cubicBezTo>
                  <a:pt x="2042204" y="379666"/>
                  <a:pt x="1818287" y="334836"/>
                  <a:pt x="1634204" y="346093"/>
                </a:cubicBezTo>
                <a:cubicBezTo>
                  <a:pt x="1450121" y="357350"/>
                  <a:pt x="1207341" y="297912"/>
                  <a:pt x="974789" y="346093"/>
                </a:cubicBezTo>
                <a:cubicBezTo>
                  <a:pt x="742237" y="394274"/>
                  <a:pt x="194987" y="278551"/>
                  <a:pt x="0" y="346093"/>
                </a:cubicBezTo>
                <a:cubicBezTo>
                  <a:pt x="-38112" y="233381"/>
                  <a:pt x="13016" y="120078"/>
                  <a:pt x="0" y="0"/>
                </a:cubicBezTo>
                <a:close/>
              </a:path>
            </a:pathLst>
          </a:custGeom>
          <a:noFill/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363178909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920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67555-35F4-2A11-76E4-603A10D2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CE65C-311A-1448-D353-A1F8B9874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reliability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63743-79A6-B99E-4881-1BCE52404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Critical </a:t>
            </a:r>
            <a:r>
              <a:rPr lang="nl-NL" dirty="0" err="1"/>
              <a:t>bending</a:t>
            </a:r>
            <a:r>
              <a:rPr lang="nl-NL" dirty="0"/>
              <a:t> moment = 40,000 Nm 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47421-4FB2-F977-C391-21D789382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E208F-C9F5-52B8-FA7B-D86C457C4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9D7D3-F0AC-319A-49F0-B6E45CFD6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15</a:t>
            </a:fld>
            <a:endParaRPr lang="nl-NL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34841A2-53A5-7B99-C84B-20D8D552C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674" y="2590287"/>
            <a:ext cx="5472665" cy="31347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30AEA2B-E17F-B5B6-73D0-0E60DCCD5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9640" y="2345361"/>
            <a:ext cx="4982992" cy="362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82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9D4AC-3FE1-547A-A83A-C9299A188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</a:t>
            </a:r>
            <a:r>
              <a:rPr lang="nl-NL" dirty="0" err="1"/>
              <a:t>reliability</a:t>
            </a:r>
            <a:r>
              <a:rPr lang="nl-NL" dirty="0"/>
              <a:t>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1EA2F-9F5D-CA87-7AC9-FCDA901B7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Combined</a:t>
            </a:r>
            <a:r>
              <a:rPr lang="nl-NL" dirty="0"/>
              <a:t> </a:t>
            </a:r>
            <a:r>
              <a:rPr lang="nl-NL" dirty="0" err="1"/>
              <a:t>probability</a:t>
            </a:r>
            <a:r>
              <a:rPr lang="nl-NL" dirty="0"/>
              <a:t>:</a:t>
            </a:r>
          </a:p>
          <a:p>
            <a:endParaRPr lang="nl-NL" dirty="0"/>
          </a:p>
          <a:p>
            <a:r>
              <a:rPr lang="nl-NL" dirty="0"/>
              <a:t>Critical displacement = -0.20 m, </a:t>
            </a:r>
            <a:r>
              <a:rPr lang="nl-NL" dirty="0" err="1"/>
              <a:t>critical</a:t>
            </a:r>
            <a:r>
              <a:rPr lang="nl-NL" dirty="0"/>
              <a:t> </a:t>
            </a:r>
            <a:r>
              <a:rPr lang="nl-NL" dirty="0" err="1"/>
              <a:t>bending</a:t>
            </a:r>
            <a:r>
              <a:rPr lang="nl-NL" dirty="0"/>
              <a:t> moment = 40,000 Nm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4F4E8D-3567-64AD-8298-B7965F660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A8E79-7F85-834A-2C86-2A042B3F8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99075-1544-8033-61D9-395915C6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16</a:t>
            </a:fld>
            <a:endParaRPr lang="nl-NL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09584D-0DC8-DB4C-2980-899DFD15CFAD}"/>
                  </a:ext>
                </a:extLst>
              </p:cNvPr>
              <p:cNvSpPr txBox="1"/>
              <p:nvPr/>
            </p:nvSpPr>
            <p:spPr>
              <a:xfrm>
                <a:off x="3405262" y="1721138"/>
                <a:ext cx="3704219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</m:t>
                              </m:r>
                              <m:r>
                                <a:rPr lang="nl-NL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𝑝𝑙𝑎𝑐𝑒𝑚𝑒𝑛𝑡</m:t>
                              </m:r>
                            </m:sub>
                          </m:s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&lt;0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𝑜𝑟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09584D-0DC8-DB4C-2980-899DFD15C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5262" y="1721138"/>
                <a:ext cx="3704219" cy="299569"/>
              </a:xfrm>
              <a:prstGeom prst="rect">
                <a:avLst/>
              </a:prstGeom>
              <a:blipFill>
                <a:blip r:embed="rId2"/>
                <a:stretch>
                  <a:fillRect l="-988" r="-1812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AE3442E-D2EF-CB6A-B5F0-8A54F1B79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46094278"/>
                  </p:ext>
                </p:extLst>
              </p:nvPr>
            </p:nvGraphicFramePr>
            <p:xfrm>
              <a:off x="1041400" y="3301383"/>
              <a:ext cx="10121824" cy="15340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986187">
                      <a:extLst>
                        <a:ext uri="{9D8B030D-6E8A-4147-A177-3AD203B41FA5}">
                          <a16:colId xmlns:a16="http://schemas.microsoft.com/office/drawing/2014/main" val="2781947665"/>
                        </a:ext>
                      </a:extLst>
                    </a:gridCol>
                    <a:gridCol w="3407489">
                      <a:extLst>
                        <a:ext uri="{9D8B030D-6E8A-4147-A177-3AD203B41FA5}">
                          <a16:colId xmlns:a16="http://schemas.microsoft.com/office/drawing/2014/main" val="1422021900"/>
                        </a:ext>
                      </a:extLst>
                    </a:gridCol>
                    <a:gridCol w="2728148">
                      <a:extLst>
                        <a:ext uri="{9D8B030D-6E8A-4147-A177-3AD203B41FA5}">
                          <a16:colId xmlns:a16="http://schemas.microsoft.com/office/drawing/2014/main" val="17740128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Failure </a:t>
                          </a:r>
                          <a:r>
                            <a:rPr lang="nl-NL" dirty="0" err="1"/>
                            <a:t>probability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 err="1"/>
                            <a:t>Reliability</a:t>
                          </a:r>
                          <a:r>
                            <a:rPr lang="nl-NL" dirty="0"/>
                            <a:t> 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25409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𝑑𝑖𝑠𝑝𝑙𝑎𝑐𝑒𝑚𝑒𝑛𝑡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1.99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16237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𝑏𝑒𝑛𝑑𝑖𝑛𝑔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0.047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1.67</a:t>
                          </a:r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82447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𝑑𝑖𝑠𝑝𝑙𝑎𝑐𝑒𝑚𝑒𝑛𝑡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 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𝑜𝑟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𝑏𝑒𝑛𝑑𝑖𝑛𝑔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0.069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1.48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846707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AE3442E-D2EF-CB6A-B5F0-8A54F1B79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46094278"/>
                  </p:ext>
                </p:extLst>
              </p:nvPr>
            </p:nvGraphicFramePr>
            <p:xfrm>
              <a:off x="1041400" y="3301383"/>
              <a:ext cx="10121824" cy="15340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986187">
                      <a:extLst>
                        <a:ext uri="{9D8B030D-6E8A-4147-A177-3AD203B41FA5}">
                          <a16:colId xmlns:a16="http://schemas.microsoft.com/office/drawing/2014/main" val="2781947665"/>
                        </a:ext>
                      </a:extLst>
                    </a:gridCol>
                    <a:gridCol w="3407489">
                      <a:extLst>
                        <a:ext uri="{9D8B030D-6E8A-4147-A177-3AD203B41FA5}">
                          <a16:colId xmlns:a16="http://schemas.microsoft.com/office/drawing/2014/main" val="1422021900"/>
                        </a:ext>
                      </a:extLst>
                    </a:gridCol>
                    <a:gridCol w="2728148">
                      <a:extLst>
                        <a:ext uri="{9D8B030D-6E8A-4147-A177-3AD203B41FA5}">
                          <a16:colId xmlns:a16="http://schemas.microsoft.com/office/drawing/2014/main" val="17740128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Failure </a:t>
                          </a:r>
                          <a:r>
                            <a:rPr lang="nl-NL" dirty="0" err="1"/>
                            <a:t>probability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 err="1"/>
                            <a:t>Reliability</a:t>
                          </a:r>
                          <a:r>
                            <a:rPr lang="nl-NL" dirty="0"/>
                            <a:t> 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2540976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53" t="-103125" r="-154351" b="-2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1.99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1623711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53" t="-203125" r="-154351" b="-1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0.047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1.67</a:t>
                          </a:r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8244781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53" t="-303125" r="-154351" b="-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0.069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1.48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846707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2445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8F79D-344B-5447-2044-1D5C6438F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: proven </a:t>
            </a:r>
            <a:r>
              <a:rPr lang="nl-NL" dirty="0" err="1"/>
              <a:t>strength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0643A-F3D7-D819-D1EB-C8890A2B9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2592CE-DAAD-0E31-9A78-FCBF42E3A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D03A9-59B2-1C29-EAAE-9673010D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0768-68FD-5808-E6DC-FBD766258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353685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964CC-5AEA-357F-FA8A-67BD41ECF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Join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workshop at 15:00 </a:t>
            </a:r>
            <a:r>
              <a:rPr lang="nl-NL" dirty="0" err="1"/>
              <a:t>o’clock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025C5-E00C-8F6E-E0CD-5FA237B89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Learn</a:t>
            </a:r>
            <a:r>
              <a:rPr lang="nl-NL" dirty="0"/>
              <a:t>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use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library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Python</a:t>
            </a:r>
          </a:p>
          <a:p>
            <a:endParaRPr lang="nl-NL" dirty="0"/>
          </a:p>
          <a:p>
            <a:r>
              <a:rPr lang="nl-NL" dirty="0" err="1"/>
              <a:t>Learn</a:t>
            </a:r>
            <a:r>
              <a:rPr lang="nl-NL" dirty="0"/>
              <a:t> </a:t>
            </a:r>
            <a:r>
              <a:rPr lang="nl-NL" dirty="0" err="1"/>
              <a:t>about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details of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calculations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Kratos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027C9-2D11-1D7C-8086-D3D0329B7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114149-D769-B831-C838-8D04E4E01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9236BF-7CE7-3A2C-D6BD-E3C83F267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18110497"/>
      </p:ext>
    </p:extLst>
  </p:cSld>
  <p:clrMapOvr>
    <a:masterClrMapping/>
  </p:clrMapOvr>
</p:sld>
</file>

<file path=ppt/theme/theme1.xml><?xml version="1.0" encoding="utf-8"?>
<a:theme xmlns:a="http://schemas.openxmlformats.org/drawingml/2006/main" name="Deltares">
  <a:themeElements>
    <a:clrScheme name="Deltares">
      <a:dk1>
        <a:sysClr val="windowText" lastClr="000000"/>
      </a:dk1>
      <a:lt1>
        <a:sysClr val="window" lastClr="FFFFFF"/>
      </a:lt1>
      <a:dk2>
        <a:srgbClr val="080C80"/>
      </a:dk2>
      <a:lt2>
        <a:srgbClr val="F2F2F2"/>
      </a:lt2>
      <a:accent1>
        <a:srgbClr val="080C80"/>
      </a:accent1>
      <a:accent2>
        <a:srgbClr val="0D38E0"/>
      </a:accent2>
      <a:accent3>
        <a:srgbClr val="0EBBF0"/>
      </a:accent3>
      <a:accent4>
        <a:srgbClr val="00B389"/>
      </a:accent4>
      <a:accent5>
        <a:srgbClr val="00CC96"/>
      </a:accent5>
      <a:accent6>
        <a:srgbClr val="00E6A1"/>
      </a:accent6>
      <a:hlink>
        <a:srgbClr val="0D38E0"/>
      </a:hlink>
      <a:folHlink>
        <a:srgbClr val="70707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ltares - Sjabloon NL.potx" id="{B5042D55-6068-4240-A1FC-01315EC513B9}" vid="{8C6F3C8F-138B-4215-B743-53866FE2FE19}"/>
    </a:ext>
  </a:extLst>
</a:theme>
</file>

<file path=ppt/theme/theme2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B31082E7F932F4895FF772473B30116" ma:contentTypeVersion="11" ma:contentTypeDescription="Create a new document." ma:contentTypeScope="" ma:versionID="c30b5a7ebc79a8ae4b5672261524501a">
  <xsd:schema xmlns:xsd="http://www.w3.org/2001/XMLSchema" xmlns:xs="http://www.w3.org/2001/XMLSchema" xmlns:p="http://schemas.microsoft.com/office/2006/metadata/properties" xmlns:ns2="edd774d5-6d8f-4b83-b098-255576e86aac" xmlns:ns3="dead17b3-d09a-4d17-9633-982b423f4fbc" targetNamespace="http://schemas.microsoft.com/office/2006/metadata/properties" ma:root="true" ma:fieldsID="d0c78e411dc013314e83d6c65decba18" ns2:_="" ns3:_="">
    <xsd:import namespace="edd774d5-6d8f-4b83-b098-255576e86aac"/>
    <xsd:import namespace="dead17b3-d09a-4d17-9633-982b423f4f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d774d5-6d8f-4b83-b098-255576e86a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617baf08-8363-4953-80fd-ae870aee1c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ad17b3-d09a-4d17-9633-982b423f4fbc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4005174-1b38-469c-8ebf-12a293d8c4c9}" ma:internalName="TaxCatchAll" ma:showField="CatchAllData" ma:web="dead17b3-d09a-4d17-9633-982b423f4f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ead17b3-d09a-4d17-9633-982b423f4fbc" xsi:nil="true"/>
    <lcf76f155ced4ddcb4097134ff3c332f xmlns="edd774d5-6d8f-4b83-b098-255576e86aa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7B44D4F2-36BF-49E2-8330-5C01CEA3FA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d774d5-6d8f-4b83-b098-255576e86aac"/>
    <ds:schemaRef ds:uri="dead17b3-d09a-4d17-9633-982b423f4f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636F5E9-25BB-4734-86C2-FD32BCBA5CB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4338BAD-8BA4-4C42-A850-147A5D210631}">
  <ds:schemaRefs>
    <ds:schemaRef ds:uri="http://schemas.microsoft.com/office/2006/metadata/properties"/>
    <ds:schemaRef ds:uri="http://schemas.microsoft.com/office/infopath/2007/PartnerControls"/>
    <ds:schemaRef ds:uri="dead17b3-d09a-4d17-9633-982b423f4fbc"/>
    <ds:schemaRef ds:uri="edd774d5-6d8f-4b83-b098-255576e86aa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Deltares - Sjabloon NL</Template>
  <TotalTime>981</TotalTime>
  <Words>883</Words>
  <Application>Microsoft Office PowerPoint</Application>
  <PresentationFormat>Widescreen</PresentationFormat>
  <Paragraphs>225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Cambria Math</vt:lpstr>
      <vt:lpstr>Deltares</vt:lpstr>
      <vt:lpstr>Sheet pile</vt:lpstr>
      <vt:lpstr>Overview</vt:lpstr>
      <vt:lpstr>Probabilistic library</vt:lpstr>
      <vt:lpstr>Kratos</vt:lpstr>
      <vt:lpstr>Sheet pile model</vt:lpstr>
      <vt:lpstr>Sheet pile model</vt:lpstr>
      <vt:lpstr>Probabilistic calculations: variables</vt:lpstr>
      <vt:lpstr>Probabilistic calculations: uncertainty analysis</vt:lpstr>
      <vt:lpstr>Probabilistic calculations: uncertainty analysis</vt:lpstr>
      <vt:lpstr>Probabilistic calculations: reliability analysis</vt:lpstr>
      <vt:lpstr>Probabilistic calculations: reliability analysis</vt:lpstr>
      <vt:lpstr>Probabilistic calculations: reliability analysis</vt:lpstr>
      <vt:lpstr>Probabilistic calculations: reliability analysis</vt:lpstr>
      <vt:lpstr>Probabilistic calculations: reliability analysis</vt:lpstr>
      <vt:lpstr>Probabilistic calculations: reliability analysis</vt:lpstr>
      <vt:lpstr>Probabilistic calculations: reliability analysis</vt:lpstr>
      <vt:lpstr>Probabilistic calculations: proven strength</vt:lpstr>
      <vt:lpstr>Join the workshop at 15:00 o’clock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Karolina Wojciechowska</dc:creator>
  <dc:description>Template implementation by HQ Solutions B.V.</dc:description>
  <cp:lastModifiedBy>Karolina Wojciechowska</cp:lastModifiedBy>
  <cp:revision>17</cp:revision>
  <dcterms:created xsi:type="dcterms:W3CDTF">2025-06-05T04:42:54Z</dcterms:created>
  <dcterms:modified xsi:type="dcterms:W3CDTF">2025-06-16T13:53:53Z</dcterms:modified>
  <cp:version>1.0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0x0101000B31082E7F932F4895FF772473B30116</vt:lpwstr>
  </property>
  <property fmtid="{D5CDD505-2E9C-101B-9397-08002B2CF9AE}" pid="3" name="TaxKeyword">
    <vt:lpwstr/>
  </property>
</Properties>
</file>