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60" r:id="rId5"/>
    <p:sldId id="263" r:id="rId6"/>
    <p:sldId id="305" r:id="rId7"/>
    <p:sldId id="287" r:id="rId8"/>
    <p:sldId id="286" r:id="rId9"/>
    <p:sldId id="289" r:id="rId10"/>
    <p:sldId id="261" r:id="rId11"/>
    <p:sldId id="291" r:id="rId12"/>
    <p:sldId id="293" r:id="rId13"/>
    <p:sldId id="294" r:id="rId14"/>
    <p:sldId id="296" r:id="rId15"/>
    <p:sldId id="295" r:id="rId16"/>
    <p:sldId id="297" r:id="rId17"/>
    <p:sldId id="298" r:id="rId18"/>
    <p:sldId id="304" r:id="rId19"/>
    <p:sldId id="300" r:id="rId20"/>
    <p:sldId id="306" r:id="rId21"/>
    <p:sldId id="307" r:id="rId22"/>
    <p:sldId id="308" r:id="rId23"/>
    <p:sldId id="299" r:id="rId24"/>
    <p:sldId id="302" r:id="rId25"/>
    <p:sldId id="303" r:id="rId2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8E0"/>
    <a:srgbClr val="E6E6E6"/>
    <a:srgbClr val="FFFFFF"/>
    <a:srgbClr val="C0C0C0"/>
    <a:srgbClr val="707070"/>
    <a:srgbClr val="00B389"/>
    <a:srgbClr val="F1F3FD"/>
    <a:srgbClr val="080C80"/>
    <a:srgbClr val="0EA2ED"/>
    <a:srgbClr val="00D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93" autoAdjust="0"/>
    <p:restoredTop sz="94712" autoAdjust="0"/>
  </p:normalViewPr>
  <p:slideViewPr>
    <p:cSldViewPr snapToGrid="0" showGuides="1">
      <p:cViewPr varScale="1">
        <p:scale>
          <a:sx n="108" d="100"/>
          <a:sy n="108" d="100"/>
        </p:scale>
        <p:origin x="10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B07A4AF-8444-4E55-9211-06750DF868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9487" y="8229664"/>
            <a:ext cx="588963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9B6C5B75-63DC-4795-B872-D188C0279E99}" type="slidenum">
              <a:rPr lang="nl-NL" sz="1000" smtClean="0"/>
              <a:pPr/>
              <a:t>‹#›</a:t>
            </a:fld>
            <a:endParaRPr lang="nl-NL" sz="10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086CC55-5F13-427E-8D55-23A3E11C4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12" y="8635837"/>
            <a:ext cx="1080000" cy="3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349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6172200" y="8685213"/>
            <a:ext cx="438150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/>
            </a:lvl1pPr>
          </a:lstStyle>
          <a:p>
            <a:fld id="{309F7339-69D5-4EA7-B93A-8AF4EDB56B8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EB29D91-C68B-40E2-ACA8-22AC17FBF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2" y="8592970"/>
            <a:ext cx="1080000" cy="351000"/>
          </a:xfrm>
          <a:prstGeom prst="rect">
            <a:avLst/>
          </a:prstGeom>
        </p:spPr>
      </p:pic>
      <p:sp>
        <p:nvSpPr>
          <p:cNvPr id="9" name="Tijdelijke aanduiding voor notities 8">
            <a:extLst>
              <a:ext uri="{FF2B5EF4-FFF2-40B4-BE49-F238E27FC236}">
                <a16:creationId xmlns:a16="http://schemas.microsoft.com/office/drawing/2014/main" id="{A3C8BF89-5841-4101-9B55-9A1ADF2AA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379500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0772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DeltaresNL/" TargetMode="External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hyperlink" Target="mailto:info@deltares.nl" TargetMode="External"/><Relationship Id="rId21" Type="http://schemas.openxmlformats.org/officeDocument/2006/relationships/image" Target="../media/image19.svg"/><Relationship Id="rId7" Type="http://schemas.openxmlformats.org/officeDocument/2006/relationships/hyperlink" Target="https://www.instagram.com/deltares/" TargetMode="External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6.jp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deltares.nl/" TargetMode="External"/><Relationship Id="rId11" Type="http://schemas.openxmlformats.org/officeDocument/2006/relationships/image" Target="../media/image9.svg"/><Relationship Id="rId5" Type="http://schemas.openxmlformats.org/officeDocument/2006/relationships/hyperlink" Target="https://www.linkedin.com/company/deltares" TargetMode="External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hyperlink" Target="https://twitter.com/deltares/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3.svg"/><Relationship Id="rId12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9.svg"/><Relationship Id="rId5" Type="http://schemas.openxmlformats.org/officeDocument/2006/relationships/image" Target="../media/image9.svg"/><Relationship Id="rId1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svg"/><Relationship Id="rId1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532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6860" y="5295900"/>
            <a:ext cx="600222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861" y="3854640"/>
            <a:ext cx="600222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22938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258" y="1766078"/>
            <a:ext cx="6006145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604582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057708-D1C8-4296-B46B-067A31C01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13580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Titeldia met vierkan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85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80256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Gro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54C307C-D04D-4709-9FD4-571150894DD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19398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Blau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FE604B20-D198-4E8C-9B1F-0066D909E5D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73923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EC7CA-9C23-4C8C-8E52-48827CB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B16DB44-A35C-4555-8271-1BC45D5E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8298A93-251E-4C71-ACF3-6A138886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E74A889B-77F6-4552-B217-7A2CA16B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EBD329-956B-407B-9AD6-0D41AC6CB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1" y="1762124"/>
            <a:ext cx="10517112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ijdelijke aanduiding voor afbeelding 13">
            <a:extLst>
              <a:ext uri="{FF2B5EF4-FFF2-40B4-BE49-F238E27FC236}">
                <a16:creationId xmlns:a16="http://schemas.microsoft.com/office/drawing/2014/main" id="{29C6F091-D152-418D-B9F8-A87580FF62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358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afbeelding 13">
            <a:extLst>
              <a:ext uri="{FF2B5EF4-FFF2-40B4-BE49-F238E27FC236}">
                <a16:creationId xmlns:a16="http://schemas.microsoft.com/office/drawing/2014/main" id="{60BE643B-1ED0-4C44-A1BD-69154E5788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3876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2" name="Tijdelijke aanduiding voor afbeelding 13">
            <a:extLst>
              <a:ext uri="{FF2B5EF4-FFF2-40B4-BE49-F238E27FC236}">
                <a16:creationId xmlns:a16="http://schemas.microsoft.com/office/drawing/2014/main" id="{A065EEC8-0E39-4605-AE1D-D95CBC9048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14164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13">
            <a:extLst>
              <a:ext uri="{FF2B5EF4-FFF2-40B4-BE49-F238E27FC236}">
                <a16:creationId xmlns:a16="http://schemas.microsoft.com/office/drawing/2014/main" id="{48162130-D103-42A6-B07E-E8EF059018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54452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7250C887-952A-4DC1-8215-8DFA36C6ED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4740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13">
            <a:extLst>
              <a:ext uri="{FF2B5EF4-FFF2-40B4-BE49-F238E27FC236}">
                <a16:creationId xmlns:a16="http://schemas.microsoft.com/office/drawing/2014/main" id="{B0075813-47FE-4243-A0DB-86635BED62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502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13">
            <a:extLst>
              <a:ext uri="{FF2B5EF4-FFF2-40B4-BE49-F238E27FC236}">
                <a16:creationId xmlns:a16="http://schemas.microsoft.com/office/drawing/2014/main" id="{B8D44326-7D12-4338-99E1-2E879D21A2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5317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4828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2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BD4A7-30E2-4E78-B4FA-A8B2C41A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89361EE-4435-4145-8E9D-4F0A53E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DFBB55-F053-4FC0-8FD6-FD27BC5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220EB44-40D1-4CAF-8FFD-29202A0A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564A6160-4B2C-4199-AB7C-023FEDE195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5650" y="1768763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8" name="Tijdelijke aanduiding voor inhoud 6">
            <a:extLst>
              <a:ext uri="{FF2B5EF4-FFF2-40B4-BE49-F238E27FC236}">
                <a16:creationId xmlns:a16="http://schemas.microsoft.com/office/drawing/2014/main" id="{A7315F35-EA75-4506-B955-CB617ACBDB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1825" y="1770636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359406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 met 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360240-711C-40DC-B819-28D5F76EA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2125"/>
            <a:ext cx="5065347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485B8C4-FFE1-4941-89E1-E5B658D7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650" y="2556001"/>
            <a:ext cx="5065347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D244503-4D19-475F-8DE3-680EA8CDC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997" y="1762125"/>
            <a:ext cx="5087002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D37810D-DEFA-432E-B30A-7F13B7EF0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997" y="2556001"/>
            <a:ext cx="5087002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D5B83A0-F52F-4A50-A779-6FBDEC06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0DF3265-27D0-49AD-8963-A3EC3CB2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32C89B3-2645-49EA-AE6E-C0189B3A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CFFACB9-41BE-4C1C-8FD9-C059001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474446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77C9B-D616-43D5-9E9C-399615DA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97891F0-8DCB-4D52-8695-2AD66508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B044C9F-B1E5-43F8-ABA5-F8A0AF3B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14021C5-B1DD-464A-832F-A03BCAB5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62055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076175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5"/>
            <a:ext cx="5076175" cy="4322762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481776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4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724001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B5530F62-171F-4B44-ACAA-AC786B92F2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1825" y="5724000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51189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61FC5BFF-809B-4D7D-AC0F-5D7B92535F0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455737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F51408D9-846A-496F-B660-9763E7E9FC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55911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B1122521-F62D-48C8-B637-D4F27028964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55824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650134BB-B103-4668-BCD7-561087B391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55737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545B6CBB-4649-4D2E-B29A-C3F6E02090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5824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9D1568BF-DD59-4BEE-A218-1B34F1C6B3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55911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450455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1768763"/>
            <a:ext cx="10512348" cy="4320000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6227857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olle breed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1743163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tekst 61">
            <a:extLst>
              <a:ext uri="{FF2B5EF4-FFF2-40B4-BE49-F238E27FC236}">
                <a16:creationId xmlns:a16="http://schemas.microsoft.com/office/drawing/2014/main" id="{CAD4495B-AA1A-4F62-8627-356151635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752" y="6267443"/>
            <a:ext cx="1188000" cy="3852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53263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str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7382169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70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40700" y="857"/>
            <a:ext cx="3599932" cy="6857143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245374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sta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5340000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2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857"/>
            <a:ext cx="5644632" cy="6857143"/>
          </a:xfrm>
          <a:solidFill>
            <a:schemeClr val="bg1">
              <a:lumMod val="85000"/>
            </a:schemeClr>
          </a:solidFill>
        </p:spPr>
        <p:txBody>
          <a:bodyPr tIns="378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74022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of logo overz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F2D50-CADF-4163-A029-8B9A0424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10512000" cy="46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60EC3D4-D14B-4BCD-BF52-05BE98A9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36323C5-92AF-4A0E-82DF-F4AB426B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FFE8BBA-2E99-4D96-8F25-2A98D03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65">
            <a:extLst>
              <a:ext uri="{FF2B5EF4-FFF2-40B4-BE49-F238E27FC236}">
                <a16:creationId xmlns:a16="http://schemas.microsoft.com/office/drawing/2014/main" id="{2AF1D927-9FAE-49C1-9BD6-F1C4F8D7594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afbeelding 65">
            <a:extLst>
              <a:ext uri="{FF2B5EF4-FFF2-40B4-BE49-F238E27FC236}">
                <a16:creationId xmlns:a16="http://schemas.microsoft.com/office/drawing/2014/main" id="{733ADF27-84E5-4C77-A414-7F0E4DA3DA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6724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1C857FC7-6D65-4C72-9D0F-581A48D0715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57799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B765388F-978F-43F5-923F-85D826894A4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08875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A87D663-B54E-4A21-A00C-0BD3BFB4647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599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3" name="Tijdelijke aanduiding voor afbeelding 65">
            <a:extLst>
              <a:ext uri="{FF2B5EF4-FFF2-40B4-BE49-F238E27FC236}">
                <a16:creationId xmlns:a16="http://schemas.microsoft.com/office/drawing/2014/main" id="{56FDE74E-0F50-4155-BEEC-2850FDC97DB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556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D71C804D-3C0F-41A5-8373-6A3A8168C95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06724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0C3E9BDF-7ACE-40C6-8AC1-CCDE842E1F3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57799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4E753E60-0CC4-4D5F-9F09-D1EB7F5C1B6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208875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afbeelding 65">
            <a:extLst>
              <a:ext uri="{FF2B5EF4-FFF2-40B4-BE49-F238E27FC236}">
                <a16:creationId xmlns:a16="http://schemas.microsoft.com/office/drawing/2014/main" id="{3CA6A3D3-992C-4A44-ACE1-E437BA7329B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599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8" name="Tijdelijke aanduiding voor afbeelding 65">
            <a:extLst>
              <a:ext uri="{FF2B5EF4-FFF2-40B4-BE49-F238E27FC236}">
                <a16:creationId xmlns:a16="http://schemas.microsoft.com/office/drawing/2014/main" id="{92F6A7FF-822A-4C63-8F78-1CCC66B869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56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9" name="Tijdelijke aanduiding voor afbeelding 65">
            <a:extLst>
              <a:ext uri="{FF2B5EF4-FFF2-40B4-BE49-F238E27FC236}">
                <a16:creationId xmlns:a16="http://schemas.microsoft.com/office/drawing/2014/main" id="{9E6C6AC3-C163-4C9D-AC60-05BBCCF9147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06724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0" name="Tijdelijke aanduiding voor afbeelding 65">
            <a:extLst>
              <a:ext uri="{FF2B5EF4-FFF2-40B4-BE49-F238E27FC236}">
                <a16:creationId xmlns:a16="http://schemas.microsoft.com/office/drawing/2014/main" id="{3168A12F-BFBE-4360-98BA-A467C3F113E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057799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1" name="Tijdelijke aanduiding voor afbeelding 65">
            <a:extLst>
              <a:ext uri="{FF2B5EF4-FFF2-40B4-BE49-F238E27FC236}">
                <a16:creationId xmlns:a16="http://schemas.microsoft.com/office/drawing/2014/main" id="{27717DEB-1276-417F-A482-0C7E87407CF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08875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2" name="Tijdelijke aanduiding voor afbeelding 65">
            <a:extLst>
              <a:ext uri="{FF2B5EF4-FFF2-40B4-BE49-F238E27FC236}">
                <a16:creationId xmlns:a16="http://schemas.microsoft.com/office/drawing/2014/main" id="{DC804FE7-5194-45B7-9F11-66B83C126F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599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3" name="Tijdelijke aanduiding voor afbeelding 65">
            <a:extLst>
              <a:ext uri="{FF2B5EF4-FFF2-40B4-BE49-F238E27FC236}">
                <a16:creationId xmlns:a16="http://schemas.microsoft.com/office/drawing/2014/main" id="{13BF1A4D-0004-47F5-BD22-5574315802E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556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4" name="Tijdelijke aanduiding voor afbeelding 65">
            <a:extLst>
              <a:ext uri="{FF2B5EF4-FFF2-40B4-BE49-F238E27FC236}">
                <a16:creationId xmlns:a16="http://schemas.microsoft.com/office/drawing/2014/main" id="{40E7FE1B-81AA-4D57-A470-4914C5DE25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06724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5" name="Tijdelijke aanduiding voor afbeelding 65">
            <a:extLst>
              <a:ext uri="{FF2B5EF4-FFF2-40B4-BE49-F238E27FC236}">
                <a16:creationId xmlns:a16="http://schemas.microsoft.com/office/drawing/2014/main" id="{D4810DC4-4E2F-4B0D-88EA-49713EC28B6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57799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6" name="Tijdelijke aanduiding voor afbeelding 65">
            <a:extLst>
              <a:ext uri="{FF2B5EF4-FFF2-40B4-BE49-F238E27FC236}">
                <a16:creationId xmlns:a16="http://schemas.microsoft.com/office/drawing/2014/main" id="{C38C4235-7F22-4988-B598-0D97819CFE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208875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7" name="Tijdelijke aanduiding voor afbeelding 65">
            <a:extLst>
              <a:ext uri="{FF2B5EF4-FFF2-40B4-BE49-F238E27FC236}">
                <a16:creationId xmlns:a16="http://schemas.microsoft.com/office/drawing/2014/main" id="{F9CC71FE-8D91-41AA-BD80-0A48C4E294A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599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9775882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met bol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256FF6D-B760-43BA-B16F-E3D5015A3F29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53" y="447038"/>
            <a:ext cx="5497409" cy="594360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2711AF3-2B55-481E-9ED2-5ACC1009CDA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439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4876A113-1D30-4087-9D42-E90369759F0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132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1E34DD4-0E1C-4461-98C5-DDEC9922F5D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670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449E03-26AF-49A4-81EB-7C9E0730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1195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blau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tx2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2BE7A57-D121-4714-8A53-2C2146121931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820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6C7F7593-F4BA-42C6-A380-DDE2C8EFDE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513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DDBCD6E0-B215-4817-9034-DD97790855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5051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17776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accent4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924D0FF-5EBE-4860-837B-BFB572136BD6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54CB1E06-8FF5-435E-8680-1F32B34785F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2A789FDD-DFC0-4340-8081-AD0F03E80E4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792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5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2035359" y="1513268"/>
            <a:ext cx="8128800" cy="4572000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5BDAF44-690D-4351-8FD6-C1E9BED26CF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9915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3674169-AF61-4435-A283-A72FDC76F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608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37B8B9B-1532-42C6-9518-5A4FFA46DA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146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70105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hele di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-582255"/>
            <a:ext cx="10517113" cy="504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-381"/>
            <a:ext cx="12192000" cy="6857325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44074A4-CF50-4C78-B45A-809AAE1C0D8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2ABB8A6-5903-42F4-80B8-B80E7DE199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1603FA5-FFD5-4564-BBCA-638420254F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011587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34A854-1FA0-4B51-9A92-125BD510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60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B3C54020-6274-482D-BF87-6C38C2F9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74C2B89-1B52-4DA9-B304-A626BCE8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A8AA3559-A58B-438D-A544-F79B7A9C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6020416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rond el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_wi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8" name="Ovaal 7">
            <a:extLst>
              <a:ext uri="{FF2B5EF4-FFF2-40B4-BE49-F238E27FC236}">
                <a16:creationId xmlns:a16="http://schemas.microsoft.com/office/drawing/2014/main" id="{EA007BEC-B68F-4D17-A66D-5C87F079B473}"/>
              </a:ext>
            </a:extLst>
          </p:cNvPr>
          <p:cNvSpPr>
            <a:spLocks noChangeAspect="1"/>
          </p:cNvSpPr>
          <p:nvPr userDrawn="1"/>
        </p:nvSpPr>
        <p:spPr>
          <a:xfrm>
            <a:off x="465064" y="455811"/>
            <a:ext cx="5943600" cy="594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8" name="Enabling_deltalife_wit">
            <a:extLst>
              <a:ext uri="{FF2B5EF4-FFF2-40B4-BE49-F238E27FC236}">
                <a16:creationId xmlns:a16="http://schemas.microsoft.com/office/drawing/2014/main" id="{CC1AB181-2C98-49C8-B934-9DA01A7107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2554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026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Enabling_deltalife_wit">
            <a:extLst>
              <a:ext uri="{FF2B5EF4-FFF2-40B4-BE49-F238E27FC236}">
                <a16:creationId xmlns:a16="http://schemas.microsoft.com/office/drawing/2014/main" id="{A4EF4C13-16AE-4FBA-9B9D-2EEA812DFA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8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(met animati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le Blue">
            <a:extLst>
              <a:ext uri="{FF2B5EF4-FFF2-40B4-BE49-F238E27FC236}">
                <a16:creationId xmlns:a16="http://schemas.microsoft.com/office/drawing/2014/main" id="{E67129F5-F9B1-464C-B563-6456865CCFF2}"/>
              </a:ext>
            </a:extLst>
          </p:cNvPr>
          <p:cNvSpPr>
            <a:spLocks noChangeAspect="1"/>
          </p:cNvSpPr>
          <p:nvPr userDrawn="1"/>
        </p:nvSpPr>
        <p:spPr>
          <a:xfrm>
            <a:off x="4384800" y="1580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Circle Green">
            <a:extLst>
              <a:ext uri="{FF2B5EF4-FFF2-40B4-BE49-F238E27FC236}">
                <a16:creationId xmlns:a16="http://schemas.microsoft.com/office/drawing/2014/main" id="{9D1A10F2-6EA4-4646-94AB-D1971B8790AC}"/>
              </a:ext>
            </a:extLst>
          </p:cNvPr>
          <p:cNvSpPr>
            <a:spLocks noChangeAspect="1"/>
          </p:cNvSpPr>
          <p:nvPr userDrawn="1"/>
        </p:nvSpPr>
        <p:spPr>
          <a:xfrm>
            <a:off x="4240800" y="1796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E1DF8627-4105-4921-8328-8A3BE55CDA89}"/>
              </a:ext>
            </a:extLst>
          </p:cNvPr>
          <p:cNvSpPr/>
          <p:nvPr userDrawn="1"/>
        </p:nvSpPr>
        <p:spPr>
          <a:xfrm>
            <a:off x="3123210" y="985652"/>
            <a:ext cx="7030193" cy="4773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Enabling_deltalife_wit">
            <a:extLst>
              <a:ext uri="{FF2B5EF4-FFF2-40B4-BE49-F238E27FC236}">
                <a16:creationId xmlns:a16="http://schemas.microsoft.com/office/drawing/2014/main" id="{F6979AE7-8CDB-45F8-88A4-AC18A1F0E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7.40741E-7 L -0.0332 0.0604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300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2.22222E-6 L 0.04115 -0.0747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-375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3" animBg="1"/>
      <p:bldP spid="10" grpId="0" animBg="1"/>
      <p:bldP spid="10" grpId="1" animBg="1"/>
      <p:bldP spid="10" grpId="3" animBg="1"/>
      <p:bldP spid="3" grpId="0" animBg="1"/>
      <p:bldP spid="12" grpId="0" animBg="1"/>
    </p:bldLst>
  </p:timing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9" name="Tekstvak 28">
            <a:hlinkClick r:id="rId3"/>
            <a:extLst>
              <a:ext uri="{FF2B5EF4-FFF2-40B4-BE49-F238E27FC236}">
                <a16:creationId xmlns:a16="http://schemas.microsoft.com/office/drawing/2014/main" id="{C731B5EA-6866-4EBE-8138-DEC893F2E2E3}"/>
              </a:ext>
            </a:extLst>
          </p:cNvPr>
          <p:cNvSpPr txBox="1"/>
          <p:nvPr userDrawn="1"/>
        </p:nvSpPr>
        <p:spPr>
          <a:xfrm>
            <a:off x="1260000" y="2267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info@deltares.nl</a:t>
            </a:r>
          </a:p>
        </p:txBody>
      </p:sp>
      <p:sp>
        <p:nvSpPr>
          <p:cNvPr id="30" name="Tekstvak 29">
            <a:hlinkClick r:id="rId4"/>
            <a:extLst>
              <a:ext uri="{FF2B5EF4-FFF2-40B4-BE49-F238E27FC236}">
                <a16:creationId xmlns:a16="http://schemas.microsoft.com/office/drawing/2014/main" id="{B2A41075-9E8D-4E25-B2BA-1D1DD506088A}"/>
              </a:ext>
            </a:extLst>
          </p:cNvPr>
          <p:cNvSpPr txBox="1"/>
          <p:nvPr userDrawn="1"/>
        </p:nvSpPr>
        <p:spPr>
          <a:xfrm>
            <a:off x="4212000" y="1763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1" name="Tekstvak 30">
            <a:hlinkClick r:id="rId5"/>
            <a:extLst>
              <a:ext uri="{FF2B5EF4-FFF2-40B4-BE49-F238E27FC236}">
                <a16:creationId xmlns:a16="http://schemas.microsoft.com/office/drawing/2014/main" id="{58C063EF-2783-4DB8-8B62-49C28C8695C5}"/>
              </a:ext>
            </a:extLst>
          </p:cNvPr>
          <p:cNvSpPr txBox="1"/>
          <p:nvPr userDrawn="1"/>
        </p:nvSpPr>
        <p:spPr>
          <a:xfrm>
            <a:off x="6912000" y="1763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linkedin.com/company/deltares</a:t>
            </a:r>
          </a:p>
        </p:txBody>
      </p:sp>
      <p:sp>
        <p:nvSpPr>
          <p:cNvPr id="32" name="Tekstvak 31">
            <a:hlinkClick r:id="rId6"/>
            <a:extLst>
              <a:ext uri="{FF2B5EF4-FFF2-40B4-BE49-F238E27FC236}">
                <a16:creationId xmlns:a16="http://schemas.microsoft.com/office/drawing/2014/main" id="{5F163D96-77E3-420C-8665-5CE311574B20}"/>
              </a:ext>
            </a:extLst>
          </p:cNvPr>
          <p:cNvSpPr txBox="1"/>
          <p:nvPr userDrawn="1"/>
        </p:nvSpPr>
        <p:spPr>
          <a:xfrm>
            <a:off x="1260000" y="1763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www.deltares.nl</a:t>
            </a:r>
          </a:p>
        </p:txBody>
      </p:sp>
      <p:sp>
        <p:nvSpPr>
          <p:cNvPr id="33" name="Tekstvak 32">
            <a:hlinkClick r:id="rId7"/>
            <a:extLst>
              <a:ext uri="{FF2B5EF4-FFF2-40B4-BE49-F238E27FC236}">
                <a16:creationId xmlns:a16="http://schemas.microsoft.com/office/drawing/2014/main" id="{3B4E325A-D4A5-415E-A8C3-FF4A98631369}"/>
              </a:ext>
            </a:extLst>
          </p:cNvPr>
          <p:cNvSpPr txBox="1"/>
          <p:nvPr userDrawn="1"/>
        </p:nvSpPr>
        <p:spPr>
          <a:xfrm>
            <a:off x="4212000" y="2267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4" name="Tekstvak 33">
            <a:hlinkClick r:id="rId8"/>
            <a:extLst>
              <a:ext uri="{FF2B5EF4-FFF2-40B4-BE49-F238E27FC236}">
                <a16:creationId xmlns:a16="http://schemas.microsoft.com/office/drawing/2014/main" id="{052934D0-6B1B-4AB9-8002-224050C7A1A1}"/>
              </a:ext>
            </a:extLst>
          </p:cNvPr>
          <p:cNvSpPr txBox="1"/>
          <p:nvPr userDrawn="1"/>
        </p:nvSpPr>
        <p:spPr>
          <a:xfrm>
            <a:off x="6912000" y="2267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facebook.com/deltaresNL</a:t>
            </a:r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0D7005BD-5B17-436C-95BF-D53FCBDA05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000" y="1764000"/>
            <a:ext cx="306000" cy="306000"/>
          </a:xfrm>
          <a:prstGeom prst="rect">
            <a:avLst/>
          </a:prstGeom>
        </p:spPr>
      </p:pic>
      <p:pic>
        <p:nvPicPr>
          <p:cNvPr id="9" name="Graphic 8">
            <a:hlinkClick r:id="rId5"/>
            <a:extLst>
              <a:ext uri="{FF2B5EF4-FFF2-40B4-BE49-F238E27FC236}">
                <a16:creationId xmlns:a16="http://schemas.microsoft.com/office/drawing/2014/main" id="{48ED5D6E-BB00-4DF8-8A4A-B64CCA3200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8000" y="1764000"/>
            <a:ext cx="306000" cy="306000"/>
          </a:xfrm>
          <a:prstGeom prst="rect">
            <a:avLst/>
          </a:prstGeom>
        </p:spPr>
      </p:pic>
      <p:pic>
        <p:nvPicPr>
          <p:cNvPr id="12" name="Graphic 11">
            <a:hlinkClick r:id="rId3"/>
            <a:extLst>
              <a:ext uri="{FF2B5EF4-FFF2-40B4-BE49-F238E27FC236}">
                <a16:creationId xmlns:a16="http://schemas.microsoft.com/office/drawing/2014/main" id="{3D248AEC-10A5-4B7E-BF95-2E949619BAC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6000" y="2268000"/>
            <a:ext cx="306000" cy="306000"/>
          </a:xfrm>
          <a:prstGeom prst="rect">
            <a:avLst/>
          </a:prstGeom>
        </p:spPr>
      </p:pic>
      <p:pic>
        <p:nvPicPr>
          <p:cNvPr id="16" name="Graphic 15">
            <a:hlinkClick r:id="rId8"/>
            <a:extLst>
              <a:ext uri="{FF2B5EF4-FFF2-40B4-BE49-F238E27FC236}">
                <a16:creationId xmlns:a16="http://schemas.microsoft.com/office/drawing/2014/main" id="{54EB740A-0F53-4E1C-8587-DA2F01870AD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08000" y="2268000"/>
            <a:ext cx="306000" cy="306000"/>
          </a:xfrm>
          <a:prstGeom prst="rect">
            <a:avLst/>
          </a:prstGeom>
        </p:spPr>
      </p:pic>
      <p:pic>
        <p:nvPicPr>
          <p:cNvPr id="19" name="Graphic 18">
            <a:hlinkClick r:id="rId4"/>
            <a:extLst>
              <a:ext uri="{FF2B5EF4-FFF2-40B4-BE49-F238E27FC236}">
                <a16:creationId xmlns:a16="http://schemas.microsoft.com/office/drawing/2014/main" id="{3C2A80C3-6754-49BB-AE1D-787E3C8B82C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08000" y="1764000"/>
            <a:ext cx="306000" cy="306000"/>
          </a:xfrm>
          <a:prstGeom prst="rect">
            <a:avLst/>
          </a:prstGeom>
        </p:spPr>
      </p:pic>
      <p:pic>
        <p:nvPicPr>
          <p:cNvPr id="44" name="Graphic 43">
            <a:hlinkClick r:id="rId7"/>
            <a:extLst>
              <a:ext uri="{FF2B5EF4-FFF2-40B4-BE49-F238E27FC236}">
                <a16:creationId xmlns:a16="http://schemas.microsoft.com/office/drawing/2014/main" id="{7232CAEC-F3CE-4040-A772-F8A6B930251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08000" y="2268000"/>
            <a:ext cx="306000" cy="306000"/>
          </a:xfrm>
          <a:prstGeom prst="rect">
            <a:avLst/>
          </a:prstGeom>
        </p:spPr>
      </p:pic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255237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45" userDrawn="1">
          <p15:clr>
            <a:srgbClr val="FBAE40"/>
          </p15:clr>
        </p15:guide>
        <p15:guide id="2" orient="horz" pos="2058" userDrawn="1">
          <p15:clr>
            <a:srgbClr val="FBAE40"/>
          </p15:clr>
        </p15:guide>
        <p15:guide id="3" orient="horz" pos="4026" userDrawn="1">
          <p15:clr>
            <a:srgbClr val="FBAE40"/>
          </p15:clr>
        </p15:guide>
        <p15:guide id="4" pos="4044" userDrawn="1">
          <p15:clr>
            <a:srgbClr val="FBAE40"/>
          </p15:clr>
        </p15:guide>
        <p15:guide id="5" pos="4362" userDrawn="1">
          <p15:clr>
            <a:srgbClr val="FBAE40"/>
          </p15:clr>
        </p15:guide>
        <p15:guide id="6" pos="2661" userDrawn="1">
          <p15:clr>
            <a:srgbClr val="FBAE40"/>
          </p15:clr>
        </p15:guide>
        <p15:guide id="7" pos="2343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(Vrij invulba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D05F72AB-9143-4CEB-9995-BC46F87996D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60000" y="1764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4" name="Tijdelijke aanduiding voor tekst 3">
            <a:extLst>
              <a:ext uri="{FF2B5EF4-FFF2-40B4-BE49-F238E27FC236}">
                <a16:creationId xmlns:a16="http://schemas.microsoft.com/office/drawing/2014/main" id="{140C74ED-3843-44B5-A036-98F1C0983D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60000" y="2268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5" name="Tijdelijke aanduiding voor tekst 3">
            <a:extLst>
              <a:ext uri="{FF2B5EF4-FFF2-40B4-BE49-F238E27FC236}">
                <a16:creationId xmlns:a16="http://schemas.microsoft.com/office/drawing/2014/main" id="{7CB3B72F-829E-4802-89CE-5FAA887211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12000" y="1764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6" name="Tijdelijke aanduiding voor tekst 3">
            <a:extLst>
              <a:ext uri="{FF2B5EF4-FFF2-40B4-BE49-F238E27FC236}">
                <a16:creationId xmlns:a16="http://schemas.microsoft.com/office/drawing/2014/main" id="{E96C0F79-C1F5-448A-9B02-130652C5EFD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212000" y="2268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3008B147-EF81-4851-A6A3-FDBC85BB5B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10369" y="1764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D61D01F4-0D94-49A0-A0C6-2A6964B393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910369" y="2268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12238712-852D-4C83-A179-EE0F3F65535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5650" y="1764000"/>
            <a:ext cx="306000" cy="306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5" name="Tijdelijke aanduiding voor afbeelding 12">
            <a:extLst>
              <a:ext uri="{FF2B5EF4-FFF2-40B4-BE49-F238E27FC236}">
                <a16:creationId xmlns:a16="http://schemas.microsoft.com/office/drawing/2014/main" id="{B94B33D8-9ADC-46F3-9BAD-244DD869287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5650" y="2268000"/>
            <a:ext cx="306000" cy="30600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6" name="Tijdelijke aanduiding voor afbeelding 12">
            <a:extLst>
              <a:ext uri="{FF2B5EF4-FFF2-40B4-BE49-F238E27FC236}">
                <a16:creationId xmlns:a16="http://schemas.microsoft.com/office/drawing/2014/main" id="{7B078E79-A086-4E54-9016-28A2DBA0692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08000" y="1764000"/>
            <a:ext cx="306000" cy="30600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7" name="Tijdelijke aanduiding voor afbeelding 12">
            <a:extLst>
              <a:ext uri="{FF2B5EF4-FFF2-40B4-BE49-F238E27FC236}">
                <a16:creationId xmlns:a16="http://schemas.microsoft.com/office/drawing/2014/main" id="{9A2E3717-085D-4920-9B0E-8DBF1A42FCA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708000" y="2268000"/>
            <a:ext cx="306000" cy="306000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Tijdelijke aanduiding voor afbeelding 12">
            <a:extLst>
              <a:ext uri="{FF2B5EF4-FFF2-40B4-BE49-F238E27FC236}">
                <a16:creationId xmlns:a16="http://schemas.microsoft.com/office/drawing/2014/main" id="{77467CBB-F989-40AA-BAA1-DDC3FE2145D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408000" y="1764000"/>
            <a:ext cx="306000" cy="306000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9" name="Tijdelijke aanduiding voor afbeelding 12">
            <a:extLst>
              <a:ext uri="{FF2B5EF4-FFF2-40B4-BE49-F238E27FC236}">
                <a16:creationId xmlns:a16="http://schemas.microsoft.com/office/drawing/2014/main" id="{1C25A578-0CC7-464F-9CFB-1B9EC232EF8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408000" y="2268000"/>
            <a:ext cx="306000" cy="306000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09454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45">
          <p15:clr>
            <a:srgbClr val="FBAE40"/>
          </p15:clr>
        </p15:guide>
        <p15:guide id="2" orient="horz" pos="2058">
          <p15:clr>
            <a:srgbClr val="FBAE40"/>
          </p15:clr>
        </p15:guide>
        <p15:guide id="3" orient="horz" pos="4026">
          <p15:clr>
            <a:srgbClr val="FBAE40"/>
          </p15:clr>
        </p15:guide>
        <p15:guide id="4" pos="4044">
          <p15:clr>
            <a:srgbClr val="FBAE40"/>
          </p15:clr>
        </p15:guide>
        <p15:guide id="5" pos="4362">
          <p15:clr>
            <a:srgbClr val="FBAE40"/>
          </p15:clr>
        </p15:guide>
        <p15:guide id="6" pos="2661">
          <p15:clr>
            <a:srgbClr val="FBAE40"/>
          </p15:clr>
        </p15:guide>
        <p15:guide id="7" pos="234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ooter Bar">
            <a:extLst>
              <a:ext uri="{FF2B5EF4-FFF2-40B4-BE49-F238E27FC236}">
                <a16:creationId xmlns:a16="http://schemas.microsoft.com/office/drawing/2014/main" id="{022EB8B7-6824-4AED-BB2B-C0B109993AD1}"/>
              </a:ext>
            </a:extLst>
          </p:cNvPr>
          <p:cNvGrpSpPr/>
          <p:nvPr userDrawn="1"/>
        </p:nvGrpSpPr>
        <p:grpSpPr>
          <a:xfrm>
            <a:off x="11742000" y="0"/>
            <a:ext cx="450000" cy="6858000"/>
            <a:chOff x="11742000" y="0"/>
            <a:chExt cx="450000" cy="6858000"/>
          </a:xfrm>
          <a:solidFill>
            <a:schemeClr val="accent2">
              <a:alpha val="5882"/>
            </a:schemeClr>
          </a:solidFill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F9EE001-C15B-435E-9F44-1622C159FC17}"/>
                </a:ext>
              </a:extLst>
            </p:cNvPr>
            <p:cNvSpPr/>
            <p:nvPr userDrawn="1"/>
          </p:nvSpPr>
          <p:spPr>
            <a:xfrm>
              <a:off x="11742000" y="0"/>
              <a:ext cx="450000" cy="6858000"/>
            </a:xfrm>
            <a:prstGeom prst="rect">
              <a:avLst/>
            </a:prstGeom>
            <a:solidFill>
              <a:srgbClr val="F1F3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32440EA2-337B-4EDA-9C88-10B9002EF364}"/>
                </a:ext>
              </a:extLst>
            </p:cNvPr>
            <p:cNvCxnSpPr/>
            <p:nvPr userDrawn="1"/>
          </p:nvCxnSpPr>
          <p:spPr>
            <a:xfrm>
              <a:off x="11801530" y="6081711"/>
              <a:ext cx="324000" cy="0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8E966F5-006F-433A-9691-0B17633B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93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Dia met tekst. Voorbeeld van een lange tekst over twee regels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B2E2CE-1F7F-4603-9A75-FEAAFF73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8763"/>
            <a:ext cx="10512349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Niveau 1, standaard met </a:t>
            </a:r>
            <a:r>
              <a:rPr lang="nl-NL" dirty="0" err="1"/>
              <a:t>bullets</a:t>
            </a:r>
            <a:endParaRPr lang="nl-NL" dirty="0"/>
          </a:p>
          <a:p>
            <a:pPr lvl="1"/>
            <a:r>
              <a:rPr lang="nl-NL" dirty="0"/>
              <a:t>Tweede niveau, (sub </a:t>
            </a:r>
            <a:r>
              <a:rPr lang="nl-NL" dirty="0" err="1"/>
              <a:t>bullets</a:t>
            </a:r>
            <a:r>
              <a:rPr lang="nl-NL" dirty="0"/>
              <a:t>)</a:t>
            </a:r>
          </a:p>
          <a:p>
            <a:pPr lvl="2"/>
            <a:r>
              <a:rPr lang="nl-NL" dirty="0"/>
              <a:t>Derde niveau (Leestekst)</a:t>
            </a:r>
          </a:p>
          <a:p>
            <a:pPr lvl="3"/>
            <a:r>
              <a:rPr lang="nl-NL" dirty="0"/>
              <a:t>Vierde niveau (Subtitel)</a:t>
            </a:r>
          </a:p>
          <a:p>
            <a:pPr lvl="4"/>
            <a:r>
              <a:rPr lang="nl-NL" dirty="0"/>
              <a:t>Vijfde niveau (Standaard met nummers)</a:t>
            </a:r>
          </a:p>
          <a:p>
            <a:pPr lvl="5"/>
            <a:r>
              <a:rPr lang="nl-NL" dirty="0"/>
              <a:t>Niveau zes (sub nummers)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4571E1-7B78-4AC3-AB7A-7A15720DF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20000" y="4157669"/>
            <a:ext cx="153888" cy="1485895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sz="1000" b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 dirty="0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04B6D2-F868-492E-8371-701F4F999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89372" y="541695"/>
            <a:ext cx="153888" cy="5101869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lang="nl-NL" sz="10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 dirty="0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491C4D-045B-4D79-8E4E-A715678EC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3163" y="6413498"/>
            <a:ext cx="450000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5" name="Deltares_Logo_klein">
            <a:extLst>
              <a:ext uri="{FF2B5EF4-FFF2-40B4-BE49-F238E27FC236}">
                <a16:creationId xmlns:a16="http://schemas.microsoft.com/office/drawing/2014/main" id="{CA5E38F1-EE2E-4740-B411-6A2F5838BECA}"/>
              </a:ext>
            </a:extLst>
          </p:cNvPr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756" y="6267123"/>
            <a:ext cx="1188000" cy="3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5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47" r:id="rId3"/>
    <p:sldLayoutId id="2147483691" r:id="rId4"/>
    <p:sldLayoutId id="2147483692" r:id="rId5"/>
    <p:sldLayoutId id="2147483664" r:id="rId6"/>
    <p:sldLayoutId id="2147483687" r:id="rId7"/>
    <p:sldLayoutId id="2147483689" r:id="rId8"/>
    <p:sldLayoutId id="2147483690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96" r:id="rId17"/>
    <p:sldLayoutId id="2147483682" r:id="rId18"/>
    <p:sldLayoutId id="2147483683" r:id="rId19"/>
    <p:sldLayoutId id="2147483749" r:id="rId20"/>
    <p:sldLayoutId id="2147483681" r:id="rId21"/>
    <p:sldLayoutId id="2147483752" r:id="rId22"/>
    <p:sldLayoutId id="2147483699" r:id="rId23"/>
    <p:sldLayoutId id="2147483748" r:id="rId24"/>
    <p:sldLayoutId id="2147483656" r:id="rId25"/>
    <p:sldLayoutId id="2147483753" r:id="rId26"/>
    <p:sldLayoutId id="2147483698" r:id="rId27"/>
    <p:sldLayoutId id="2147483754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24000" indent="-324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8000" indent="-32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24000" indent="-3240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+mj-lt"/>
        <a:buAutoNum type="arabicPeriod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648000" indent="-324000" algn="l" defTabSz="914400" rtl="0" eaLnBrk="1" latinLnBrk="0" hangingPunct="1">
        <a:lnSpc>
          <a:spcPct val="90000"/>
        </a:lnSpc>
        <a:spcBef>
          <a:spcPts val="500"/>
        </a:spcBef>
        <a:buSzPct val="95000"/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1110" userDrawn="1">
          <p15:clr>
            <a:srgbClr val="F26B43"/>
          </p15:clr>
        </p15:guide>
        <p15:guide id="3" pos="476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6" pos="792" userDrawn="1">
          <p15:clr>
            <a:srgbClr val="F26B43"/>
          </p15:clr>
        </p15:guide>
        <p15:guide id="7" orient="horz" pos="3833" userDrawn="1">
          <p15:clr>
            <a:srgbClr val="F26B43"/>
          </p15:clr>
        </p15:guide>
        <p15:guide id="8" orient="horz" pos="336" userDrawn="1">
          <p15:clr>
            <a:srgbClr val="F26B43"/>
          </p15:clr>
        </p15:guide>
        <p15:guide id="9" pos="7098" userDrawn="1">
          <p15:clr>
            <a:srgbClr val="F26B43"/>
          </p15:clr>
        </p15:guide>
        <p15:guide id="10" pos="7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Tijdelijke aanduiding voor afbeelding 17">
            <a:extLst>
              <a:ext uri="{FF2B5EF4-FFF2-40B4-BE49-F238E27FC236}">
                <a16:creationId xmlns:a16="http://schemas.microsoft.com/office/drawing/2014/main" id="{AA69BC65-8AFE-4119-BE77-AE1B7096E43E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" r="42"/>
          <a:stretch>
            <a:fillRect/>
          </a:stretch>
        </p:blipFill>
        <p:spPr/>
      </p:pic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D510B812-7AC5-475D-ACB5-69A9EF35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94002" y="6264000"/>
            <a:ext cx="2340000" cy="184666"/>
          </a:xfrm>
        </p:spPr>
        <p:txBody>
          <a:bodyPr/>
          <a:lstStyle/>
          <a:p>
            <a:r>
              <a:rPr lang="nl-NL" dirty="0"/>
              <a:t> 19 juni 2025</a:t>
            </a:r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9A199952-5E95-4A28-BD26-74ECEF64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Voettekst van de presentatie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18D4A5E8-322A-4392-899C-82090DBD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1</a:t>
            </a:fld>
            <a:endParaRPr lang="nl-NL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D010081-142B-471A-8A79-433EA62F4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4002" y="1766078"/>
            <a:ext cx="6006145" cy="1990582"/>
          </a:xfrm>
        </p:spPr>
        <p:txBody>
          <a:bodyPr/>
          <a:lstStyle/>
          <a:p>
            <a:r>
              <a:rPr lang="nl-NL" dirty="0"/>
              <a:t>Probabilistische damwand-analyse met </a:t>
            </a:r>
            <a:r>
              <a:rPr lang="nl-NL" dirty="0" err="1"/>
              <a:t>Kratos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7F40214-05A9-459B-91CB-FE5EED0528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Naam Achternaam</a:t>
            </a:r>
          </a:p>
        </p:txBody>
      </p:sp>
      <p:sp>
        <p:nvSpPr>
          <p:cNvPr id="2" name="Tijdelijke aanduiding voor datum 13">
            <a:extLst>
              <a:ext uri="{FF2B5EF4-FFF2-40B4-BE49-F238E27FC236}">
                <a16:creationId xmlns:a16="http://schemas.microsoft.com/office/drawing/2014/main" id="{5EB55133-3DD4-3598-CCC9-450373E1189A}"/>
              </a:ext>
            </a:extLst>
          </p:cNvPr>
          <p:cNvSpPr txBox="1">
            <a:spLocks/>
          </p:cNvSpPr>
          <p:nvPr/>
        </p:nvSpPr>
        <p:spPr>
          <a:xfrm>
            <a:off x="5694002" y="5363259"/>
            <a:ext cx="2340000" cy="45096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0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Edwin Spee</a:t>
            </a:r>
          </a:p>
          <a:p>
            <a:r>
              <a:rPr lang="nl-NL" dirty="0"/>
              <a:t>Rob Brinkman</a:t>
            </a:r>
          </a:p>
          <a:p>
            <a:r>
              <a:rPr lang="nl-NL" dirty="0"/>
              <a:t>Karolina Wojciechowska</a:t>
            </a:r>
          </a:p>
        </p:txBody>
      </p:sp>
    </p:spTree>
    <p:extLst>
      <p:ext uri="{BB962C8B-B14F-4D97-AF65-F5344CB8AC3E}">
        <p14:creationId xmlns:p14="http://schemas.microsoft.com/office/powerpoint/2010/main" val="184831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412A-07C7-DE29-F08F-84DC8AA0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Overzicht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D33DE-AEEB-6AC7-BC22-1D3D8F4DD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Doel</a:t>
            </a:r>
          </a:p>
          <a:p>
            <a:r>
              <a:rPr lang="nl-NL" dirty="0"/>
              <a:t>Probabilistische bibliotheek en </a:t>
            </a:r>
            <a:r>
              <a:rPr lang="nl-NL" dirty="0" err="1"/>
              <a:t>Kratos</a:t>
            </a:r>
            <a:endParaRPr lang="nl-NL" dirty="0"/>
          </a:p>
          <a:p>
            <a:r>
              <a:rPr lang="nl-NL" dirty="0"/>
              <a:t>Damwand model</a:t>
            </a:r>
          </a:p>
          <a:p>
            <a:r>
              <a:rPr lang="nl-NL" dirty="0"/>
              <a:t>Probabilistische berekeningen met </a:t>
            </a:r>
            <a:r>
              <a:rPr lang="nl-NL" dirty="0" err="1"/>
              <a:t>Kratos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Input en output parameters</a:t>
            </a:r>
          </a:p>
          <a:p>
            <a:pPr lvl="1"/>
            <a:r>
              <a:rPr lang="nl-NL" dirty="0"/>
              <a:t>Onzekerheidsanalyse</a:t>
            </a:r>
          </a:p>
          <a:p>
            <a:pPr lvl="1"/>
            <a:r>
              <a:rPr lang="nl-NL" dirty="0"/>
              <a:t>Betrouwbaarheidsanalyse</a:t>
            </a:r>
          </a:p>
          <a:p>
            <a:pPr lvl="1"/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lvl="1"/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10F70-4ED8-586E-F24E-36E305D5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8333A-629D-A3D8-C6E0-320EB9299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51C3C-6E3A-C89A-2793-7B0B7150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733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B8C3-90E8-CBD5-0167-59BCF0F19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28006-10E8-97EF-671F-C56FF948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Laten zien dat probabilistische berekeningen met </a:t>
            </a:r>
            <a:r>
              <a:rPr lang="nl-NL" dirty="0" err="1"/>
              <a:t>Kratos</a:t>
            </a:r>
            <a:r>
              <a:rPr lang="nl-NL" dirty="0"/>
              <a:t> mogelijk zijn.</a:t>
            </a:r>
          </a:p>
          <a:p>
            <a:endParaRPr lang="nl-NL" dirty="0"/>
          </a:p>
          <a:p>
            <a:r>
              <a:rPr lang="nl-NL" dirty="0"/>
              <a:t>Koppeling leggen tussen de probabilistische bibliotheek en </a:t>
            </a:r>
            <a:r>
              <a:rPr lang="nl-NL" dirty="0" err="1"/>
              <a:t>Kratos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Semi-realistische case.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20E53-DD92-EB11-22EE-6A381D5C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4C8ED-B677-B3CF-6EE6-6E69A276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2623-4C22-6320-F540-16649593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827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4E9B-380F-E960-7A37-7494FF95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Probabilistische bibliotheek en </a:t>
            </a:r>
            <a:r>
              <a:rPr lang="nl-NL" dirty="0" err="1"/>
              <a:t>Kratos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86151-B450-AFC7-44A9-21DD82DC6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Probabilistische bibliotheek:</a:t>
            </a:r>
          </a:p>
          <a:p>
            <a:pPr lvl="1"/>
            <a:r>
              <a:rPr lang="nl-NL" dirty="0"/>
              <a:t>Toepassing: veiligheidsbeoordeling van primaire waterkeringen in Nederland, geotechnische applicaties en </a:t>
            </a:r>
            <a:r>
              <a:rPr lang="nl-NL" dirty="0" err="1"/>
              <a:t>Probabilistic</a:t>
            </a:r>
            <a:r>
              <a:rPr lang="nl-NL" dirty="0"/>
              <a:t> Toolkit</a:t>
            </a:r>
          </a:p>
          <a:p>
            <a:pPr lvl="1"/>
            <a:r>
              <a:rPr lang="nl-NL" dirty="0"/>
              <a:t>Geschreven in C++, Python en .Net </a:t>
            </a:r>
            <a:r>
              <a:rPr lang="nl-NL" dirty="0" err="1"/>
              <a:t>wrappers</a:t>
            </a:r>
            <a:r>
              <a:rPr lang="nl-NL" dirty="0"/>
              <a:t> zijn beschikbaar</a:t>
            </a:r>
          </a:p>
          <a:p>
            <a:pPr lvl="1"/>
            <a:r>
              <a:rPr lang="nl-NL" dirty="0"/>
              <a:t>Functionaliteit: verdelingsfuncties, correlaties, betrouwbaarheidsanalyse, onzekerheidsanalyse, gevoeligheidsanalyse, aansluiten van modellen</a:t>
            </a:r>
          </a:p>
          <a:p>
            <a:endParaRPr lang="nl-NL" dirty="0"/>
          </a:p>
          <a:p>
            <a:r>
              <a:rPr lang="nl-NL" dirty="0" err="1"/>
              <a:t>Kratos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Open-source </a:t>
            </a:r>
            <a:r>
              <a:rPr lang="nl-NL" dirty="0" err="1"/>
              <a:t>framework</a:t>
            </a:r>
            <a:r>
              <a:rPr lang="nl-NL" dirty="0"/>
              <a:t> voor de implementatie van numerieke methoden voor het oplossen van technische vraagstukken</a:t>
            </a:r>
          </a:p>
          <a:p>
            <a:pPr lvl="1"/>
            <a:r>
              <a:rPr lang="nl-NL" dirty="0"/>
              <a:t>Geschreven in C++</a:t>
            </a:r>
          </a:p>
          <a:p>
            <a:pPr lvl="1"/>
            <a:r>
              <a:rPr lang="nl-NL" dirty="0"/>
              <a:t>Deltares </a:t>
            </a:r>
            <a:r>
              <a:rPr lang="nl-NL" dirty="0">
                <a:sym typeface="Wingdings" panose="05000000000000000000" pitchFamily="2" charset="2"/>
              </a:rPr>
              <a:t></a:t>
            </a:r>
            <a:r>
              <a:rPr lang="nl-NL" dirty="0"/>
              <a:t> </a:t>
            </a:r>
            <a:r>
              <a:rPr lang="nl-NL" u="sng" dirty="0" err="1"/>
              <a:t>Geo-Mechanics</a:t>
            </a:r>
            <a:r>
              <a:rPr lang="nl-NL" u="sng" dirty="0"/>
              <a:t> Application</a:t>
            </a:r>
            <a:r>
              <a:rPr lang="nl-NL" dirty="0"/>
              <a:t> (eindige elementen methode voor geotechnische vraagstukken)</a:t>
            </a:r>
          </a:p>
          <a:p>
            <a:endParaRPr lang="nl-NL" dirty="0"/>
          </a:p>
          <a:p>
            <a:endParaRPr lang="nl-NL" dirty="0"/>
          </a:p>
          <a:p>
            <a:pPr marL="324000" lvl="1" indent="0">
              <a:buNone/>
            </a:pPr>
            <a:endParaRPr lang="nl-NL" dirty="0"/>
          </a:p>
          <a:p>
            <a:pPr lvl="1"/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2B4DC-3C54-B463-08B6-29C1E0C35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A4E4C-E5F6-4895-268E-3E02BFBFD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28401-8A89-C6F8-2F68-AFA0670B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3150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27B1-BC50-319C-A2ED-D10FBA40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Damwand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A867E-2172-264B-AB1E-25A5C11B8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68763"/>
            <a:ext cx="4839392" cy="4320000"/>
          </a:xfrm>
        </p:spPr>
        <p:txBody>
          <a:bodyPr/>
          <a:lstStyle/>
          <a:p>
            <a:r>
              <a:rPr lang="nl-NL" b="1" dirty="0"/>
              <a:t>Fase 0:</a:t>
            </a:r>
            <a:r>
              <a:rPr lang="nl-NL" dirty="0"/>
              <a:t> beginsituatie</a:t>
            </a:r>
          </a:p>
          <a:p>
            <a:r>
              <a:rPr lang="nl-NL" b="1" dirty="0"/>
              <a:t>Fase 1:</a:t>
            </a:r>
            <a:r>
              <a:rPr lang="nl-NL" dirty="0"/>
              <a:t> damwand</a:t>
            </a:r>
          </a:p>
          <a:p>
            <a:r>
              <a:rPr lang="nl-NL" b="1" dirty="0"/>
              <a:t>Fase 2:</a:t>
            </a:r>
            <a:r>
              <a:rPr lang="nl-NL" dirty="0"/>
              <a:t> ontgraving</a:t>
            </a:r>
          </a:p>
          <a:p>
            <a:r>
              <a:rPr lang="nl-NL" b="1" dirty="0"/>
              <a:t>Fase 3:</a:t>
            </a:r>
            <a:r>
              <a:rPr lang="nl-NL" dirty="0"/>
              <a:t> met anker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Het model is geïmplementeerd in het </a:t>
            </a:r>
            <a:r>
              <a:rPr lang="nl-NL" dirty="0" err="1"/>
              <a:t>Kratos</a:t>
            </a:r>
            <a:r>
              <a:rPr lang="nl-NL" dirty="0"/>
              <a:t> </a:t>
            </a:r>
            <a:r>
              <a:rPr lang="nl-NL" dirty="0" err="1"/>
              <a:t>framework</a:t>
            </a:r>
            <a:r>
              <a:rPr lang="nl-NL" dirty="0"/>
              <a:t> (lineair elastisch).</a:t>
            </a:r>
          </a:p>
          <a:p>
            <a:r>
              <a:rPr lang="nl-NL" dirty="0"/>
              <a:t>Op basis van de invoer worden de totale verplaatsing in x-richting (maaiveld) en het maximale buigmoment berekend.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9A070-1596-90C9-4A31-BD0B86A4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7841D-0DFA-84DC-D00A-BDAA5184A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14510-4E34-DB8C-F493-D9EF2280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5</a:t>
            </a:fld>
            <a:endParaRPr lang="nl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B80E4E-4DC5-E6A1-F653-7BE94F23B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959" y="1269506"/>
            <a:ext cx="4807780" cy="475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4FF655D-822E-1C21-2807-27D2C10A6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38" y="3218935"/>
            <a:ext cx="1790950" cy="1143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535FF4-E2A9-45F5-4AA0-3D99AB63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Damwand model gekoppeld aan</a:t>
            </a:r>
            <a:br>
              <a:rPr lang="nl-NL" dirty="0"/>
            </a:br>
            <a:r>
              <a:rPr lang="nl-NL" dirty="0"/>
              <a:t>probabilistische bibliotheek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D5C85-9BC9-2E0E-23AC-74AB2B45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29BB4-1189-E4FF-9AA0-8BE1CA7F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C0646-7087-8CAD-6374-8BC5ED1D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6</a:t>
            </a:fld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9C1E8B-B78D-277A-57ED-ADE3BC09F9B2}"/>
              </a:ext>
            </a:extLst>
          </p:cNvPr>
          <p:cNvSpPr/>
          <p:nvPr/>
        </p:nvSpPr>
        <p:spPr>
          <a:xfrm>
            <a:off x="3429116" y="3295347"/>
            <a:ext cx="1455937" cy="108973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Prob</a:t>
            </a:r>
            <a:r>
              <a:rPr lang="nl-NL" dirty="0"/>
              <a:t> </a:t>
            </a:r>
            <a:r>
              <a:rPr lang="nl-NL" dirty="0" err="1"/>
              <a:t>lib</a:t>
            </a:r>
            <a:r>
              <a:rPr lang="nl-NL" dirty="0"/>
              <a:t> (C++)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E023ED-CBF3-6761-8BFE-1B599EC77434}"/>
              </a:ext>
            </a:extLst>
          </p:cNvPr>
          <p:cNvSpPr/>
          <p:nvPr/>
        </p:nvSpPr>
        <p:spPr>
          <a:xfrm>
            <a:off x="3240175" y="2568163"/>
            <a:ext cx="1951607" cy="2086251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3315C7-2221-B017-15E5-96732AEBEF62}"/>
              </a:ext>
            </a:extLst>
          </p:cNvPr>
          <p:cNvSpPr txBox="1"/>
          <p:nvPr/>
        </p:nvSpPr>
        <p:spPr>
          <a:xfrm>
            <a:off x="3256839" y="263494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Python wrapper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96DFF1-AC14-9B82-7845-0386DA4D7F87}"/>
              </a:ext>
            </a:extLst>
          </p:cNvPr>
          <p:cNvSpPr/>
          <p:nvPr/>
        </p:nvSpPr>
        <p:spPr>
          <a:xfrm>
            <a:off x="6406543" y="3137694"/>
            <a:ext cx="1951607" cy="10897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Damwand model in Python </a:t>
            </a:r>
          </a:p>
          <a:p>
            <a:pPr algn="ctr"/>
            <a:r>
              <a:rPr lang="nl-NL" dirty="0"/>
              <a:t>(</a:t>
            </a:r>
            <a:r>
              <a:rPr lang="nl-NL" dirty="0" err="1"/>
              <a:t>Kratos</a:t>
            </a:r>
            <a:r>
              <a:rPr lang="nl-NL" dirty="0"/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AEAE22-D8B4-3291-E3FC-DC46B3B7E1D2}"/>
              </a:ext>
            </a:extLst>
          </p:cNvPr>
          <p:cNvCxnSpPr>
            <a:cxnSpLocks/>
          </p:cNvCxnSpPr>
          <p:nvPr/>
        </p:nvCxnSpPr>
        <p:spPr>
          <a:xfrm>
            <a:off x="5191782" y="3420419"/>
            <a:ext cx="12285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ABD86A-CEAC-F719-27EE-F2BF3EE289B0}"/>
              </a:ext>
            </a:extLst>
          </p:cNvPr>
          <p:cNvCxnSpPr/>
          <p:nvPr/>
        </p:nvCxnSpPr>
        <p:spPr>
          <a:xfrm flipH="1">
            <a:off x="5191781" y="4088010"/>
            <a:ext cx="12285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91584BE-1A95-72C1-53AD-0059E1155D84}"/>
              </a:ext>
            </a:extLst>
          </p:cNvPr>
          <p:cNvSpPr txBox="1"/>
          <p:nvPr/>
        </p:nvSpPr>
        <p:spPr>
          <a:xfrm>
            <a:off x="5380723" y="30619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invoer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F02E32-06D4-D8BE-F4F5-B9E43FB2D0C1}"/>
              </a:ext>
            </a:extLst>
          </p:cNvPr>
          <p:cNvSpPr txBox="1"/>
          <p:nvPr/>
        </p:nvSpPr>
        <p:spPr>
          <a:xfrm>
            <a:off x="5422991" y="40880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uitvoer</a:t>
            </a:r>
          </a:p>
        </p:txBody>
      </p:sp>
    </p:spTree>
    <p:extLst>
      <p:ext uri="{BB962C8B-B14F-4D97-AF65-F5344CB8AC3E}">
        <p14:creationId xmlns:p14="http://schemas.microsoft.com/office/powerpoint/2010/main" val="54226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404F-8BF4-09B4-56FA-7C23BAB7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Probabilistische berekeningen: input en 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5C4B3-6D3D-27F4-8630-5555805D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noProof="0" dirty="0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83F8E-4280-A2F9-D453-69FF05F1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noProof="0" dirty="0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93F02-6127-5B76-8B78-40B97700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noProof="0" smtClean="0"/>
              <a:t>7</a:t>
            </a:fld>
            <a:endParaRPr lang="nl-NL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A3D928-9177-5E7B-B8F6-D5BD54B44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799720"/>
              </p:ext>
            </p:extLst>
          </p:nvPr>
        </p:nvGraphicFramePr>
        <p:xfrm>
          <a:off x="755650" y="1980109"/>
          <a:ext cx="952003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8243">
                  <a:extLst>
                    <a:ext uri="{9D8B030D-6E8A-4147-A177-3AD203B41FA5}">
                      <a16:colId xmlns:a16="http://schemas.microsoft.com/office/drawing/2014/main" val="800794412"/>
                    </a:ext>
                  </a:extLst>
                </a:gridCol>
                <a:gridCol w="2679826">
                  <a:extLst>
                    <a:ext uri="{9D8B030D-6E8A-4147-A177-3AD203B41FA5}">
                      <a16:colId xmlns:a16="http://schemas.microsoft.com/office/drawing/2014/main" val="3354784842"/>
                    </a:ext>
                  </a:extLst>
                </a:gridCol>
                <a:gridCol w="3041964">
                  <a:extLst>
                    <a:ext uri="{9D8B030D-6E8A-4147-A177-3AD203B41FA5}">
                      <a16:colId xmlns:a16="http://schemas.microsoft.com/office/drawing/2014/main" val="578967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noProof="0" dirty="0"/>
                        <a:t>P</a:t>
                      </a:r>
                      <a:r>
                        <a:rPr lang="nl-NL" noProof="0" dirty="0" err="1"/>
                        <a:t>arameter</a:t>
                      </a:r>
                      <a:endParaRPr lang="nl-N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Verdeling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Waarden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712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Young modulus (klei)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5x10</a:t>
                      </a:r>
                      <a:r>
                        <a:rPr lang="nl-NL" baseline="30000" noProof="0" dirty="0"/>
                        <a:t>6</a:t>
                      </a:r>
                      <a:r>
                        <a:rPr lang="nl-NL" noProof="0" dirty="0"/>
                        <a:t> – 8x10</a:t>
                      </a:r>
                      <a:r>
                        <a:rPr lang="nl-NL" baseline="30000" noProof="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344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Young modulus (zand)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30x10</a:t>
                      </a:r>
                      <a:r>
                        <a:rPr lang="nl-NL" baseline="30000" noProof="0" dirty="0"/>
                        <a:t>6</a:t>
                      </a:r>
                      <a:r>
                        <a:rPr lang="nl-NL" noProof="0" dirty="0"/>
                        <a:t> – 50x10</a:t>
                      </a:r>
                      <a:r>
                        <a:rPr lang="nl-NL" baseline="30000" noProof="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0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Interface stijfheid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Deterministisch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10</a:t>
                      </a:r>
                      <a:r>
                        <a:rPr lang="nl-NL" baseline="30000" noProof="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17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Damwand: Young 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Deterministisch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200x10</a:t>
                      </a:r>
                      <a:r>
                        <a:rPr lang="nl-NL" baseline="30000" noProof="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2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Damwand: </a:t>
                      </a:r>
                      <a:r>
                        <a:rPr lang="nl-NL" noProof="0" dirty="0" err="1"/>
                        <a:t>Poisson</a:t>
                      </a:r>
                      <a:r>
                        <a:rPr lang="nl-NL" noProof="0" dirty="0"/>
                        <a:t>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Deterministisch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7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Damwand: dikte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Deterministisch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0.02159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4365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449821-510F-1631-6BD7-CA0168E153B1}"/>
              </a:ext>
            </a:extLst>
          </p:cNvPr>
          <p:cNvSpPr txBox="1"/>
          <p:nvPr/>
        </p:nvSpPr>
        <p:spPr>
          <a:xfrm>
            <a:off x="679010" y="135957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noProof="0" dirty="0"/>
              <a:t>Invoer: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E4117-0627-828E-DC43-4EBC0AC4BFDE}"/>
              </a:ext>
            </a:extLst>
          </p:cNvPr>
          <p:cNvSpPr txBox="1"/>
          <p:nvPr/>
        </p:nvSpPr>
        <p:spPr>
          <a:xfrm>
            <a:off x="679010" y="5078403"/>
            <a:ext cx="782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noProof="0" dirty="0"/>
              <a:t>Uitvoer:</a:t>
            </a:r>
            <a:r>
              <a:rPr lang="nl-NL" noProof="0" dirty="0"/>
              <a:t> totale verplaatsing in x-richting (maaiveld), maximaal buigmoment</a:t>
            </a:r>
          </a:p>
        </p:txBody>
      </p:sp>
    </p:spTree>
    <p:extLst>
      <p:ext uri="{BB962C8B-B14F-4D97-AF65-F5344CB8AC3E}">
        <p14:creationId xmlns:p14="http://schemas.microsoft.com/office/powerpoint/2010/main" val="183751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7818-5493-0187-4019-F35B18FB1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O</a:t>
            </a:r>
            <a:r>
              <a:rPr lang="nl-NL" dirty="0" err="1"/>
              <a:t>nzekerheidsanalyse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63E60-4B42-2D90-2AA6-93A2C68C6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5" y="1477695"/>
            <a:ext cx="10671170" cy="4320000"/>
          </a:xfrm>
        </p:spPr>
        <p:txBody>
          <a:bodyPr/>
          <a:lstStyle/>
          <a:p>
            <a:r>
              <a:rPr lang="nl-NL" dirty="0"/>
              <a:t>Monte Carlo met 1000 trekkingen, fase 3</a:t>
            </a:r>
          </a:p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2C38B-C4BC-F6CF-3DA8-ED4C85D6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FCBF-2F77-9891-3D63-C7148B73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320AE-188E-9D8C-A2D3-435888D6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8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E70B8E-CC91-C25E-7E0F-377B2114DD32}"/>
              </a:ext>
            </a:extLst>
          </p:cNvPr>
          <p:cNvSpPr txBox="1"/>
          <p:nvPr/>
        </p:nvSpPr>
        <p:spPr>
          <a:xfrm>
            <a:off x="7325477" y="2128746"/>
            <a:ext cx="276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Maximaal buigmoment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B4B1C1-E726-192B-82EE-E107240EA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529" y="2498078"/>
            <a:ext cx="5310056" cy="39154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2871AE-57A8-9B57-ADCC-8EE5A66E8E3C}"/>
              </a:ext>
            </a:extLst>
          </p:cNvPr>
          <p:cNvSpPr txBox="1"/>
          <p:nvPr/>
        </p:nvSpPr>
        <p:spPr>
          <a:xfrm>
            <a:off x="879936" y="2128746"/>
            <a:ext cx="4977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Totale verplaatsing in x-richting (maaiveld)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23AED5-622A-0F28-8ECF-2EF5E7D34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24" y="2628365"/>
            <a:ext cx="5312927" cy="373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AF7E-B229-BEC8-5736-7BE448751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96F2-4961-E248-31F3-66F003D2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Betrouwbaarheidsanalyse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2BDA-BD2F-FDDD-0014-00E7D0F75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4" y="1740188"/>
            <a:ext cx="10512349" cy="432000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nl-NL" dirty="0"/>
              <a:t>Kans dat de totale verplaatsing een kritieke waarde overschrijdt:</a:t>
            </a:r>
          </a:p>
          <a:p>
            <a:pPr marL="342900" indent="-342900">
              <a:buFont typeface="+mj-lt"/>
              <a:buAutoNum type="arabicPeriod"/>
            </a:pPr>
            <a:endParaRPr lang="nl-NL" dirty="0"/>
          </a:p>
          <a:p>
            <a:pPr marL="342900" indent="-342900">
              <a:buFont typeface="+mj-lt"/>
              <a:buAutoNum type="arabicPeriod"/>
            </a:pPr>
            <a:endParaRPr lang="nl-NL" dirty="0"/>
          </a:p>
          <a:p>
            <a:pPr marL="342900" indent="-342900">
              <a:buFont typeface="+mj-lt"/>
              <a:buAutoNum type="arabicPeriod"/>
            </a:pP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dirty="0"/>
              <a:t>Kans voor het maximale buigmoment een kritieke waarde overschrijdt:</a:t>
            </a:r>
          </a:p>
          <a:p>
            <a:pPr marL="342900" indent="-342900">
              <a:buFont typeface="+mj-lt"/>
              <a:buAutoNum type="arabicPeriod"/>
            </a:pPr>
            <a:endParaRPr lang="nl-NL" dirty="0"/>
          </a:p>
          <a:p>
            <a:pPr marL="342900" indent="-342900">
              <a:buFont typeface="+mj-lt"/>
              <a:buAutoNum type="arabicPeriod"/>
            </a:pPr>
            <a:endParaRPr lang="nl-NL" dirty="0"/>
          </a:p>
          <a:p>
            <a:pPr marL="342900" indent="-342900">
              <a:buFont typeface="+mj-lt"/>
              <a:buAutoNum type="arabicPeriod"/>
            </a:pP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dirty="0"/>
              <a:t>Gecombineerde kans (een van de twee mogelijkheden):</a:t>
            </a:r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6BDC9-7A7D-CF0E-6B3E-237DC7EB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0515D-FAA6-458D-C15C-1CB4CD33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62C42-6FDC-9298-29E5-940CAD26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9</a:t>
            </a:fld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42758-385A-B04A-0D94-8086DEDC39B3}"/>
                  </a:ext>
                </a:extLst>
              </p:cNvPr>
              <p:cNvSpPr txBox="1"/>
              <p:nvPr/>
            </p:nvSpPr>
            <p:spPr>
              <a:xfrm>
                <a:off x="995437" y="2205799"/>
                <a:ext cx="746537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nl-NL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𝑝𝑙𝑎𝑐𝑒𝑚𝑒𝑛𝑡</m:t>
                          </m:r>
                        </m:sub>
                      </m:sSub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𝑐𝑟𝑖𝑡𝑖𝑐𝑎𝑙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𝑑𝑖𝑠𝑝𝑙𝑎𝑐𝑒𝑚𝑒𝑛𝑡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𝑑𝑖𝑠𝑝𝑙𝑎𝑐𝑒𝑚𝑒𝑛𝑡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42758-385A-B04A-0D94-8086DEDC3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37" y="2205799"/>
                <a:ext cx="7465377" cy="298415"/>
              </a:xfrm>
              <a:prstGeom prst="rect">
                <a:avLst/>
              </a:prstGeom>
              <a:blipFill>
                <a:blip r:embed="rId2"/>
                <a:stretch>
                  <a:fillRect l="-163" r="-571" b="-2653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C21BBF-D9F7-3BF8-BC94-A547B99AECE3}"/>
                  </a:ext>
                </a:extLst>
              </p:cNvPr>
              <p:cNvSpPr txBox="1"/>
              <p:nvPr/>
            </p:nvSpPr>
            <p:spPr>
              <a:xfrm>
                <a:off x="995437" y="3750403"/>
                <a:ext cx="7950445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𝑏𝑒𝑛𝑑𝑖𝑛𝑔</m:t>
                          </m:r>
                        </m:sub>
                      </m:sSub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&lt;0)=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𝑐𝑟𝑖𝑡𝑖𝑐𝑎𝑙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𝑏𝑒𝑛𝑑𝑖𝑛𝑔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𝑚𝑜𝑚𝑒𝑛𝑡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𝑚𝑎𝑥𝑖𝑚𝑎𝑙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𝑏𝑒𝑛𝑑𝑖𝑛𝑔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𝑚𝑜𝑚𝑒𝑛𝑡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C21BBF-D9F7-3BF8-BC94-A547B99AE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37" y="3750403"/>
                <a:ext cx="7950445" cy="299569"/>
              </a:xfrm>
              <a:prstGeom prst="rect">
                <a:avLst/>
              </a:prstGeom>
              <a:blipFill>
                <a:blip r:embed="rId3"/>
                <a:stretch>
                  <a:fillRect r="-307" b="-3061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1B327D-5064-9AE7-C2C3-2605D103F585}"/>
                  </a:ext>
                </a:extLst>
              </p:cNvPr>
              <p:cNvSpPr txBox="1"/>
              <p:nvPr/>
            </p:nvSpPr>
            <p:spPr>
              <a:xfrm>
                <a:off x="995437" y="5243780"/>
                <a:ext cx="3704219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nl-NL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nl-NL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𝑑𝑖</m:t>
                              </m:r>
                              <m:r>
                                <a:rPr lang="nl-NL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nl-NL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𝑝𝑙𝑎𝑐𝑒𝑚𝑒𝑛𝑡</m:t>
                              </m:r>
                            </m:sub>
                          </m:sSub>
                          <m:r>
                            <a:rPr lang="nl-NL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𝑏𝑒𝑛𝑑𝑖𝑛𝑔</m:t>
                          </m:r>
                        </m:sub>
                      </m:sSub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&lt;0)</m:t>
                      </m:r>
                    </m:oMath>
                  </m:oMathPara>
                </a14:m>
                <a:endParaRPr lang="nl-NL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1B327D-5064-9AE7-C2C3-2605D103F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37" y="5243780"/>
                <a:ext cx="3704219" cy="299569"/>
              </a:xfrm>
              <a:prstGeom prst="rect">
                <a:avLst/>
              </a:prstGeom>
              <a:blipFill>
                <a:blip r:embed="rId4"/>
                <a:stretch>
                  <a:fillRect l="-822" r="-1645" b="-3061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79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DB28-6EA3-EACA-DEC4-5AC67CF4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A3B4-98B2-224D-238C-AF477316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Betrouwbaarheidsanalyse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E413D-CDAE-E37C-933F-CCD481E5F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4" y="1740188"/>
            <a:ext cx="10512349" cy="4320000"/>
          </a:xfrm>
        </p:spPr>
        <p:txBody>
          <a:bodyPr/>
          <a:lstStyle/>
          <a:p>
            <a:r>
              <a:rPr lang="nl-NL" dirty="0"/>
              <a:t>Faalkans voor de verplaatsing, FORM:</a:t>
            </a:r>
          </a:p>
          <a:p>
            <a:pPr marL="342900" indent="-342900">
              <a:buFont typeface="+mj-lt"/>
              <a:buAutoNum type="arabicPeriod"/>
            </a:pP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B82CD-8D23-4539-D9C0-BFC762D5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7550-D734-E7D9-C1A6-45FB0809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5F7A7-BEED-7748-3150-B5C48D377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10</a:t>
            </a:fld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80786F-018F-5881-15C2-AA5FBB84AB56}"/>
                  </a:ext>
                </a:extLst>
              </p:cNvPr>
              <p:cNvSpPr txBox="1"/>
              <p:nvPr/>
            </p:nvSpPr>
            <p:spPr>
              <a:xfrm>
                <a:off x="987044" y="2205799"/>
                <a:ext cx="7533473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b="0" i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nl-NL" b="0" i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l-NL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𝑑𝑖𝑝𝑙𝑎𝑐𝑒𝑚𝑒𝑛𝑡</m:t>
                          </m:r>
                        </m:sub>
                      </m:sSub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𝑐𝑟𝑖𝑡𝑖𝑐𝑎𝑙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𝑑𝑖𝑠𝑝𝑙𝑎𝑐𝑒𝑚𝑒𝑛𝑡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𝑑𝑖𝑠𝑝𝑙𝑎𝑐𝑒𝑚𝑒𝑛𝑡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80786F-018F-5881-15C2-AA5FBB84A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044" y="2205799"/>
                <a:ext cx="7533473" cy="298415"/>
              </a:xfrm>
              <a:prstGeom prst="rect">
                <a:avLst/>
              </a:prstGeom>
              <a:blipFill>
                <a:blip r:embed="rId2"/>
                <a:stretch>
                  <a:fillRect b="-2653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C08C42-E55E-158B-9B7E-7080F1FE6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209315"/>
              </p:ext>
            </p:extLst>
          </p:nvPr>
        </p:nvGraphicFramePr>
        <p:xfrm>
          <a:off x="1117600" y="3158508"/>
          <a:ext cx="861487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404">
                  <a:extLst>
                    <a:ext uri="{9D8B030D-6E8A-4147-A177-3AD203B41FA5}">
                      <a16:colId xmlns:a16="http://schemas.microsoft.com/office/drawing/2014/main" val="2781947665"/>
                    </a:ext>
                  </a:extLst>
                </a:gridCol>
                <a:gridCol w="2495846">
                  <a:extLst>
                    <a:ext uri="{9D8B030D-6E8A-4147-A177-3AD203B41FA5}">
                      <a16:colId xmlns:a16="http://schemas.microsoft.com/office/drawing/2014/main" val="1422021900"/>
                    </a:ext>
                  </a:extLst>
                </a:gridCol>
                <a:gridCol w="2871625">
                  <a:extLst>
                    <a:ext uri="{9D8B030D-6E8A-4147-A177-3AD203B41FA5}">
                      <a16:colId xmlns:a16="http://schemas.microsoft.com/office/drawing/2014/main" val="1774012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Kritieke verplaatsing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Faalkans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Betrouwbaarheidsindex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54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-0.18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2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0.24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2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-0.15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467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-0.10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-40.0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75319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A284989D-B137-5E5C-817B-5819924B0283}"/>
              </a:ext>
            </a:extLst>
          </p:cNvPr>
          <p:cNvSpPr/>
          <p:nvPr/>
        </p:nvSpPr>
        <p:spPr>
          <a:xfrm>
            <a:off x="1123090" y="3545588"/>
            <a:ext cx="8614875" cy="304800"/>
          </a:xfrm>
          <a:custGeom>
            <a:avLst/>
            <a:gdLst>
              <a:gd name="connsiteX0" fmla="*/ 0 w 8614875"/>
              <a:gd name="connsiteY0" fmla="*/ 0 h 304800"/>
              <a:gd name="connsiteX1" fmla="*/ 488176 w 8614875"/>
              <a:gd name="connsiteY1" fmla="*/ 0 h 304800"/>
              <a:gd name="connsiteX2" fmla="*/ 890204 w 8614875"/>
              <a:gd name="connsiteY2" fmla="*/ 0 h 304800"/>
              <a:gd name="connsiteX3" fmla="*/ 1464529 w 8614875"/>
              <a:gd name="connsiteY3" fmla="*/ 0 h 304800"/>
              <a:gd name="connsiteX4" fmla="*/ 1780408 w 8614875"/>
              <a:gd name="connsiteY4" fmla="*/ 0 h 304800"/>
              <a:gd name="connsiteX5" fmla="*/ 2182435 w 8614875"/>
              <a:gd name="connsiteY5" fmla="*/ 0 h 304800"/>
              <a:gd name="connsiteX6" fmla="*/ 2929057 w 8614875"/>
              <a:gd name="connsiteY6" fmla="*/ 0 h 304800"/>
              <a:gd name="connsiteX7" fmla="*/ 3503382 w 8614875"/>
              <a:gd name="connsiteY7" fmla="*/ 0 h 304800"/>
              <a:gd name="connsiteX8" fmla="*/ 3905410 w 8614875"/>
              <a:gd name="connsiteY8" fmla="*/ 0 h 304800"/>
              <a:gd name="connsiteX9" fmla="*/ 4221289 w 8614875"/>
              <a:gd name="connsiteY9" fmla="*/ 0 h 304800"/>
              <a:gd name="connsiteX10" fmla="*/ 4709465 w 8614875"/>
              <a:gd name="connsiteY10" fmla="*/ 0 h 304800"/>
              <a:gd name="connsiteX11" fmla="*/ 5283790 w 8614875"/>
              <a:gd name="connsiteY11" fmla="*/ 0 h 304800"/>
              <a:gd name="connsiteX12" fmla="*/ 5685817 w 8614875"/>
              <a:gd name="connsiteY12" fmla="*/ 0 h 304800"/>
              <a:gd name="connsiteX13" fmla="*/ 6432440 w 8614875"/>
              <a:gd name="connsiteY13" fmla="*/ 0 h 304800"/>
              <a:gd name="connsiteX14" fmla="*/ 6920616 w 8614875"/>
              <a:gd name="connsiteY14" fmla="*/ 0 h 304800"/>
              <a:gd name="connsiteX15" fmla="*/ 7408792 w 8614875"/>
              <a:gd name="connsiteY15" fmla="*/ 0 h 304800"/>
              <a:gd name="connsiteX16" fmla="*/ 7896969 w 8614875"/>
              <a:gd name="connsiteY16" fmla="*/ 0 h 304800"/>
              <a:gd name="connsiteX17" fmla="*/ 8614875 w 8614875"/>
              <a:gd name="connsiteY17" fmla="*/ 0 h 304800"/>
              <a:gd name="connsiteX18" fmla="*/ 8614875 w 8614875"/>
              <a:gd name="connsiteY18" fmla="*/ 304800 h 304800"/>
              <a:gd name="connsiteX19" fmla="*/ 8040550 w 8614875"/>
              <a:gd name="connsiteY19" fmla="*/ 304800 h 304800"/>
              <a:gd name="connsiteX20" fmla="*/ 7293928 w 8614875"/>
              <a:gd name="connsiteY20" fmla="*/ 304800 h 304800"/>
              <a:gd name="connsiteX21" fmla="*/ 6891900 w 8614875"/>
              <a:gd name="connsiteY21" fmla="*/ 304800 h 304800"/>
              <a:gd name="connsiteX22" fmla="*/ 6231426 w 8614875"/>
              <a:gd name="connsiteY22" fmla="*/ 304800 h 304800"/>
              <a:gd name="connsiteX23" fmla="*/ 5657101 w 8614875"/>
              <a:gd name="connsiteY23" fmla="*/ 304800 h 304800"/>
              <a:gd name="connsiteX24" fmla="*/ 4910479 w 8614875"/>
              <a:gd name="connsiteY24" fmla="*/ 304800 h 304800"/>
              <a:gd name="connsiteX25" fmla="*/ 4508451 w 8614875"/>
              <a:gd name="connsiteY25" fmla="*/ 304800 h 304800"/>
              <a:gd name="connsiteX26" fmla="*/ 3761829 w 8614875"/>
              <a:gd name="connsiteY26" fmla="*/ 304800 h 304800"/>
              <a:gd name="connsiteX27" fmla="*/ 3445950 w 8614875"/>
              <a:gd name="connsiteY27" fmla="*/ 304800 h 304800"/>
              <a:gd name="connsiteX28" fmla="*/ 2699328 w 8614875"/>
              <a:gd name="connsiteY28" fmla="*/ 304800 h 304800"/>
              <a:gd name="connsiteX29" fmla="*/ 1952705 w 8614875"/>
              <a:gd name="connsiteY29" fmla="*/ 304800 h 304800"/>
              <a:gd name="connsiteX30" fmla="*/ 1378380 w 8614875"/>
              <a:gd name="connsiteY30" fmla="*/ 304800 h 304800"/>
              <a:gd name="connsiteX31" fmla="*/ 976353 w 8614875"/>
              <a:gd name="connsiteY31" fmla="*/ 304800 h 304800"/>
              <a:gd name="connsiteX32" fmla="*/ 488176 w 8614875"/>
              <a:gd name="connsiteY32" fmla="*/ 304800 h 304800"/>
              <a:gd name="connsiteX33" fmla="*/ 0 w 8614875"/>
              <a:gd name="connsiteY33" fmla="*/ 304800 h 304800"/>
              <a:gd name="connsiteX34" fmla="*/ 0 w 8614875"/>
              <a:gd name="connsiteY3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614875" h="304800" extrusionOk="0">
                <a:moveTo>
                  <a:pt x="0" y="0"/>
                </a:moveTo>
                <a:cubicBezTo>
                  <a:pt x="144277" y="-6644"/>
                  <a:pt x="352376" y="54271"/>
                  <a:pt x="488176" y="0"/>
                </a:cubicBezTo>
                <a:cubicBezTo>
                  <a:pt x="623976" y="-54271"/>
                  <a:pt x="716988" y="40241"/>
                  <a:pt x="890204" y="0"/>
                </a:cubicBezTo>
                <a:cubicBezTo>
                  <a:pt x="1063420" y="-40241"/>
                  <a:pt x="1328977" y="3905"/>
                  <a:pt x="1464529" y="0"/>
                </a:cubicBezTo>
                <a:cubicBezTo>
                  <a:pt x="1600082" y="-3905"/>
                  <a:pt x="1676960" y="26526"/>
                  <a:pt x="1780408" y="0"/>
                </a:cubicBezTo>
                <a:cubicBezTo>
                  <a:pt x="1883856" y="-26526"/>
                  <a:pt x="2053939" y="9150"/>
                  <a:pt x="2182435" y="0"/>
                </a:cubicBezTo>
                <a:cubicBezTo>
                  <a:pt x="2310931" y="-9150"/>
                  <a:pt x="2623881" y="68367"/>
                  <a:pt x="2929057" y="0"/>
                </a:cubicBezTo>
                <a:cubicBezTo>
                  <a:pt x="3234233" y="-68367"/>
                  <a:pt x="3376348" y="14315"/>
                  <a:pt x="3503382" y="0"/>
                </a:cubicBezTo>
                <a:cubicBezTo>
                  <a:pt x="3630416" y="-14315"/>
                  <a:pt x="3708577" y="42212"/>
                  <a:pt x="3905410" y="0"/>
                </a:cubicBezTo>
                <a:cubicBezTo>
                  <a:pt x="4102243" y="-42212"/>
                  <a:pt x="4068091" y="438"/>
                  <a:pt x="4221289" y="0"/>
                </a:cubicBezTo>
                <a:cubicBezTo>
                  <a:pt x="4374487" y="-438"/>
                  <a:pt x="4521307" y="27959"/>
                  <a:pt x="4709465" y="0"/>
                </a:cubicBezTo>
                <a:cubicBezTo>
                  <a:pt x="4897623" y="-27959"/>
                  <a:pt x="5140746" y="20408"/>
                  <a:pt x="5283790" y="0"/>
                </a:cubicBezTo>
                <a:cubicBezTo>
                  <a:pt x="5426834" y="-20408"/>
                  <a:pt x="5595505" y="24633"/>
                  <a:pt x="5685817" y="0"/>
                </a:cubicBezTo>
                <a:cubicBezTo>
                  <a:pt x="5776129" y="-24633"/>
                  <a:pt x="6085257" y="55229"/>
                  <a:pt x="6432440" y="0"/>
                </a:cubicBezTo>
                <a:cubicBezTo>
                  <a:pt x="6779623" y="-55229"/>
                  <a:pt x="6735777" y="26512"/>
                  <a:pt x="6920616" y="0"/>
                </a:cubicBezTo>
                <a:cubicBezTo>
                  <a:pt x="7105455" y="-26512"/>
                  <a:pt x="7183624" y="13401"/>
                  <a:pt x="7408792" y="0"/>
                </a:cubicBezTo>
                <a:cubicBezTo>
                  <a:pt x="7633960" y="-13401"/>
                  <a:pt x="7720563" y="30215"/>
                  <a:pt x="7896969" y="0"/>
                </a:cubicBezTo>
                <a:cubicBezTo>
                  <a:pt x="8073375" y="-30215"/>
                  <a:pt x="8348543" y="84464"/>
                  <a:pt x="8614875" y="0"/>
                </a:cubicBezTo>
                <a:cubicBezTo>
                  <a:pt x="8630610" y="78841"/>
                  <a:pt x="8605101" y="172418"/>
                  <a:pt x="8614875" y="304800"/>
                </a:cubicBezTo>
                <a:cubicBezTo>
                  <a:pt x="8478088" y="367983"/>
                  <a:pt x="8313452" y="252003"/>
                  <a:pt x="8040550" y="304800"/>
                </a:cubicBezTo>
                <a:cubicBezTo>
                  <a:pt x="7767649" y="357597"/>
                  <a:pt x="7506175" y="215367"/>
                  <a:pt x="7293928" y="304800"/>
                </a:cubicBezTo>
                <a:cubicBezTo>
                  <a:pt x="7081681" y="394233"/>
                  <a:pt x="6978039" y="292650"/>
                  <a:pt x="6891900" y="304800"/>
                </a:cubicBezTo>
                <a:cubicBezTo>
                  <a:pt x="6805761" y="316950"/>
                  <a:pt x="6531894" y="282119"/>
                  <a:pt x="6231426" y="304800"/>
                </a:cubicBezTo>
                <a:cubicBezTo>
                  <a:pt x="5930958" y="327481"/>
                  <a:pt x="5792527" y="249345"/>
                  <a:pt x="5657101" y="304800"/>
                </a:cubicBezTo>
                <a:cubicBezTo>
                  <a:pt x="5521676" y="360255"/>
                  <a:pt x="5201890" y="287167"/>
                  <a:pt x="4910479" y="304800"/>
                </a:cubicBezTo>
                <a:cubicBezTo>
                  <a:pt x="4619068" y="322433"/>
                  <a:pt x="4660452" y="264769"/>
                  <a:pt x="4508451" y="304800"/>
                </a:cubicBezTo>
                <a:cubicBezTo>
                  <a:pt x="4356450" y="344831"/>
                  <a:pt x="4119813" y="237483"/>
                  <a:pt x="3761829" y="304800"/>
                </a:cubicBezTo>
                <a:cubicBezTo>
                  <a:pt x="3403845" y="372117"/>
                  <a:pt x="3569663" y="293088"/>
                  <a:pt x="3445950" y="304800"/>
                </a:cubicBezTo>
                <a:cubicBezTo>
                  <a:pt x="3322237" y="316512"/>
                  <a:pt x="3059662" y="276256"/>
                  <a:pt x="2699328" y="304800"/>
                </a:cubicBezTo>
                <a:cubicBezTo>
                  <a:pt x="2338994" y="333344"/>
                  <a:pt x="2293979" y="263047"/>
                  <a:pt x="1952705" y="304800"/>
                </a:cubicBezTo>
                <a:cubicBezTo>
                  <a:pt x="1611431" y="346553"/>
                  <a:pt x="1509612" y="251757"/>
                  <a:pt x="1378380" y="304800"/>
                </a:cubicBezTo>
                <a:cubicBezTo>
                  <a:pt x="1247149" y="357843"/>
                  <a:pt x="1142319" y="288662"/>
                  <a:pt x="976353" y="304800"/>
                </a:cubicBezTo>
                <a:cubicBezTo>
                  <a:pt x="810387" y="320938"/>
                  <a:pt x="716184" y="282934"/>
                  <a:pt x="488176" y="304800"/>
                </a:cubicBezTo>
                <a:cubicBezTo>
                  <a:pt x="260168" y="326666"/>
                  <a:pt x="145214" y="263156"/>
                  <a:pt x="0" y="304800"/>
                </a:cubicBezTo>
                <a:cubicBezTo>
                  <a:pt x="-6435" y="236675"/>
                  <a:pt x="15890" y="96382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41452457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768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683C-83FD-F5E0-2EBF-5B119325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257C-0783-FEE7-AE93-E4192E08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Betrouwbaarheidsanalyse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36235-3517-86B2-50B1-11B1215B0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4" y="1740188"/>
            <a:ext cx="10512349" cy="4320000"/>
          </a:xfrm>
        </p:spPr>
        <p:txBody>
          <a:bodyPr/>
          <a:lstStyle/>
          <a:p>
            <a:r>
              <a:rPr lang="nl-NL" dirty="0"/>
              <a:t>Kritieke verplaatsing = -0.18 m: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3FBAA-DD0A-3A73-44BD-B8CD22CB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FEBF-786F-292E-0F20-212B8B9E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E21D4-874E-93F3-C1EE-AD3E84C2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11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196104-64ED-9437-F548-48C726147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545744"/>
            <a:ext cx="5671776" cy="2925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82CAC8-8A91-9E20-D9B1-478D56C33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920" y="2396376"/>
            <a:ext cx="4735213" cy="322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43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47ABA-0C9D-FC5D-E220-13E8C5697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1D66-A720-7A4B-317A-93C836F1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Betrouwbaarheidsanalyse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57A2-CCAF-07AC-8E81-84D079A7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4" y="1740188"/>
            <a:ext cx="10512349" cy="4320000"/>
          </a:xfrm>
        </p:spPr>
        <p:txBody>
          <a:bodyPr/>
          <a:lstStyle/>
          <a:p>
            <a:r>
              <a:rPr lang="nl-NL" dirty="0"/>
              <a:t>Faalkans voor het maximale buigmoment, FORM:</a:t>
            </a:r>
          </a:p>
          <a:p>
            <a:pPr marL="342900" indent="-342900">
              <a:buFont typeface="+mj-lt"/>
              <a:buAutoNum type="arabicPeriod"/>
            </a:pP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D883C-253E-F85E-C2C6-47A75BB0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246BE-FD4E-384B-50BA-92D3B112D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21212-7F8B-F8CD-34EF-56E91AF8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12</a:t>
            </a:fld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A6CE48-CD2A-1EAB-3ECA-5B245B29DF7D}"/>
                  </a:ext>
                </a:extLst>
              </p:cNvPr>
              <p:cNvSpPr txBox="1"/>
              <p:nvPr/>
            </p:nvSpPr>
            <p:spPr>
              <a:xfrm>
                <a:off x="1004962" y="2299564"/>
                <a:ext cx="7950445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𝑏𝑒𝑛𝑑𝑖𝑛𝑔</m:t>
                          </m:r>
                        </m:sub>
                      </m:sSub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&lt;0)=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𝑐𝑟𝑖𝑡𝑖𝑐𝑎𝑙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𝑏𝑒𝑛𝑑𝑖𝑛𝑔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𝑚𝑜𝑚𝑒𝑛𝑡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𝑚𝑎𝑥𝑖𝑚𝑎𝑙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𝑏𝑒𝑛𝑑𝑖𝑛𝑔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𝑚𝑜𝑚𝑒𝑛𝑡</m:t>
                      </m:r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A6CE48-CD2A-1EAB-3ECA-5B245B29D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962" y="2299564"/>
                <a:ext cx="7950445" cy="299569"/>
              </a:xfrm>
              <a:prstGeom prst="rect">
                <a:avLst/>
              </a:prstGeom>
              <a:blipFill>
                <a:blip r:embed="rId2"/>
                <a:stretch>
                  <a:fillRect r="-383" b="-3061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6CFE28-4CCC-9897-7A15-590ECE661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68461"/>
              </p:ext>
            </p:extLst>
          </p:nvPr>
        </p:nvGraphicFramePr>
        <p:xfrm>
          <a:off x="1117600" y="3158508"/>
          <a:ext cx="894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1075">
                  <a:extLst>
                    <a:ext uri="{9D8B030D-6E8A-4147-A177-3AD203B41FA5}">
                      <a16:colId xmlns:a16="http://schemas.microsoft.com/office/drawing/2014/main" val="2781947665"/>
                    </a:ext>
                  </a:extLst>
                </a:gridCol>
                <a:gridCol w="2439458">
                  <a:extLst>
                    <a:ext uri="{9D8B030D-6E8A-4147-A177-3AD203B41FA5}">
                      <a16:colId xmlns:a16="http://schemas.microsoft.com/office/drawing/2014/main" val="1422021900"/>
                    </a:ext>
                  </a:extLst>
                </a:gridCol>
                <a:gridCol w="2980267">
                  <a:extLst>
                    <a:ext uri="{9D8B030D-6E8A-4147-A177-3AD203B41FA5}">
                      <a16:colId xmlns:a16="http://schemas.microsoft.com/office/drawing/2014/main" val="1774012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Kritiek buigmoment [Nm]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Faalkans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Betrouwbaarheidsindex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54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2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2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1.35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46707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FEAAD87-205D-B20B-4E14-EB20AC3C8AC7}"/>
              </a:ext>
            </a:extLst>
          </p:cNvPr>
          <p:cNvSpPr/>
          <p:nvPr/>
        </p:nvSpPr>
        <p:spPr>
          <a:xfrm>
            <a:off x="1257300" y="4295775"/>
            <a:ext cx="8601075" cy="346093"/>
          </a:xfrm>
          <a:custGeom>
            <a:avLst/>
            <a:gdLst>
              <a:gd name="connsiteX0" fmla="*/ 0 w 8601075"/>
              <a:gd name="connsiteY0" fmla="*/ 0 h 346093"/>
              <a:gd name="connsiteX1" fmla="*/ 315373 w 8601075"/>
              <a:gd name="connsiteY1" fmla="*/ 0 h 346093"/>
              <a:gd name="connsiteX2" fmla="*/ 974789 w 8601075"/>
              <a:gd name="connsiteY2" fmla="*/ 0 h 346093"/>
              <a:gd name="connsiteX3" fmla="*/ 1548194 w 8601075"/>
              <a:gd name="connsiteY3" fmla="*/ 0 h 346093"/>
              <a:gd name="connsiteX4" fmla="*/ 2293620 w 8601075"/>
              <a:gd name="connsiteY4" fmla="*/ 0 h 346093"/>
              <a:gd name="connsiteX5" fmla="*/ 2695004 w 8601075"/>
              <a:gd name="connsiteY5" fmla="*/ 0 h 346093"/>
              <a:gd name="connsiteX6" fmla="*/ 3010376 w 8601075"/>
              <a:gd name="connsiteY6" fmla="*/ 0 h 346093"/>
              <a:gd name="connsiteX7" fmla="*/ 3411760 w 8601075"/>
              <a:gd name="connsiteY7" fmla="*/ 0 h 346093"/>
              <a:gd name="connsiteX8" fmla="*/ 3813143 w 8601075"/>
              <a:gd name="connsiteY8" fmla="*/ 0 h 346093"/>
              <a:gd name="connsiteX9" fmla="*/ 4558570 w 8601075"/>
              <a:gd name="connsiteY9" fmla="*/ 0 h 346093"/>
              <a:gd name="connsiteX10" fmla="*/ 5131975 w 8601075"/>
              <a:gd name="connsiteY10" fmla="*/ 0 h 346093"/>
              <a:gd name="connsiteX11" fmla="*/ 5533358 w 8601075"/>
              <a:gd name="connsiteY11" fmla="*/ 0 h 346093"/>
              <a:gd name="connsiteX12" fmla="*/ 6192774 w 8601075"/>
              <a:gd name="connsiteY12" fmla="*/ 0 h 346093"/>
              <a:gd name="connsiteX13" fmla="*/ 6594157 w 8601075"/>
              <a:gd name="connsiteY13" fmla="*/ 0 h 346093"/>
              <a:gd name="connsiteX14" fmla="*/ 6995541 w 8601075"/>
              <a:gd name="connsiteY14" fmla="*/ 0 h 346093"/>
              <a:gd name="connsiteX15" fmla="*/ 7740967 w 8601075"/>
              <a:gd name="connsiteY15" fmla="*/ 0 h 346093"/>
              <a:gd name="connsiteX16" fmla="*/ 8601075 w 8601075"/>
              <a:gd name="connsiteY16" fmla="*/ 0 h 346093"/>
              <a:gd name="connsiteX17" fmla="*/ 8601075 w 8601075"/>
              <a:gd name="connsiteY17" fmla="*/ 346093 h 346093"/>
              <a:gd name="connsiteX18" fmla="*/ 8027670 w 8601075"/>
              <a:gd name="connsiteY18" fmla="*/ 346093 h 346093"/>
              <a:gd name="connsiteX19" fmla="*/ 7540276 w 8601075"/>
              <a:gd name="connsiteY19" fmla="*/ 346093 h 346093"/>
              <a:gd name="connsiteX20" fmla="*/ 7224903 w 8601075"/>
              <a:gd name="connsiteY20" fmla="*/ 346093 h 346093"/>
              <a:gd name="connsiteX21" fmla="*/ 6737509 w 8601075"/>
              <a:gd name="connsiteY21" fmla="*/ 346093 h 346093"/>
              <a:gd name="connsiteX22" fmla="*/ 6422136 w 8601075"/>
              <a:gd name="connsiteY22" fmla="*/ 346093 h 346093"/>
              <a:gd name="connsiteX23" fmla="*/ 6106763 w 8601075"/>
              <a:gd name="connsiteY23" fmla="*/ 346093 h 346093"/>
              <a:gd name="connsiteX24" fmla="*/ 5791391 w 8601075"/>
              <a:gd name="connsiteY24" fmla="*/ 346093 h 346093"/>
              <a:gd name="connsiteX25" fmla="*/ 5217986 w 8601075"/>
              <a:gd name="connsiteY25" fmla="*/ 346093 h 346093"/>
              <a:gd name="connsiteX26" fmla="*/ 4472559 w 8601075"/>
              <a:gd name="connsiteY26" fmla="*/ 346093 h 346093"/>
              <a:gd name="connsiteX27" fmla="*/ 4157186 w 8601075"/>
              <a:gd name="connsiteY27" fmla="*/ 346093 h 346093"/>
              <a:gd name="connsiteX28" fmla="*/ 3583781 w 8601075"/>
              <a:gd name="connsiteY28" fmla="*/ 346093 h 346093"/>
              <a:gd name="connsiteX29" fmla="*/ 2838355 w 8601075"/>
              <a:gd name="connsiteY29" fmla="*/ 346093 h 346093"/>
              <a:gd name="connsiteX30" fmla="*/ 2436971 w 8601075"/>
              <a:gd name="connsiteY30" fmla="*/ 346093 h 346093"/>
              <a:gd name="connsiteX31" fmla="*/ 2121599 w 8601075"/>
              <a:gd name="connsiteY31" fmla="*/ 346093 h 346093"/>
              <a:gd name="connsiteX32" fmla="*/ 1634204 w 8601075"/>
              <a:gd name="connsiteY32" fmla="*/ 346093 h 346093"/>
              <a:gd name="connsiteX33" fmla="*/ 974789 w 8601075"/>
              <a:gd name="connsiteY33" fmla="*/ 346093 h 346093"/>
              <a:gd name="connsiteX34" fmla="*/ 0 w 8601075"/>
              <a:gd name="connsiteY34" fmla="*/ 346093 h 346093"/>
              <a:gd name="connsiteX35" fmla="*/ 0 w 8601075"/>
              <a:gd name="connsiteY35" fmla="*/ 0 h 34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601075" h="346093" extrusionOk="0">
                <a:moveTo>
                  <a:pt x="0" y="0"/>
                </a:moveTo>
                <a:cubicBezTo>
                  <a:pt x="141396" y="-18702"/>
                  <a:pt x="237504" y="25287"/>
                  <a:pt x="315373" y="0"/>
                </a:cubicBezTo>
                <a:cubicBezTo>
                  <a:pt x="393242" y="-25287"/>
                  <a:pt x="671114" y="19766"/>
                  <a:pt x="974789" y="0"/>
                </a:cubicBezTo>
                <a:cubicBezTo>
                  <a:pt x="1278464" y="-19766"/>
                  <a:pt x="1412778" y="46679"/>
                  <a:pt x="1548194" y="0"/>
                </a:cubicBezTo>
                <a:cubicBezTo>
                  <a:pt x="1683610" y="-46679"/>
                  <a:pt x="2037756" y="44465"/>
                  <a:pt x="2293620" y="0"/>
                </a:cubicBezTo>
                <a:cubicBezTo>
                  <a:pt x="2549484" y="-44465"/>
                  <a:pt x="2522474" y="7384"/>
                  <a:pt x="2695004" y="0"/>
                </a:cubicBezTo>
                <a:cubicBezTo>
                  <a:pt x="2867534" y="-7384"/>
                  <a:pt x="2934642" y="33262"/>
                  <a:pt x="3010376" y="0"/>
                </a:cubicBezTo>
                <a:cubicBezTo>
                  <a:pt x="3086110" y="-33262"/>
                  <a:pt x="3279149" y="10422"/>
                  <a:pt x="3411760" y="0"/>
                </a:cubicBezTo>
                <a:cubicBezTo>
                  <a:pt x="3544371" y="-10422"/>
                  <a:pt x="3729325" y="21941"/>
                  <a:pt x="3813143" y="0"/>
                </a:cubicBezTo>
                <a:cubicBezTo>
                  <a:pt x="3896961" y="-21941"/>
                  <a:pt x="4377620" y="24170"/>
                  <a:pt x="4558570" y="0"/>
                </a:cubicBezTo>
                <a:cubicBezTo>
                  <a:pt x="4739520" y="-24170"/>
                  <a:pt x="4892288" y="1808"/>
                  <a:pt x="5131975" y="0"/>
                </a:cubicBezTo>
                <a:cubicBezTo>
                  <a:pt x="5371662" y="-1808"/>
                  <a:pt x="5363283" y="13257"/>
                  <a:pt x="5533358" y="0"/>
                </a:cubicBezTo>
                <a:cubicBezTo>
                  <a:pt x="5703433" y="-13257"/>
                  <a:pt x="5993618" y="46045"/>
                  <a:pt x="6192774" y="0"/>
                </a:cubicBezTo>
                <a:cubicBezTo>
                  <a:pt x="6391930" y="-46045"/>
                  <a:pt x="6453868" y="35052"/>
                  <a:pt x="6594157" y="0"/>
                </a:cubicBezTo>
                <a:cubicBezTo>
                  <a:pt x="6734446" y="-35052"/>
                  <a:pt x="6886663" y="6126"/>
                  <a:pt x="6995541" y="0"/>
                </a:cubicBezTo>
                <a:cubicBezTo>
                  <a:pt x="7104419" y="-6126"/>
                  <a:pt x="7557679" y="27827"/>
                  <a:pt x="7740967" y="0"/>
                </a:cubicBezTo>
                <a:cubicBezTo>
                  <a:pt x="7924255" y="-27827"/>
                  <a:pt x="8306001" y="74010"/>
                  <a:pt x="8601075" y="0"/>
                </a:cubicBezTo>
                <a:cubicBezTo>
                  <a:pt x="8624981" y="159227"/>
                  <a:pt x="8592910" y="258615"/>
                  <a:pt x="8601075" y="346093"/>
                </a:cubicBezTo>
                <a:cubicBezTo>
                  <a:pt x="8338855" y="411400"/>
                  <a:pt x="8312031" y="329288"/>
                  <a:pt x="8027670" y="346093"/>
                </a:cubicBezTo>
                <a:cubicBezTo>
                  <a:pt x="7743310" y="362898"/>
                  <a:pt x="7782272" y="308456"/>
                  <a:pt x="7540276" y="346093"/>
                </a:cubicBezTo>
                <a:cubicBezTo>
                  <a:pt x="7298280" y="383730"/>
                  <a:pt x="7307348" y="341225"/>
                  <a:pt x="7224903" y="346093"/>
                </a:cubicBezTo>
                <a:cubicBezTo>
                  <a:pt x="7142458" y="350961"/>
                  <a:pt x="6884207" y="329357"/>
                  <a:pt x="6737509" y="346093"/>
                </a:cubicBezTo>
                <a:cubicBezTo>
                  <a:pt x="6590811" y="362829"/>
                  <a:pt x="6553285" y="336420"/>
                  <a:pt x="6422136" y="346093"/>
                </a:cubicBezTo>
                <a:cubicBezTo>
                  <a:pt x="6290987" y="355766"/>
                  <a:pt x="6220905" y="320578"/>
                  <a:pt x="6106763" y="346093"/>
                </a:cubicBezTo>
                <a:cubicBezTo>
                  <a:pt x="5992621" y="371608"/>
                  <a:pt x="5926848" y="341527"/>
                  <a:pt x="5791391" y="346093"/>
                </a:cubicBezTo>
                <a:cubicBezTo>
                  <a:pt x="5655934" y="350659"/>
                  <a:pt x="5459350" y="322151"/>
                  <a:pt x="5217986" y="346093"/>
                </a:cubicBezTo>
                <a:cubicBezTo>
                  <a:pt x="4976622" y="370035"/>
                  <a:pt x="4753352" y="331174"/>
                  <a:pt x="4472559" y="346093"/>
                </a:cubicBezTo>
                <a:cubicBezTo>
                  <a:pt x="4191766" y="361012"/>
                  <a:pt x="4250818" y="323150"/>
                  <a:pt x="4157186" y="346093"/>
                </a:cubicBezTo>
                <a:cubicBezTo>
                  <a:pt x="4063554" y="369036"/>
                  <a:pt x="3786540" y="325947"/>
                  <a:pt x="3583781" y="346093"/>
                </a:cubicBezTo>
                <a:cubicBezTo>
                  <a:pt x="3381022" y="366239"/>
                  <a:pt x="3020507" y="283695"/>
                  <a:pt x="2838355" y="346093"/>
                </a:cubicBezTo>
                <a:cubicBezTo>
                  <a:pt x="2656203" y="408491"/>
                  <a:pt x="2555245" y="343981"/>
                  <a:pt x="2436971" y="346093"/>
                </a:cubicBezTo>
                <a:cubicBezTo>
                  <a:pt x="2318697" y="348205"/>
                  <a:pt x="2200994" y="312520"/>
                  <a:pt x="2121599" y="346093"/>
                </a:cubicBezTo>
                <a:cubicBezTo>
                  <a:pt x="2042204" y="379666"/>
                  <a:pt x="1818287" y="334836"/>
                  <a:pt x="1634204" y="346093"/>
                </a:cubicBezTo>
                <a:cubicBezTo>
                  <a:pt x="1450121" y="357350"/>
                  <a:pt x="1207341" y="297912"/>
                  <a:pt x="974789" y="346093"/>
                </a:cubicBezTo>
                <a:cubicBezTo>
                  <a:pt x="742237" y="394274"/>
                  <a:pt x="194987" y="278551"/>
                  <a:pt x="0" y="346093"/>
                </a:cubicBezTo>
                <a:cubicBezTo>
                  <a:pt x="-38112" y="233381"/>
                  <a:pt x="13016" y="120078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36317890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920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67555-35F4-2A11-76E4-603A10D2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E65C-311A-1448-D353-A1F8B987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Betrouwbaarheidsanalyse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63743-79A6-B99E-4881-1BCE52404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4" y="1740188"/>
            <a:ext cx="10512349" cy="4320000"/>
          </a:xfrm>
        </p:spPr>
        <p:txBody>
          <a:bodyPr/>
          <a:lstStyle/>
          <a:p>
            <a:r>
              <a:rPr lang="nl-NL" dirty="0"/>
              <a:t>Kritiek buigmoment = 40,000 Nm </a:t>
            </a:r>
          </a:p>
          <a:p>
            <a:pPr marL="342900" indent="-342900">
              <a:buFont typeface="+mj-lt"/>
              <a:buAutoNum type="arabicPeriod"/>
            </a:pP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47421-4FB2-F977-C391-21D78938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208F-C9F5-52B8-FA7B-D86C457C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9D7D3-F0AC-319A-49F0-B6E45CFD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13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580028-C41E-6003-27E7-E46427BC5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46" y="2542119"/>
            <a:ext cx="5511054" cy="3231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A827CC-A314-0695-29BE-BBB98B348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707" y="2473358"/>
            <a:ext cx="4904524" cy="3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8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D4AC-3FE1-547A-A83A-C9299A18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Betrouwbaarheidsanalyse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EA2F-9F5D-CA87-7AC9-FCDA901B7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Gecombineerde kans:</a:t>
            </a:r>
          </a:p>
          <a:p>
            <a:endParaRPr lang="nl-NL" dirty="0"/>
          </a:p>
          <a:p>
            <a:r>
              <a:rPr lang="nl-NL" dirty="0"/>
              <a:t>Kritieke verplaatsing = -0.18 m, kritiek buigmoment = 40,000 Nm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F4E8D-3567-64AD-8298-B7965F660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A8E79-7F85-834A-2C86-2A042B3F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99075-1544-8033-61D9-395915C6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14</a:t>
            </a:fld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09584D-0DC8-DB4C-2980-899DFD15CFAD}"/>
                  </a:ext>
                </a:extLst>
              </p:cNvPr>
              <p:cNvSpPr txBox="1"/>
              <p:nvPr/>
            </p:nvSpPr>
            <p:spPr>
              <a:xfrm>
                <a:off x="3405262" y="1721138"/>
                <a:ext cx="3704219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nl-NL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nl-NL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𝑑𝑖</m:t>
                              </m:r>
                              <m:r>
                                <a:rPr lang="nl-NL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nl-NL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𝑝𝑙𝑎𝑐𝑒𝑚𝑒𝑛𝑡</m:t>
                              </m:r>
                            </m:sub>
                          </m:sSub>
                          <m:r>
                            <a:rPr lang="nl-NL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𝑏𝑒𝑛𝑑𝑖𝑛𝑔</m:t>
                          </m:r>
                        </m:sub>
                      </m:sSub>
                      <m:r>
                        <a:rPr lang="nl-NL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&lt;0)</m:t>
                      </m:r>
                    </m:oMath>
                  </m:oMathPara>
                </a14:m>
                <a:endParaRPr lang="nl-NL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09584D-0DC8-DB4C-2980-899DFD15C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262" y="1721138"/>
                <a:ext cx="3704219" cy="299569"/>
              </a:xfrm>
              <a:prstGeom prst="rect">
                <a:avLst/>
              </a:prstGeom>
              <a:blipFill>
                <a:blip r:embed="rId2"/>
                <a:stretch>
                  <a:fillRect l="-988" r="-1812" b="-3061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AE3442E-D2EF-CB6A-B5F0-8A54F1B79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3988104"/>
                  </p:ext>
                </p:extLst>
              </p:nvPr>
            </p:nvGraphicFramePr>
            <p:xfrm>
              <a:off x="686294" y="3287718"/>
              <a:ext cx="10394950" cy="15340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93750">
                      <a:extLst>
                        <a:ext uri="{9D8B030D-6E8A-4147-A177-3AD203B41FA5}">
                          <a16:colId xmlns:a16="http://schemas.microsoft.com/office/drawing/2014/main" val="2781947665"/>
                        </a:ext>
                      </a:extLst>
                    </a:gridCol>
                    <a:gridCol w="3499436">
                      <a:extLst>
                        <a:ext uri="{9D8B030D-6E8A-4147-A177-3AD203B41FA5}">
                          <a16:colId xmlns:a16="http://schemas.microsoft.com/office/drawing/2014/main" val="1422021900"/>
                        </a:ext>
                      </a:extLst>
                    </a:gridCol>
                    <a:gridCol w="2801764">
                      <a:extLst>
                        <a:ext uri="{9D8B030D-6E8A-4147-A177-3AD203B41FA5}">
                          <a16:colId xmlns:a16="http://schemas.microsoft.com/office/drawing/2014/main" val="17740128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Faalkans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Betrouwbaarheidsindex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25409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𝑑𝑖𝑠𝑝𝑙𝑎𝑐𝑒𝑚𝑒𝑛𝑡</m:t>
                                    </m:r>
                                  </m:sub>
                                </m:s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&lt;0)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0.11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1.19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16237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𝑏𝑒𝑛𝑑𝑖𝑛𝑔</m:t>
                                    </m:r>
                                  </m:sub>
                                </m:s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&lt;0)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0.09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1.35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82447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𝑑𝑖𝑠𝑝𝑙𝑎𝑐𝑒𝑚𝑒𝑛𝑡</m:t>
                                    </m:r>
                                  </m:sub>
                                </m:s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&lt;0 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𝑜𝑟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𝑏𝑒𝑛𝑑𝑖𝑛𝑔</m:t>
                                    </m:r>
                                  </m:sub>
                                </m:s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&lt;0)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0.19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0.85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84670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AE3442E-D2EF-CB6A-B5F0-8A54F1B79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3988104"/>
                  </p:ext>
                </p:extLst>
              </p:nvPr>
            </p:nvGraphicFramePr>
            <p:xfrm>
              <a:off x="686294" y="3287718"/>
              <a:ext cx="10394950" cy="15340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93750">
                      <a:extLst>
                        <a:ext uri="{9D8B030D-6E8A-4147-A177-3AD203B41FA5}">
                          <a16:colId xmlns:a16="http://schemas.microsoft.com/office/drawing/2014/main" val="2781947665"/>
                        </a:ext>
                      </a:extLst>
                    </a:gridCol>
                    <a:gridCol w="3499436">
                      <a:extLst>
                        <a:ext uri="{9D8B030D-6E8A-4147-A177-3AD203B41FA5}">
                          <a16:colId xmlns:a16="http://schemas.microsoft.com/office/drawing/2014/main" val="1422021900"/>
                        </a:ext>
                      </a:extLst>
                    </a:gridCol>
                    <a:gridCol w="2801764">
                      <a:extLst>
                        <a:ext uri="{9D8B030D-6E8A-4147-A177-3AD203B41FA5}">
                          <a16:colId xmlns:a16="http://schemas.microsoft.com/office/drawing/2014/main" val="17740128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Faalkans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Betrouwbaarheidsindex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2540976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49" t="-104762" r="-154464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0.11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1.19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1623711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49" t="-201563" r="-154464" b="-1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0.09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1.35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8244781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49" t="-301563" r="-154464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0.19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/>
                            <a:t>0.85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84670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44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6FB1-2A0E-A63E-17F5-583F6B99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Betrouwbaarheidsanalyse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7D671-A722-91EB-6D18-E4675FC30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974" y="1623229"/>
            <a:ext cx="4864096" cy="4320000"/>
          </a:xfrm>
        </p:spPr>
        <p:txBody>
          <a:bodyPr/>
          <a:lstStyle/>
          <a:p>
            <a:r>
              <a:rPr lang="nl-NL" dirty="0"/>
              <a:t>Ontwerppunt</a:t>
            </a:r>
          </a:p>
          <a:p>
            <a:r>
              <a:rPr lang="nl-NL" dirty="0"/>
              <a:t>Totale verplaatsing in de x-richting, fase 3</a:t>
            </a:r>
          </a:p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C78D6-FD6B-08FB-77DF-27BF2037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D5825-9CAB-F76A-09E0-21A29D05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458BD-16CC-FEE9-CF9F-8486B01A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15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BB642B-6D4F-DDFB-E165-7D4F60DB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89"/>
          <a:stretch/>
        </p:blipFill>
        <p:spPr>
          <a:xfrm>
            <a:off x="4872459" y="1392750"/>
            <a:ext cx="6963567" cy="478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14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64CC-5AEA-357F-FA8A-67BD41ECF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Doe mee aan de workshop om 14:15 uur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025C5-E00C-8F6E-E0CD-5FA237B89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Leer hoe je de probabilistische bibliotheek vanuit Python gebruikt</a:t>
            </a:r>
          </a:p>
          <a:p>
            <a:endParaRPr lang="nl-NL" dirty="0"/>
          </a:p>
          <a:p>
            <a:r>
              <a:rPr lang="nl-NL" dirty="0"/>
              <a:t>Leer over de details van de probabilistische berekeningen met </a:t>
            </a:r>
            <a:r>
              <a:rPr lang="nl-NL" dirty="0" err="1"/>
              <a:t>Kratos</a:t>
            </a:r>
            <a:r>
              <a:rPr lang="nl-NL" dirty="0"/>
              <a:t> (damwand)</a:t>
            </a:r>
          </a:p>
          <a:p>
            <a:pPr lvl="1"/>
            <a:r>
              <a:rPr lang="nl-NL" dirty="0"/>
              <a:t>Inclusief voorbeeld bewezen sterkte</a:t>
            </a:r>
          </a:p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027C9-2D11-1D7C-8086-D3D0329B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4149-D769-B831-C838-8D04E4E0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236BF-7CE7-3A2C-D6BD-E3C83F26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8110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AD39-E9DA-FE63-1A88-D7D60B32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Workshop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5F8FE-A11C-ED0D-568F-8D9DB1E2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1D297-D895-3814-7B93-00D4B835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D8E11-03BE-7389-362B-1E233600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5414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E077-B27C-5318-B7A1-A6DAD1A41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Overzicht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934CD-04BD-3BCF-4B9C-FAFCE55B2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DEMO probabilistische bibliotheek (model in Python)</a:t>
            </a:r>
          </a:p>
          <a:p>
            <a:endParaRPr lang="nl-NL" dirty="0"/>
          </a:p>
          <a:p>
            <a:r>
              <a:rPr lang="nl-NL" dirty="0"/>
              <a:t>DEMO probabilistische berekeningen met </a:t>
            </a:r>
            <a:r>
              <a:rPr lang="nl-NL" dirty="0" err="1"/>
              <a:t>Kratos</a:t>
            </a:r>
            <a:r>
              <a:rPr lang="nl-NL" dirty="0"/>
              <a:t>, incl. bewezen sterkte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6E64F-A92B-8519-705A-63F48427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96454-D20D-CD1C-18EA-15849D62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72D62-85D2-C9EE-E44B-C6475874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732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6E02AE-39D4-86C0-C0D6-C9A80CA5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35A4-68E7-FF4B-9538-C2F4FC81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Bewezen sterkte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3B44A-2299-CADA-73EC-62A9493BE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9981781" cy="4320000"/>
          </a:xfrm>
        </p:spPr>
        <p:txBody>
          <a:bodyPr/>
          <a:lstStyle/>
          <a:p>
            <a:r>
              <a:rPr lang="nl-NL" dirty="0"/>
              <a:t>De dikte van de damwand neemt in de loop van de tijd af.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F35EC-2479-52BB-12FA-5DCCB20EF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CE926-11C6-3E3B-C333-8119524A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7AAC9-4C16-B951-5A44-8A611447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19</a:t>
            </a:fld>
            <a:endParaRPr lang="nl-NL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E4FD28-BE39-90AB-116C-AF89F865F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532582"/>
              </p:ext>
            </p:extLst>
          </p:nvPr>
        </p:nvGraphicFramePr>
        <p:xfrm>
          <a:off x="2431496" y="2488948"/>
          <a:ext cx="6978836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418">
                  <a:extLst>
                    <a:ext uri="{9D8B030D-6E8A-4147-A177-3AD203B41FA5}">
                      <a16:colId xmlns:a16="http://schemas.microsoft.com/office/drawing/2014/main" val="3227878487"/>
                    </a:ext>
                  </a:extLst>
                </a:gridCol>
                <a:gridCol w="3489418">
                  <a:extLst>
                    <a:ext uri="{9D8B030D-6E8A-4147-A177-3AD203B41FA5}">
                      <a16:colId xmlns:a16="http://schemas.microsoft.com/office/drawing/2014/main" val="1645708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Dikte damwand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Betrouwbaarheidsindex (totale verplaatsing)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135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17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687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850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94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664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618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F79D-344B-5447-2044-1D5C6438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Bewezen sterkte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0643A-F3D7-D819-D1EB-C8890A2B9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9981781" cy="4320000"/>
          </a:xfrm>
        </p:spPr>
        <p:txBody>
          <a:bodyPr/>
          <a:lstStyle/>
          <a:p>
            <a:r>
              <a:rPr lang="nl-NL" dirty="0"/>
              <a:t>De dikte van de damwand neemt in de loop van de tijd af.</a:t>
            </a:r>
            <a:endParaRPr lang="nl-NL" b="1" dirty="0"/>
          </a:p>
          <a:p>
            <a:endParaRPr lang="nl-NL" b="1" dirty="0"/>
          </a:p>
          <a:p>
            <a:r>
              <a:rPr lang="nl-NL" b="1" dirty="0"/>
              <a:t>Neem aan dat: </a:t>
            </a:r>
          </a:p>
          <a:p>
            <a:pPr lvl="1"/>
            <a:r>
              <a:rPr lang="nl-NL" dirty="0"/>
              <a:t>Dikte in 2025 = 0.025 m</a:t>
            </a:r>
          </a:p>
          <a:p>
            <a:pPr lvl="1"/>
            <a:r>
              <a:rPr lang="nl-NL" dirty="0"/>
              <a:t>Verwachte dikte in 2075 = 0.015 m</a:t>
            </a:r>
          </a:p>
          <a:p>
            <a:pPr lvl="1"/>
            <a:endParaRPr lang="nl-NL" dirty="0"/>
          </a:p>
          <a:p>
            <a:r>
              <a:rPr lang="nl-NL" b="1" dirty="0"/>
              <a:t>Bewezen sterkte:</a:t>
            </a:r>
            <a:r>
              <a:rPr lang="nl-NL" dirty="0"/>
              <a:t> we weten dat in 2025 de verplaatsing van de damwand de kritieke waarde van -0.18 m niet overschrijdt.</a:t>
            </a:r>
          </a:p>
          <a:p>
            <a:endParaRPr lang="nl-NL" dirty="0"/>
          </a:p>
          <a:p>
            <a:r>
              <a:rPr lang="nl-NL" b="1" dirty="0"/>
              <a:t>Vraag:</a:t>
            </a:r>
            <a:r>
              <a:rPr lang="nl-NL" dirty="0"/>
              <a:t> wat is de faalkans in 2075, gegeven dat de damwand in 2025 stabiel is?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592CE-DAAD-0E31-9A78-FCBF42E3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D03A9-59B2-1C29-EAAE-9673010D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0768-68FD-5808-E6DC-FBD76625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5368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EB0D-6A4A-6598-CB10-0AEEFACE9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9A1E-FED5-0207-5439-5C4B2AD44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Bewezen sterkte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3904-ED0A-03E9-A36E-E6D56EC6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u="sng" dirty="0"/>
              <a:t>A priori</a:t>
            </a:r>
            <a:r>
              <a:rPr lang="nl-NL" dirty="0"/>
              <a:t> faalkans in 2075, zonder aanvullende informatie: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u="sng" dirty="0"/>
              <a:t>Bewezen sterkte</a:t>
            </a:r>
            <a:r>
              <a:rPr lang="nl-NL" dirty="0"/>
              <a:t> kans in 2025: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u="sng" dirty="0"/>
              <a:t>A posteriori</a:t>
            </a:r>
            <a:r>
              <a:rPr lang="nl-NL" dirty="0"/>
              <a:t> faalkans in 2075, inclusief bewezen sterkte: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Bayesian</a:t>
            </a:r>
            <a:r>
              <a:rPr lang="nl-NL" dirty="0"/>
              <a:t> updating: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6C7A-DA7C-F595-5200-79E455DE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FCAB7-233B-6577-B002-336AFFF7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238F8-5AB9-33A7-80BD-184EE193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21</a:t>
            </a:fld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94963F-9A54-101E-A5D6-9773B7043D55}"/>
                  </a:ext>
                </a:extLst>
              </p:cNvPr>
              <p:cNvSpPr txBox="1"/>
              <p:nvPr/>
            </p:nvSpPr>
            <p:spPr>
              <a:xfrm>
                <a:off x="1058942" y="2246493"/>
                <a:ext cx="287989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𝑑𝑖𝑠𝑝𝑙𝑎𝑐𝑒𝑚𝑒𝑛𝑡</m:t>
                          </m:r>
                        </m:sub>
                      </m:sSub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 2075&lt;0)</m:t>
                      </m:r>
                    </m:oMath>
                  </m:oMathPara>
                </a14:m>
                <a:endParaRPr lang="nl-NL" dirty="0">
                  <a:solidFill>
                    <a:srgbClr val="0D38E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94963F-9A54-101E-A5D6-9773B7043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42" y="2246493"/>
                <a:ext cx="2879891" cy="298415"/>
              </a:xfrm>
              <a:prstGeom prst="rect">
                <a:avLst/>
              </a:prstGeom>
              <a:blipFill>
                <a:blip r:embed="rId2"/>
                <a:stretch>
                  <a:fillRect l="-1483" t="-2083" r="-2331" b="-291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70DC51-D8FC-51C3-81D0-2A35B694B2AF}"/>
                  </a:ext>
                </a:extLst>
              </p:cNvPr>
              <p:cNvSpPr txBox="1"/>
              <p:nvPr/>
            </p:nvSpPr>
            <p:spPr>
              <a:xfrm>
                <a:off x="1058942" y="3429000"/>
                <a:ext cx="287989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𝑑𝑖𝑠𝑝𝑙𝑎𝑐𝑒𝑚𝑒𝑛𝑡</m:t>
                          </m:r>
                        </m:sub>
                      </m:sSub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 2025&gt;0)</m:t>
                      </m:r>
                    </m:oMath>
                  </m:oMathPara>
                </a14:m>
                <a:endParaRPr lang="nl-NL" dirty="0">
                  <a:solidFill>
                    <a:srgbClr val="0D38E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70DC51-D8FC-51C3-81D0-2A35B694B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42" y="3429000"/>
                <a:ext cx="2879891" cy="298415"/>
              </a:xfrm>
              <a:prstGeom prst="rect">
                <a:avLst/>
              </a:prstGeom>
              <a:blipFill>
                <a:blip r:embed="rId3"/>
                <a:stretch>
                  <a:fillRect l="-1483" t="-2083" r="-2331" b="-2708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E08453-8989-1F16-4602-6F95320D7FB7}"/>
                  </a:ext>
                </a:extLst>
              </p:cNvPr>
              <p:cNvSpPr txBox="1"/>
              <p:nvPr/>
            </p:nvSpPr>
            <p:spPr>
              <a:xfrm>
                <a:off x="1058942" y="4500810"/>
                <a:ext cx="5486823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b="0" i="1" smtClean="0">
                                  <a:solidFill>
                                    <a:srgbClr val="0D38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b="0" i="1" smtClean="0">
                                  <a:solidFill>
                                    <a:srgbClr val="0D38E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nl-NL" b="0" i="1" smtClean="0">
                                  <a:solidFill>
                                    <a:srgbClr val="0D38E0"/>
                                  </a:solidFill>
                                  <a:latin typeface="Cambria Math" panose="02040503050406030204" pitchFamily="18" charset="0"/>
                                </a:rPr>
                                <m:t>𝑑𝑖𝑠𝑝𝑙𝑎𝑐𝑒𝑚𝑒𝑛𝑡</m:t>
                              </m:r>
                            </m:sub>
                          </m:sSub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 2075&lt;0 </m:t>
                          </m:r>
                        </m:e>
                      </m:d>
                      <m:sSub>
                        <m:sSubPr>
                          <m:ctrlP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𝑑𝑖𝑠𝑝𝑙𝑎𝑐𝑒𝑚𝑒𝑛𝑡</m:t>
                          </m:r>
                        </m:sub>
                      </m:sSub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 2025&gt;0)</m:t>
                      </m:r>
                    </m:oMath>
                  </m:oMathPara>
                </a14:m>
                <a:endParaRPr lang="nl-NL" dirty="0">
                  <a:solidFill>
                    <a:srgbClr val="0D38E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E08453-8989-1F16-4602-6F95320D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42" y="4500810"/>
                <a:ext cx="5486823" cy="318164"/>
              </a:xfrm>
              <a:prstGeom prst="rect">
                <a:avLst/>
              </a:prstGeom>
              <a:blipFill>
                <a:blip r:embed="rId4"/>
                <a:stretch>
                  <a:fillRect l="-444" r="-1000" b="-2264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F41A8A-B5D5-A1F5-1739-9BECE0580007}"/>
                  </a:ext>
                </a:extLst>
              </p:cNvPr>
              <p:cNvSpPr txBox="1"/>
              <p:nvPr/>
            </p:nvSpPr>
            <p:spPr>
              <a:xfrm>
                <a:off x="1058942" y="5643564"/>
                <a:ext cx="863800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𝑑𝑖𝑠𝑝𝑙𝑎𝑐𝑒𝑚𝑒𝑛𝑡</m:t>
                          </m:r>
                        </m:sub>
                      </m:sSub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 2075&lt;0 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𝑑𝑖𝑠𝑝𝑙𝑎𝑐𝑒𝑚𝑒𝑛𝑡</m:t>
                          </m:r>
                        </m:sub>
                      </m:sSub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 2025&gt;0)/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nl-NL" b="0" i="1" smtClean="0">
                              <a:solidFill>
                                <a:srgbClr val="0D38E0"/>
                              </a:solidFill>
                              <a:latin typeface="Cambria Math" panose="02040503050406030204" pitchFamily="18" charset="0"/>
                            </a:rPr>
                            <m:t>𝑑𝑖𝑠𝑝𝑙𝑎𝑐𝑒𝑚𝑒𝑛𝑡</m:t>
                          </m:r>
                        </m:sub>
                      </m:sSub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nl-NL" b="0" i="1" smtClean="0">
                          <a:solidFill>
                            <a:srgbClr val="0D38E0"/>
                          </a:solidFill>
                          <a:latin typeface="Cambria Math" panose="02040503050406030204" pitchFamily="18" charset="0"/>
                        </a:rPr>
                        <m:t> 2025&gt;0)</m:t>
                      </m:r>
                    </m:oMath>
                  </m:oMathPara>
                </a14:m>
                <a:endParaRPr lang="nl-NL" dirty="0">
                  <a:solidFill>
                    <a:srgbClr val="0D38E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F41A8A-B5D5-A1F5-1739-9BECE0580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42" y="5643564"/>
                <a:ext cx="8638006" cy="298415"/>
              </a:xfrm>
              <a:prstGeom prst="rect">
                <a:avLst/>
              </a:prstGeom>
              <a:blipFill>
                <a:blip r:embed="rId5"/>
                <a:stretch>
                  <a:fillRect l="-141" r="-423" b="-2653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727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87E3-11E8-6DBC-6049-EA9F057C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9276F-8C43-B875-1E94-6EF608F0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Bewezen sterkte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CFECD-80B4-BFEB-87E3-72BCC76D2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7CDF5-CF4A-F508-1EB2-BEE54E18B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EB910-E0D0-94D5-90A7-A220109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22</a:t>
            </a:fld>
            <a:endParaRPr lang="nl-NL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89DEB28-7B77-78D1-1F35-405BED933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195323"/>
              </p:ext>
            </p:extLst>
          </p:nvPr>
        </p:nvGraphicFramePr>
        <p:xfrm>
          <a:off x="416459" y="1574800"/>
          <a:ext cx="109240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2080">
                  <a:extLst>
                    <a:ext uri="{9D8B030D-6E8A-4147-A177-3AD203B41FA5}">
                      <a16:colId xmlns:a16="http://schemas.microsoft.com/office/drawing/2014/main" val="2528922257"/>
                    </a:ext>
                  </a:extLst>
                </a:gridCol>
                <a:gridCol w="2472893">
                  <a:extLst>
                    <a:ext uri="{9D8B030D-6E8A-4147-A177-3AD203B41FA5}">
                      <a16:colId xmlns:a16="http://schemas.microsoft.com/office/drawing/2014/main" val="4123471549"/>
                    </a:ext>
                  </a:extLst>
                </a:gridCol>
                <a:gridCol w="3019039">
                  <a:extLst>
                    <a:ext uri="{9D8B030D-6E8A-4147-A177-3AD203B41FA5}">
                      <a16:colId xmlns:a16="http://schemas.microsoft.com/office/drawing/2014/main" val="91670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Stappen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Faalkans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Betrouwbaarheidsindex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53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 priori faalkans in 2075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683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Bewezen sterkte in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-1.16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244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Gecombineerde kans (a priori en waarneming)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0.0013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3.009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31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 posteriori faalkans in 2075 (</a:t>
                      </a:r>
                      <a:r>
                        <a:rPr lang="it-IT" dirty="0" err="1"/>
                        <a:t>Bayesian</a:t>
                      </a:r>
                      <a:r>
                        <a:rPr lang="it-IT" dirty="0"/>
                        <a:t>)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11187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1B30C64-86E7-4519-3B3F-64749B4B14C4}"/>
              </a:ext>
            </a:extLst>
          </p:cNvPr>
          <p:cNvSpPr txBox="1"/>
          <p:nvPr/>
        </p:nvSpPr>
        <p:spPr>
          <a:xfrm>
            <a:off x="416459" y="4157669"/>
            <a:ext cx="10557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Rekening houdend met de bewezen sterkte is de faalkans in 2075 gedaald van 0.098 naar 0.0015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9DD5A-4C8B-28B5-BDE9-69BB3B121D6B}"/>
              </a:ext>
            </a:extLst>
          </p:cNvPr>
          <p:cNvSpPr txBox="1"/>
          <p:nvPr/>
        </p:nvSpPr>
        <p:spPr>
          <a:xfrm>
            <a:off x="416459" y="4784228"/>
            <a:ext cx="10557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Aanname: Er treedt geen veroudering op in de grond- en damwandparameters</a:t>
            </a:r>
          </a:p>
        </p:txBody>
      </p:sp>
    </p:spTree>
    <p:extLst>
      <p:ext uri="{BB962C8B-B14F-4D97-AF65-F5344CB8AC3E}">
        <p14:creationId xmlns:p14="http://schemas.microsoft.com/office/powerpoint/2010/main" val="980719990"/>
      </p:ext>
    </p:extLst>
  </p:cSld>
  <p:clrMapOvr>
    <a:masterClrMapping/>
  </p:clrMapOvr>
</p:sld>
</file>

<file path=ppt/theme/theme1.xml><?xml version="1.0" encoding="utf-8"?>
<a:theme xmlns:a="http://schemas.openxmlformats.org/drawingml/2006/main" name="Deltares">
  <a:themeElements>
    <a:clrScheme name="Deltares">
      <a:dk1>
        <a:sysClr val="windowText" lastClr="000000"/>
      </a:dk1>
      <a:lt1>
        <a:sysClr val="window" lastClr="FFFFFF"/>
      </a:lt1>
      <a:dk2>
        <a:srgbClr val="080C80"/>
      </a:dk2>
      <a:lt2>
        <a:srgbClr val="F2F2F2"/>
      </a:lt2>
      <a:accent1>
        <a:srgbClr val="080C80"/>
      </a:accent1>
      <a:accent2>
        <a:srgbClr val="0D38E0"/>
      </a:accent2>
      <a:accent3>
        <a:srgbClr val="0EBBF0"/>
      </a:accent3>
      <a:accent4>
        <a:srgbClr val="00B389"/>
      </a:accent4>
      <a:accent5>
        <a:srgbClr val="00CC96"/>
      </a:accent5>
      <a:accent6>
        <a:srgbClr val="00E6A1"/>
      </a:accent6>
      <a:hlink>
        <a:srgbClr val="0D38E0"/>
      </a:hlink>
      <a:folHlink>
        <a:srgbClr val="7070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res - Sjabloon NL.potx" id="{B5042D55-6068-4240-A1FC-01315EC513B9}" vid="{8C6F3C8F-138B-4215-B743-53866FE2FE19}"/>
    </a:ext>
  </a:extLst>
</a:theme>
</file>

<file path=ppt/theme/theme2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ad17b3-d09a-4d17-9633-982b423f4fbc" xsi:nil="true"/>
    <lcf76f155ced4ddcb4097134ff3c332f xmlns="edd774d5-6d8f-4b83-b098-255576e86aa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31082E7F932F4895FF772473B30116" ma:contentTypeVersion="11" ma:contentTypeDescription="Create a new document." ma:contentTypeScope="" ma:versionID="c30b5a7ebc79a8ae4b5672261524501a">
  <xsd:schema xmlns:xsd="http://www.w3.org/2001/XMLSchema" xmlns:xs="http://www.w3.org/2001/XMLSchema" xmlns:p="http://schemas.microsoft.com/office/2006/metadata/properties" xmlns:ns2="edd774d5-6d8f-4b83-b098-255576e86aac" xmlns:ns3="dead17b3-d09a-4d17-9633-982b423f4fbc" targetNamespace="http://schemas.microsoft.com/office/2006/metadata/properties" ma:root="true" ma:fieldsID="d0c78e411dc013314e83d6c65decba18" ns2:_="" ns3:_="">
    <xsd:import namespace="edd774d5-6d8f-4b83-b098-255576e86aac"/>
    <xsd:import namespace="dead17b3-d09a-4d17-9633-982b423f4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d774d5-6d8f-4b83-b098-255576e86a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17baf08-8363-4953-80fd-ae870aee1c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ad17b3-d09a-4d17-9633-982b423f4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4005174-1b38-469c-8ebf-12a293d8c4c9}" ma:internalName="TaxCatchAll" ma:showField="CatchAllData" ma:web="dead17b3-d09a-4d17-9633-982b423f4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36F5E9-25BB-4734-86C2-FD32BCBA5C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338BAD-8BA4-4C42-A850-147A5D210631}">
  <ds:schemaRefs>
    <ds:schemaRef ds:uri="http://schemas.microsoft.com/office/2006/metadata/properties"/>
    <ds:schemaRef ds:uri="http://schemas.microsoft.com/office/infopath/2007/PartnerControls"/>
    <ds:schemaRef ds:uri="dead17b3-d09a-4d17-9633-982b423f4fbc"/>
    <ds:schemaRef ds:uri="edd774d5-6d8f-4b83-b098-255576e86aac"/>
  </ds:schemaRefs>
</ds:datastoreItem>
</file>

<file path=customXml/itemProps3.xml><?xml version="1.0" encoding="utf-8"?>
<ds:datastoreItem xmlns:ds="http://schemas.openxmlformats.org/officeDocument/2006/customXml" ds:itemID="{7B44D4F2-36BF-49E2-8330-5C01CEA3FA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d774d5-6d8f-4b83-b098-255576e86aac"/>
    <ds:schemaRef ds:uri="dead17b3-d09a-4d17-9633-982b423f4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Deltares - Sjabloon NL</Template>
  <TotalTime>1391</TotalTime>
  <Words>1003</Words>
  <Application>Microsoft Office PowerPoint</Application>
  <PresentationFormat>Widescreen</PresentationFormat>
  <Paragraphs>284</Paragraphs>
  <Slides>22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Cambria Math</vt:lpstr>
      <vt:lpstr>Wingdings</vt:lpstr>
      <vt:lpstr>Deltares</vt:lpstr>
      <vt:lpstr>Probabilistische damwand-analyse met Kratos</vt:lpstr>
      <vt:lpstr>Overzicht</vt:lpstr>
      <vt:lpstr>Doel</vt:lpstr>
      <vt:lpstr>Probabilistische bibliotheek en Kratos</vt:lpstr>
      <vt:lpstr>Damwand model</vt:lpstr>
      <vt:lpstr>Damwand model gekoppeld aan probabilistische bibliotheek</vt:lpstr>
      <vt:lpstr>Probabilistische berekeningen: input en output</vt:lpstr>
      <vt:lpstr>Onzekerheidsanalyse</vt:lpstr>
      <vt:lpstr>Betrouwbaarheidsanalyse</vt:lpstr>
      <vt:lpstr>Betrouwbaarheidsanalyse</vt:lpstr>
      <vt:lpstr>Betrouwbaarheidsanalyse</vt:lpstr>
      <vt:lpstr>Betrouwbaarheidsanalyse</vt:lpstr>
      <vt:lpstr>Betrouwbaarheidsanalyse</vt:lpstr>
      <vt:lpstr>Betrouwbaarheidsanalyse</vt:lpstr>
      <vt:lpstr>Betrouwbaarheidsanalyse</vt:lpstr>
      <vt:lpstr>Doe mee aan de workshop om 14:15 uur</vt:lpstr>
      <vt:lpstr>Workshop</vt:lpstr>
      <vt:lpstr>Overzicht</vt:lpstr>
      <vt:lpstr>Bewezen sterkte</vt:lpstr>
      <vt:lpstr>Bewezen sterkte</vt:lpstr>
      <vt:lpstr>Bewezen sterkte</vt:lpstr>
      <vt:lpstr>Bewezen sterkte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Karolina Wojciechowska</dc:creator>
  <dc:description>Template implementation by HQ Solutions B.V.</dc:description>
  <cp:lastModifiedBy>Karolina Wojciechowska</cp:lastModifiedBy>
  <cp:revision>47</cp:revision>
  <dcterms:created xsi:type="dcterms:W3CDTF">2025-06-05T04:42:54Z</dcterms:created>
  <dcterms:modified xsi:type="dcterms:W3CDTF">2025-06-18T07:20:55Z</dcterms:modified>
  <cp:version>1.0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0x0101000B31082E7F932F4895FF772473B30116</vt:lpwstr>
  </property>
  <property fmtid="{D5CDD505-2E9C-101B-9397-08002B2CF9AE}" pid="3" name="TaxKeyword">
    <vt:lpwstr/>
  </property>
</Properties>
</file>