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60" r:id="rId5"/>
    <p:sldId id="263" r:id="rId6"/>
    <p:sldId id="287" r:id="rId7"/>
    <p:sldId id="288" r:id="rId8"/>
    <p:sldId id="286" r:id="rId9"/>
    <p:sldId id="289" r:id="rId10"/>
    <p:sldId id="261" r:id="rId11"/>
    <p:sldId id="290" r:id="rId12"/>
    <p:sldId id="291" r:id="rId13"/>
    <p:sldId id="292" r:id="rId14"/>
    <p:sldId id="293" r:id="rId15"/>
    <p:sldId id="294" r:id="rId16"/>
    <p:sldId id="296" r:id="rId17"/>
    <p:sldId id="295" r:id="rId18"/>
    <p:sldId id="297" r:id="rId19"/>
    <p:sldId id="298" r:id="rId20"/>
    <p:sldId id="299" r:id="rId21"/>
    <p:sldId id="302" r:id="rId22"/>
    <p:sldId id="303" r:id="rId23"/>
    <p:sldId id="300" r:id="rId2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38E0"/>
    <a:srgbClr val="E6E6E6"/>
    <a:srgbClr val="FFFFFF"/>
    <a:srgbClr val="C0C0C0"/>
    <a:srgbClr val="707070"/>
    <a:srgbClr val="00B389"/>
    <a:srgbClr val="F1F3FD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929" autoAdjust="0"/>
    <p:restoredTop sz="94712" autoAdjust="0"/>
  </p:normalViewPr>
  <p:slideViewPr>
    <p:cSldViewPr snapToGrid="0" showGuides="1">
      <p:cViewPr varScale="1">
        <p:scale>
          <a:sx n="106" d="100"/>
          <a:sy n="106" d="100"/>
        </p:scale>
        <p:origin x="168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7" name="Ondertitel 6">
            <a:extLst>
              <a:ext uri="{FF2B5EF4-FFF2-40B4-BE49-F238E27FC236}">
                <a16:creationId xmlns:a16="http://schemas.microsoft.com/office/drawing/2014/main" id="{838C8FD7-55FC-4DBD-825A-309E45D663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94002" y="3854640"/>
            <a:ext cx="6002228" cy="676275"/>
          </a:xfrm>
        </p:spPr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Kratos</a:t>
            </a:r>
            <a:endParaRPr lang="nl-NL" dirty="0"/>
          </a:p>
          <a:p>
            <a:endParaRPr lang="nl-NL" dirty="0"/>
          </a:p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</a:t>
            </a:r>
          </a:p>
          <a:p>
            <a:endParaRPr lang="nl-NL" dirty="0"/>
          </a:p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Variables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</a:t>
            </a:r>
          </a:p>
          <a:p>
            <a:pPr lvl="1"/>
            <a:r>
              <a:rPr lang="nl-NL" dirty="0" err="1"/>
              <a:t>Reliability</a:t>
            </a:r>
            <a:r>
              <a:rPr lang="nl-NL" dirty="0"/>
              <a:t> analysis</a:t>
            </a:r>
          </a:p>
          <a:p>
            <a:pPr lvl="1"/>
            <a:r>
              <a:rPr lang="nl-NL" dirty="0"/>
              <a:t>Proven </a:t>
            </a:r>
            <a:r>
              <a:rPr lang="nl-NL" dirty="0" err="1"/>
              <a:t>strength</a:t>
            </a:r>
            <a:endParaRPr lang="nl-NL" dirty="0"/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It is </a:t>
            </a:r>
            <a:r>
              <a:rPr lang="nl-NL" dirty="0" err="1"/>
              <a:t>written</a:t>
            </a:r>
            <a:r>
              <a:rPr lang="nl-NL" dirty="0"/>
              <a:t> in C++</a:t>
            </a:r>
          </a:p>
          <a:p>
            <a:endParaRPr lang="nl-NL" dirty="0"/>
          </a:p>
          <a:p>
            <a:r>
              <a:rPr lang="en-GB" dirty="0">
                <a:latin typeface="Arial"/>
                <a:cs typeface="Arial"/>
              </a:rPr>
              <a:t>A Python wrapper and </a:t>
            </a:r>
            <a:r>
              <a:rPr lang="en-GB" dirty="0" err="1">
                <a:latin typeface="Arial"/>
                <a:cs typeface="Arial"/>
              </a:rPr>
              <a:t>.Net</a:t>
            </a:r>
            <a:r>
              <a:rPr lang="en-GB" dirty="0">
                <a:latin typeface="Arial"/>
                <a:cs typeface="Arial"/>
              </a:rPr>
              <a:t> wrapper are available</a:t>
            </a:r>
          </a:p>
          <a:p>
            <a:endParaRPr lang="en-GB" dirty="0">
              <a:latin typeface="Arial"/>
              <a:cs typeface="Arial"/>
            </a:endParaRPr>
          </a:p>
          <a:p>
            <a:r>
              <a:rPr lang="en-GB" dirty="0"/>
              <a:t>The library is thoroughly validated. Its algorithms are used for the safety assessment of primary flood defences in the Netherlands and within the Probabilistic Toolkit</a:t>
            </a:r>
          </a:p>
          <a:p>
            <a:endParaRPr lang="en-GB" dirty="0"/>
          </a:p>
          <a:p>
            <a:r>
              <a:rPr lang="en-GB" dirty="0"/>
              <a:t>Functionality: distribution functions, reliability analysis, uncertainty analysis</a:t>
            </a:r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A5556-8B82-854A-6735-961BAF02D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D78A6-70BD-9A5E-CE21-FDC3B1BF1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Kratos is an Open-Source framework for the implementation of numerical methods for the solution of engineering problems</a:t>
            </a:r>
          </a:p>
          <a:p>
            <a:endParaRPr lang="en-GB" dirty="0"/>
          </a:p>
          <a:p>
            <a:r>
              <a:rPr lang="en-GB" dirty="0"/>
              <a:t>It is written in C++</a:t>
            </a:r>
          </a:p>
          <a:p>
            <a:endParaRPr lang="en-GB" dirty="0"/>
          </a:p>
          <a:p>
            <a:r>
              <a:rPr lang="en-GB" dirty="0"/>
              <a:t>The Kratos features a "core" and "applications" approach where "standard tools" (databases, linear algebra, search structures, etc...) come as a part of the core and are available as building blocks in the development of "applications" which focus on the solution of the problems of interest.</a:t>
            </a:r>
          </a:p>
          <a:p>
            <a:endParaRPr lang="en-GB" dirty="0"/>
          </a:p>
          <a:p>
            <a:r>
              <a:rPr lang="en-GB" dirty="0"/>
              <a:t>In Deltares we have successfully implemented a several numerical geotechnical kernels using this Finite Element Framework, culminating in the </a:t>
            </a:r>
            <a:r>
              <a:rPr lang="en-GB" u="sng" dirty="0"/>
              <a:t>Geo-Mechanics Application</a:t>
            </a:r>
            <a:endParaRPr lang="nl-NL" u="sng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0477A-4E7B-E8FC-DE20-AB2F6FADF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BC800-7C66-6B95-F40F-011372CA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0E5CE-86F3-C214-425C-A9F36E489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3733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6932043" cy="4320000"/>
          </a:xfrm>
        </p:spPr>
        <p:txBody>
          <a:bodyPr/>
          <a:lstStyle/>
          <a:p>
            <a:r>
              <a:rPr lang="en-GB" noProof="0" dirty="0"/>
              <a:t>Stage 0: initial situation</a:t>
            </a:r>
          </a:p>
          <a:p>
            <a:r>
              <a:rPr lang="en-GB" noProof="0" dirty="0"/>
              <a:t>Stage 1: added sheet pile</a:t>
            </a:r>
          </a:p>
          <a:p>
            <a:r>
              <a:rPr lang="en-GB" noProof="0" dirty="0"/>
              <a:t>Stage 2: excavation</a:t>
            </a:r>
          </a:p>
          <a:p>
            <a:r>
              <a:rPr lang="en-GB" noProof="0" dirty="0"/>
              <a:t>Stage 3: added anker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68C83B-4451-518F-0C67-051501782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086" y="1477695"/>
            <a:ext cx="3612677" cy="36010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7D6ED5-3B34-3BB4-2950-0D400B0B4390}"/>
              </a:ext>
            </a:extLst>
          </p:cNvPr>
          <p:cNvSpPr txBox="1"/>
          <p:nvPr/>
        </p:nvSpPr>
        <p:spPr>
          <a:xfrm>
            <a:off x="9118591" y="450360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56BFDE-F3F2-670E-8383-2470BC7DA4E2}"/>
              </a:ext>
            </a:extLst>
          </p:cNvPr>
          <p:cNvSpPr txBox="1"/>
          <p:nvPr/>
        </p:nvSpPr>
        <p:spPr>
          <a:xfrm>
            <a:off x="8175815" y="3634047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220A98-D85C-C1D1-10F2-07FB97BA0B76}"/>
              </a:ext>
            </a:extLst>
          </p:cNvPr>
          <p:cNvSpPr txBox="1"/>
          <p:nvPr/>
        </p:nvSpPr>
        <p:spPr>
          <a:xfrm>
            <a:off x="9961436" y="3634047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5300F6-9665-C608-7E3B-8D2640EB6656}"/>
              </a:ext>
            </a:extLst>
          </p:cNvPr>
          <p:cNvSpPr txBox="1"/>
          <p:nvPr/>
        </p:nvSpPr>
        <p:spPr>
          <a:xfrm>
            <a:off x="8193921" y="278923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CD8B97-4646-FAE0-A604-5E3612D261AB}"/>
              </a:ext>
            </a:extLst>
          </p:cNvPr>
          <p:cNvSpPr txBox="1"/>
          <p:nvPr/>
        </p:nvSpPr>
        <p:spPr>
          <a:xfrm>
            <a:off x="9952383" y="276747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A7D34C-AA0C-FC08-7F21-074245C8CC8A}"/>
              </a:ext>
            </a:extLst>
          </p:cNvPr>
          <p:cNvSpPr txBox="1"/>
          <p:nvPr/>
        </p:nvSpPr>
        <p:spPr>
          <a:xfrm>
            <a:off x="9961436" y="210707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245CF-EBCE-034A-82A1-09EB18B6C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model is implemented in Kratos (linear)</a:t>
            </a:r>
          </a:p>
          <a:p>
            <a:endParaRPr lang="en-GB" dirty="0"/>
          </a:p>
          <a:p>
            <a:r>
              <a:rPr lang="en-GB" noProof="0" dirty="0"/>
              <a:t>Given input we can calculate the total displacement in the x-direction (maaiveld) and the maximum bending moment</a:t>
            </a:r>
          </a:p>
          <a:p>
            <a:endParaRPr lang="nl-NL" dirty="0"/>
          </a:p>
          <a:p>
            <a:r>
              <a:rPr lang="nl-NL" dirty="0"/>
              <a:t>Parameters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describe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soil</a:t>
            </a:r>
            <a:r>
              <a:rPr lang="nl-NL" dirty="0"/>
              <a:t> </a:t>
            </a:r>
            <a:r>
              <a:rPr lang="nl-NL" dirty="0" err="1"/>
              <a:t>properties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sheet </a:t>
            </a:r>
            <a:r>
              <a:rPr lang="nl-NL" dirty="0" err="1"/>
              <a:t>pile</a:t>
            </a:r>
            <a:r>
              <a:rPr lang="nl-NL" dirty="0"/>
              <a:t> are </a:t>
            </a:r>
            <a:r>
              <a:rPr lang="nl-NL" dirty="0" err="1"/>
              <a:t>uncertain</a:t>
            </a:r>
            <a:endParaRPr lang="nl-NL" dirty="0"/>
          </a:p>
          <a:p>
            <a:endParaRPr lang="nl-NL" dirty="0"/>
          </a:p>
          <a:p>
            <a:r>
              <a:rPr lang="en-GB" noProof="0" dirty="0"/>
              <a:t>Python wrapper around Kratos + Python wrapper of the probabilistic library </a:t>
            </a:r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Probabilistic calculations: variables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7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962745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Variable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Distribution type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Parameters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(clay)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5x10</a:t>
                      </a:r>
                      <a:r>
                        <a:rPr lang="en-GB" baseline="30000" dirty="0"/>
                        <a:t>6</a:t>
                      </a:r>
                      <a:r>
                        <a:rPr lang="en-GB" dirty="0"/>
                        <a:t> – 8x10</a:t>
                      </a:r>
                      <a:r>
                        <a:rPr lang="en-GB" baseline="30000" dirty="0"/>
                        <a:t>6</a:t>
                      </a:r>
                      <a:endParaRPr lang="nl-NL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(sand)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30x10</a:t>
                      </a:r>
                      <a:r>
                        <a:rPr lang="en-GB" baseline="30000" dirty="0"/>
                        <a:t>6</a:t>
                      </a:r>
                      <a:r>
                        <a:rPr lang="en-GB" dirty="0"/>
                        <a:t> – 50x10</a:t>
                      </a:r>
                      <a:r>
                        <a:rPr lang="en-GB" baseline="30000" dirty="0"/>
                        <a:t>6</a:t>
                      </a:r>
                      <a:endParaRPr lang="nl-NL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Interface </a:t>
                      </a:r>
                      <a:r>
                        <a:rPr lang="en-GB" noProof="0" dirty="0"/>
                        <a:t>stiffness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Deterministic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</a:t>
                      </a:r>
                      <a:r>
                        <a:rPr lang="nl-NL" baseline="3000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Young modulus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200x10</a:t>
                      </a:r>
                      <a:r>
                        <a:rPr lang="en-GB" baseline="30000" dirty="0"/>
                        <a:t>9</a:t>
                      </a:r>
                      <a:endParaRPr lang="nl-NL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Poisson ratio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thickness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0.02159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Input:</a:t>
            </a:r>
            <a:endParaRPr lang="nl-NL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6930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Output:</a:t>
            </a:r>
            <a:r>
              <a:rPr lang="en-GB" dirty="0"/>
              <a:t> total displacement x </a:t>
            </a:r>
            <a:r>
              <a:rPr lang="en-GB" u="sng" dirty="0"/>
              <a:t>(surface level)</a:t>
            </a:r>
            <a:r>
              <a:rPr lang="en-GB" dirty="0"/>
              <a:t>, max bending moment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D5D9-C4AC-9E1B-4478-72D0CDDC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uncertainty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35A-2ECA-2938-8B18-0FD54061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511588"/>
            <a:ext cx="10512349" cy="4320000"/>
          </a:xfrm>
        </p:spPr>
        <p:txBody>
          <a:bodyPr/>
          <a:lstStyle/>
          <a:p>
            <a:r>
              <a:rPr lang="nl-NL" dirty="0"/>
              <a:t>Total displacement in </a:t>
            </a:r>
            <a:r>
              <a:rPr lang="nl-NL" dirty="0" err="1"/>
              <a:t>the</a:t>
            </a:r>
            <a:r>
              <a:rPr lang="nl-NL" dirty="0"/>
              <a:t> x-</a:t>
            </a:r>
            <a:r>
              <a:rPr lang="nl-NL" dirty="0" err="1"/>
              <a:t>direction</a:t>
            </a:r>
            <a:r>
              <a:rPr lang="nl-NL" dirty="0"/>
              <a:t> (</a:t>
            </a:r>
            <a:r>
              <a:rPr lang="nl-NL" dirty="0" err="1"/>
              <a:t>surface</a:t>
            </a:r>
            <a:r>
              <a:rPr lang="nl-NL" dirty="0"/>
              <a:t> level)</a:t>
            </a:r>
          </a:p>
          <a:p>
            <a:r>
              <a:rPr lang="nl-NL" dirty="0" err="1"/>
              <a:t>Crude</a:t>
            </a:r>
            <a:r>
              <a:rPr lang="nl-NL" dirty="0"/>
              <a:t> Monte Carlo </a:t>
            </a:r>
            <a:r>
              <a:rPr lang="nl-NL" dirty="0" err="1"/>
              <a:t>with</a:t>
            </a:r>
            <a:r>
              <a:rPr lang="nl-NL" dirty="0"/>
              <a:t> 1000 samples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B9789-122D-7A8C-236B-62518BFEF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3ADB5-5B69-077E-4EBE-4D4D9A100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39AC0-6B39-2FEE-CBF0-A3DB58761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087F52-7949-A6BA-C02B-16B89F46F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525" y="2959431"/>
            <a:ext cx="4702086" cy="32817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76A59C-0F6A-41E8-F8BF-69C12F1A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2949906"/>
            <a:ext cx="4702086" cy="3285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7EC6C9-2F13-5E57-6ADC-70CD05F316AA}"/>
              </a:ext>
            </a:extLst>
          </p:cNvPr>
          <p:cNvSpPr txBox="1"/>
          <p:nvPr/>
        </p:nvSpPr>
        <p:spPr>
          <a:xfrm>
            <a:off x="2099253" y="2483697"/>
            <a:ext cx="2416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2 (</a:t>
            </a:r>
            <a:r>
              <a:rPr lang="nl-NL" b="1" dirty="0" err="1"/>
              <a:t>excavation</a:t>
            </a:r>
            <a:r>
              <a:rPr lang="nl-NL" b="1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7357053" y="2512603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3 (anker)</a:t>
            </a:r>
          </a:p>
        </p:txBody>
      </p:sp>
    </p:spTree>
    <p:extLst>
      <p:ext uri="{BB962C8B-B14F-4D97-AF65-F5344CB8AC3E}">
        <p14:creationId xmlns:p14="http://schemas.microsoft.com/office/powerpoint/2010/main" val="2909249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uncertainty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477695"/>
            <a:ext cx="10512349" cy="4320000"/>
          </a:xfrm>
        </p:spPr>
        <p:txBody>
          <a:bodyPr/>
          <a:lstStyle/>
          <a:p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</a:t>
            </a:r>
          </a:p>
          <a:p>
            <a:r>
              <a:rPr lang="nl-NL" dirty="0" err="1"/>
              <a:t>Crude</a:t>
            </a:r>
            <a:r>
              <a:rPr lang="nl-NL" dirty="0"/>
              <a:t> Monte Carlo </a:t>
            </a:r>
            <a:r>
              <a:rPr lang="nl-NL" dirty="0" err="1"/>
              <a:t>with</a:t>
            </a:r>
            <a:r>
              <a:rPr lang="nl-NL" dirty="0"/>
              <a:t> 1000 samples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313DFE-6C2D-2399-BCA3-91C32807E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72" y="2811880"/>
            <a:ext cx="5424734" cy="3576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FA873E-91C5-A387-A776-6DE0BAEE9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11880"/>
            <a:ext cx="6006852" cy="35114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F33280B-5CDA-7E53-2D01-76A356DC45F6}"/>
              </a:ext>
            </a:extLst>
          </p:cNvPr>
          <p:cNvSpPr txBox="1"/>
          <p:nvPr/>
        </p:nvSpPr>
        <p:spPr>
          <a:xfrm>
            <a:off x="2099253" y="2378922"/>
            <a:ext cx="2416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2 (</a:t>
            </a:r>
            <a:r>
              <a:rPr lang="nl-NL" b="1" dirty="0" err="1"/>
              <a:t>excavation</a:t>
            </a:r>
            <a:r>
              <a:rPr lang="nl-NL" b="1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8100003" y="24078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3 (anker)</a:t>
            </a:r>
          </a:p>
        </p:txBody>
      </p:sp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5B427-C659-4086-E469-AFB9C5D8F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2F3E-7531-4103-2D75-F75F55BC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Limit state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total</a:t>
            </a:r>
            <a:r>
              <a:rPr lang="nl-NL" dirty="0"/>
              <a:t> displacement in </a:t>
            </a:r>
            <a:r>
              <a:rPr lang="nl-NL" dirty="0" err="1"/>
              <a:t>the</a:t>
            </a:r>
            <a:r>
              <a:rPr lang="nl-NL" dirty="0"/>
              <a:t> x-</a:t>
            </a:r>
            <a:r>
              <a:rPr lang="nl-NL" dirty="0" err="1"/>
              <a:t>direction</a:t>
            </a:r>
            <a:r>
              <a:rPr lang="nl-NL" dirty="0"/>
              <a:t> (</a:t>
            </a:r>
            <a:r>
              <a:rPr lang="nl-NL" dirty="0" err="1"/>
              <a:t>surface</a:t>
            </a:r>
            <a:r>
              <a:rPr lang="nl-NL" dirty="0"/>
              <a:t> level): 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Limit state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056E6-318C-47BE-9F1A-CE8BE649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F3F1-5044-0817-1A63-2D3924623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D6065-1870-C739-1F3F-287F4A6E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B60E87-1A3B-7090-B6E1-ECD3B1A21BFB}"/>
                  </a:ext>
                </a:extLst>
              </p:cNvPr>
              <p:cNvSpPr txBox="1"/>
              <p:nvPr/>
            </p:nvSpPr>
            <p:spPr>
              <a:xfrm>
                <a:off x="1053719" y="2240759"/>
                <a:ext cx="6380080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B60E87-1A3B-7090-B6E1-ECD3B1A2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19" y="2240759"/>
                <a:ext cx="6380080" cy="298415"/>
              </a:xfrm>
              <a:prstGeom prst="rect">
                <a:avLst/>
              </a:prstGeom>
              <a:blipFill>
                <a:blip r:embed="rId2"/>
                <a:stretch>
                  <a:fillRect l="-382" t="-204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BC8870-2886-B307-D71B-C93C516604DB}"/>
                  </a:ext>
                </a:extLst>
              </p:cNvPr>
              <p:cNvSpPr txBox="1"/>
              <p:nvPr/>
            </p:nvSpPr>
            <p:spPr>
              <a:xfrm>
                <a:off x="1053719" y="4233101"/>
                <a:ext cx="6839501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BC8870-2886-B307-D71B-C93C51660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19" y="4233101"/>
                <a:ext cx="6839501" cy="299569"/>
              </a:xfrm>
              <a:prstGeom prst="rect">
                <a:avLst/>
              </a:prstGeom>
              <a:blipFill>
                <a:blip r:embed="rId3"/>
                <a:stretch>
                  <a:fillRect l="-267" r="-89" b="-28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220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displacement: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 err="1"/>
              <a:t>Combined</a:t>
            </a:r>
            <a:r>
              <a:rPr lang="nl-NL" dirty="0"/>
              <a:t> </a:t>
            </a:r>
            <a:r>
              <a:rPr lang="nl-NL" dirty="0" err="1"/>
              <a:t>probability</a:t>
            </a:r>
            <a:r>
              <a:rPr lang="nl-NL" dirty="0"/>
              <a:t>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displacement,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/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blipFill>
                <a:blip r:embed="rId2"/>
                <a:stretch>
                  <a:fillRect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60844"/>
              </p:ext>
            </p:extLst>
          </p:nvPr>
        </p:nvGraphicFramePr>
        <p:xfrm>
          <a:off x="1117600" y="3158508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8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354791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Critical displacement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Failure </a:t>
                      </a:r>
                      <a:r>
                        <a:rPr lang="nl-NL" dirty="0" err="1"/>
                        <a:t>probability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Reliability</a:t>
                      </a:r>
                      <a:r>
                        <a:rPr lang="nl-NL" dirty="0"/>
                        <a:t> 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117600" y="3543300"/>
            <a:ext cx="8127999" cy="304800"/>
          </a:xfrm>
          <a:custGeom>
            <a:avLst/>
            <a:gdLst>
              <a:gd name="connsiteX0" fmla="*/ 0 w 8127999"/>
              <a:gd name="connsiteY0" fmla="*/ 0 h 304800"/>
              <a:gd name="connsiteX1" fmla="*/ 499291 w 8127999"/>
              <a:gd name="connsiteY1" fmla="*/ 0 h 304800"/>
              <a:gd name="connsiteX2" fmla="*/ 917303 w 8127999"/>
              <a:gd name="connsiteY2" fmla="*/ 0 h 304800"/>
              <a:gd name="connsiteX3" fmla="*/ 1497874 w 8127999"/>
              <a:gd name="connsiteY3" fmla="*/ 0 h 304800"/>
              <a:gd name="connsiteX4" fmla="*/ 1834605 w 8127999"/>
              <a:gd name="connsiteY4" fmla="*/ 0 h 304800"/>
              <a:gd name="connsiteX5" fmla="*/ 2252617 w 8127999"/>
              <a:gd name="connsiteY5" fmla="*/ 0 h 304800"/>
              <a:gd name="connsiteX6" fmla="*/ 2995748 w 8127999"/>
              <a:gd name="connsiteY6" fmla="*/ 0 h 304800"/>
              <a:gd name="connsiteX7" fmla="*/ 3576320 w 8127999"/>
              <a:gd name="connsiteY7" fmla="*/ 0 h 304800"/>
              <a:gd name="connsiteX8" fmla="*/ 3994331 w 8127999"/>
              <a:gd name="connsiteY8" fmla="*/ 0 h 304800"/>
              <a:gd name="connsiteX9" fmla="*/ 4331062 w 8127999"/>
              <a:gd name="connsiteY9" fmla="*/ 0 h 304800"/>
              <a:gd name="connsiteX10" fmla="*/ 4830354 w 8127999"/>
              <a:gd name="connsiteY10" fmla="*/ 0 h 304800"/>
              <a:gd name="connsiteX11" fmla="*/ 5410925 w 8127999"/>
              <a:gd name="connsiteY11" fmla="*/ 0 h 304800"/>
              <a:gd name="connsiteX12" fmla="*/ 5828936 w 8127999"/>
              <a:gd name="connsiteY12" fmla="*/ 0 h 304800"/>
              <a:gd name="connsiteX13" fmla="*/ 6572068 w 8127999"/>
              <a:gd name="connsiteY13" fmla="*/ 0 h 304800"/>
              <a:gd name="connsiteX14" fmla="*/ 7071359 w 8127999"/>
              <a:gd name="connsiteY14" fmla="*/ 0 h 304800"/>
              <a:gd name="connsiteX15" fmla="*/ 7570650 w 8127999"/>
              <a:gd name="connsiteY15" fmla="*/ 0 h 304800"/>
              <a:gd name="connsiteX16" fmla="*/ 8127999 w 8127999"/>
              <a:gd name="connsiteY16" fmla="*/ 0 h 304800"/>
              <a:gd name="connsiteX17" fmla="*/ 8127999 w 8127999"/>
              <a:gd name="connsiteY17" fmla="*/ 304800 h 304800"/>
              <a:gd name="connsiteX18" fmla="*/ 7547428 w 8127999"/>
              <a:gd name="connsiteY18" fmla="*/ 304800 h 304800"/>
              <a:gd name="connsiteX19" fmla="*/ 7210696 w 8127999"/>
              <a:gd name="connsiteY19" fmla="*/ 304800 h 304800"/>
              <a:gd name="connsiteX20" fmla="*/ 6467565 w 8127999"/>
              <a:gd name="connsiteY20" fmla="*/ 304800 h 304800"/>
              <a:gd name="connsiteX21" fmla="*/ 6049554 w 8127999"/>
              <a:gd name="connsiteY21" fmla="*/ 304800 h 304800"/>
              <a:gd name="connsiteX22" fmla="*/ 5387702 w 8127999"/>
              <a:gd name="connsiteY22" fmla="*/ 304800 h 304800"/>
              <a:gd name="connsiteX23" fmla="*/ 4807131 w 8127999"/>
              <a:gd name="connsiteY23" fmla="*/ 304800 h 304800"/>
              <a:gd name="connsiteX24" fmla="*/ 4064000 w 8127999"/>
              <a:gd name="connsiteY24" fmla="*/ 304800 h 304800"/>
              <a:gd name="connsiteX25" fmla="*/ 3645988 w 8127999"/>
              <a:gd name="connsiteY25" fmla="*/ 304800 h 304800"/>
              <a:gd name="connsiteX26" fmla="*/ 2902857 w 8127999"/>
              <a:gd name="connsiteY26" fmla="*/ 304800 h 304800"/>
              <a:gd name="connsiteX27" fmla="*/ 2566125 w 8127999"/>
              <a:gd name="connsiteY27" fmla="*/ 304800 h 304800"/>
              <a:gd name="connsiteX28" fmla="*/ 1822994 w 8127999"/>
              <a:gd name="connsiteY28" fmla="*/ 304800 h 304800"/>
              <a:gd name="connsiteX29" fmla="*/ 1079863 w 8127999"/>
              <a:gd name="connsiteY29" fmla="*/ 304800 h 304800"/>
              <a:gd name="connsiteX30" fmla="*/ 499291 w 8127999"/>
              <a:gd name="connsiteY30" fmla="*/ 304800 h 304800"/>
              <a:gd name="connsiteX31" fmla="*/ 0 w 8127999"/>
              <a:gd name="connsiteY31" fmla="*/ 304800 h 304800"/>
              <a:gd name="connsiteX32" fmla="*/ 0 w 8127999"/>
              <a:gd name="connsiteY32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8127999" h="304800" extrusionOk="0">
                <a:moveTo>
                  <a:pt x="0" y="0"/>
                </a:moveTo>
                <a:cubicBezTo>
                  <a:pt x="217148" y="-10341"/>
                  <a:pt x="252830" y="2650"/>
                  <a:pt x="499291" y="0"/>
                </a:cubicBezTo>
                <a:cubicBezTo>
                  <a:pt x="745752" y="-2650"/>
                  <a:pt x="819572" y="46559"/>
                  <a:pt x="917303" y="0"/>
                </a:cubicBezTo>
                <a:cubicBezTo>
                  <a:pt x="1015034" y="-46559"/>
                  <a:pt x="1285951" y="20114"/>
                  <a:pt x="1497874" y="0"/>
                </a:cubicBezTo>
                <a:cubicBezTo>
                  <a:pt x="1709797" y="-20114"/>
                  <a:pt x="1765743" y="7446"/>
                  <a:pt x="1834605" y="0"/>
                </a:cubicBezTo>
                <a:cubicBezTo>
                  <a:pt x="1903467" y="-7446"/>
                  <a:pt x="2134761" y="48348"/>
                  <a:pt x="2252617" y="0"/>
                </a:cubicBezTo>
                <a:cubicBezTo>
                  <a:pt x="2370473" y="-48348"/>
                  <a:pt x="2777431" y="86519"/>
                  <a:pt x="2995748" y="0"/>
                </a:cubicBezTo>
                <a:cubicBezTo>
                  <a:pt x="3214065" y="-86519"/>
                  <a:pt x="3307484" y="1790"/>
                  <a:pt x="3576320" y="0"/>
                </a:cubicBezTo>
                <a:cubicBezTo>
                  <a:pt x="3845156" y="-1790"/>
                  <a:pt x="3894630" y="24370"/>
                  <a:pt x="3994331" y="0"/>
                </a:cubicBezTo>
                <a:cubicBezTo>
                  <a:pt x="4094032" y="-24370"/>
                  <a:pt x="4256424" y="38520"/>
                  <a:pt x="4331062" y="0"/>
                </a:cubicBezTo>
                <a:cubicBezTo>
                  <a:pt x="4405700" y="-38520"/>
                  <a:pt x="4688993" y="37019"/>
                  <a:pt x="4830354" y="0"/>
                </a:cubicBezTo>
                <a:cubicBezTo>
                  <a:pt x="4971715" y="-37019"/>
                  <a:pt x="5184742" y="67323"/>
                  <a:pt x="5410925" y="0"/>
                </a:cubicBezTo>
                <a:cubicBezTo>
                  <a:pt x="5637108" y="-67323"/>
                  <a:pt x="5659046" y="40693"/>
                  <a:pt x="5828936" y="0"/>
                </a:cubicBezTo>
                <a:cubicBezTo>
                  <a:pt x="5998826" y="-40693"/>
                  <a:pt x="6314176" y="82990"/>
                  <a:pt x="6572068" y="0"/>
                </a:cubicBezTo>
                <a:cubicBezTo>
                  <a:pt x="6829960" y="-82990"/>
                  <a:pt x="6862528" y="9129"/>
                  <a:pt x="7071359" y="0"/>
                </a:cubicBezTo>
                <a:cubicBezTo>
                  <a:pt x="7280190" y="-9129"/>
                  <a:pt x="7400533" y="52603"/>
                  <a:pt x="7570650" y="0"/>
                </a:cubicBezTo>
                <a:cubicBezTo>
                  <a:pt x="7740767" y="-52603"/>
                  <a:pt x="7891776" y="20023"/>
                  <a:pt x="8127999" y="0"/>
                </a:cubicBezTo>
                <a:cubicBezTo>
                  <a:pt x="8131393" y="136568"/>
                  <a:pt x="8123855" y="167094"/>
                  <a:pt x="8127999" y="304800"/>
                </a:cubicBezTo>
                <a:cubicBezTo>
                  <a:pt x="7858116" y="341724"/>
                  <a:pt x="7815644" y="251190"/>
                  <a:pt x="7547428" y="304800"/>
                </a:cubicBezTo>
                <a:cubicBezTo>
                  <a:pt x="7279212" y="358410"/>
                  <a:pt x="7341747" y="285918"/>
                  <a:pt x="7210696" y="304800"/>
                </a:cubicBezTo>
                <a:cubicBezTo>
                  <a:pt x="7079645" y="323682"/>
                  <a:pt x="6777863" y="250629"/>
                  <a:pt x="6467565" y="304800"/>
                </a:cubicBezTo>
                <a:cubicBezTo>
                  <a:pt x="6157267" y="358971"/>
                  <a:pt x="6230609" y="255097"/>
                  <a:pt x="6049554" y="304800"/>
                </a:cubicBezTo>
                <a:cubicBezTo>
                  <a:pt x="5868499" y="354503"/>
                  <a:pt x="5661387" y="238819"/>
                  <a:pt x="5387702" y="304800"/>
                </a:cubicBezTo>
                <a:cubicBezTo>
                  <a:pt x="5114017" y="370781"/>
                  <a:pt x="4934569" y="239921"/>
                  <a:pt x="4807131" y="304800"/>
                </a:cubicBezTo>
                <a:cubicBezTo>
                  <a:pt x="4679693" y="369679"/>
                  <a:pt x="4343672" y="296409"/>
                  <a:pt x="4064000" y="304800"/>
                </a:cubicBezTo>
                <a:cubicBezTo>
                  <a:pt x="3784328" y="313191"/>
                  <a:pt x="3762521" y="280010"/>
                  <a:pt x="3645988" y="304800"/>
                </a:cubicBezTo>
                <a:cubicBezTo>
                  <a:pt x="3529455" y="329590"/>
                  <a:pt x="3209413" y="237209"/>
                  <a:pt x="2902857" y="304800"/>
                </a:cubicBezTo>
                <a:cubicBezTo>
                  <a:pt x="2596301" y="372391"/>
                  <a:pt x="2655008" y="303546"/>
                  <a:pt x="2566125" y="304800"/>
                </a:cubicBezTo>
                <a:cubicBezTo>
                  <a:pt x="2477242" y="306054"/>
                  <a:pt x="1988433" y="304557"/>
                  <a:pt x="1822994" y="304800"/>
                </a:cubicBezTo>
                <a:cubicBezTo>
                  <a:pt x="1657555" y="305043"/>
                  <a:pt x="1260806" y="245390"/>
                  <a:pt x="1079863" y="304800"/>
                </a:cubicBezTo>
                <a:cubicBezTo>
                  <a:pt x="898920" y="364210"/>
                  <a:pt x="784156" y="259210"/>
                  <a:pt x="499291" y="304800"/>
                </a:cubicBezTo>
                <a:cubicBezTo>
                  <a:pt x="214426" y="350390"/>
                  <a:pt x="188663" y="247242"/>
                  <a:pt x="0" y="304800"/>
                </a:cubicBezTo>
                <a:cubicBezTo>
                  <a:pt x="-25768" y="181401"/>
                  <a:pt x="26998" y="8642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Critical displacement = -0.19 m: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7AED-29D9-D55D-57DE-39A67828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651" y="2737982"/>
            <a:ext cx="5180132" cy="28387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2B8585E-3F96-AAE3-3975-560CE5A04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392" y="2499857"/>
            <a:ext cx="4764371" cy="349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moment, FORM: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/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blipFill>
                <a:blip r:embed="rId2"/>
                <a:stretch>
                  <a:fillRect r="-383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311989"/>
              </p:ext>
            </p:extLst>
          </p:nvPr>
        </p:nvGraphicFramePr>
        <p:xfrm>
          <a:off x="1117600" y="3158508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Critical </a:t>
                      </a:r>
                      <a:r>
                        <a:rPr lang="nl-NL" dirty="0" err="1"/>
                        <a:t>bending</a:t>
                      </a:r>
                      <a:r>
                        <a:rPr lang="nl-NL" dirty="0"/>
                        <a:t> 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Failure </a:t>
                      </a:r>
                      <a:r>
                        <a:rPr lang="nl-NL" dirty="0" err="1"/>
                        <a:t>probability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Reliability</a:t>
                      </a:r>
                      <a:r>
                        <a:rPr lang="nl-NL" dirty="0"/>
                        <a:t> 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0.047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257300" y="4295775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Critical </a:t>
            </a:r>
            <a:r>
              <a:rPr lang="nl-NL" dirty="0" err="1"/>
              <a:t>bending</a:t>
            </a:r>
            <a:r>
              <a:rPr lang="nl-NL" dirty="0"/>
              <a:t> 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4841A2-53A5-7B99-C84B-20D8D552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74" y="2590287"/>
            <a:ext cx="5472665" cy="31347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0AEA2B-E17F-B5B6-73D0-0E60DCCD5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640" y="2345361"/>
            <a:ext cx="4982992" cy="36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Combined</a:t>
            </a:r>
            <a:r>
              <a:rPr lang="nl-NL" dirty="0"/>
              <a:t> </a:t>
            </a:r>
            <a:r>
              <a:rPr lang="nl-NL" dirty="0" err="1"/>
              <a:t>probability</a:t>
            </a:r>
            <a:r>
              <a:rPr lang="nl-NL" dirty="0"/>
              <a:t>:</a:t>
            </a:r>
          </a:p>
          <a:p>
            <a:endParaRPr lang="nl-NL" dirty="0"/>
          </a:p>
          <a:p>
            <a:r>
              <a:rPr lang="nl-NL" dirty="0"/>
              <a:t>Critical displacement = -0.20 m, </a:t>
            </a:r>
            <a:r>
              <a:rPr lang="nl-NL" dirty="0" err="1"/>
              <a:t>critical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6094278"/>
                  </p:ext>
                </p:extLst>
              </p:nvPr>
            </p:nvGraphicFramePr>
            <p:xfrm>
              <a:off x="1041400" y="3301383"/>
              <a:ext cx="10121824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86187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07489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728148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Failure </a:t>
                          </a:r>
                          <a:r>
                            <a:rPr lang="nl-NL" dirty="0" err="1"/>
                            <a:t>probability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 err="1"/>
                            <a:t>Reliability</a:t>
                          </a:r>
                          <a:r>
                            <a:rPr lang="nl-NL" dirty="0"/>
                            <a:t>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6094278"/>
                  </p:ext>
                </p:extLst>
              </p:nvPr>
            </p:nvGraphicFramePr>
            <p:xfrm>
              <a:off x="1041400" y="3301383"/>
              <a:ext cx="10121824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86187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07489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728148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Failure </a:t>
                          </a:r>
                          <a:r>
                            <a:rPr lang="nl-NL" dirty="0" err="1"/>
                            <a:t>probability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 err="1"/>
                            <a:t>Reliability</a:t>
                          </a:r>
                          <a:r>
                            <a:rPr lang="nl-NL" dirty="0"/>
                            <a:t>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53" t="-103125" r="-154351" b="-2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53" t="-203125" r="-154351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53" t="-303125" r="-154351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proven </a:t>
            </a:r>
            <a:r>
              <a:rPr lang="nl-NL" dirty="0" err="1"/>
              <a:t>strength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The </a:t>
            </a:r>
            <a:r>
              <a:rPr lang="nl-NL" dirty="0" err="1"/>
              <a:t>thickness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sheet </a:t>
            </a:r>
            <a:r>
              <a:rPr lang="nl-NL" dirty="0" err="1"/>
              <a:t>pile</a:t>
            </a:r>
            <a:r>
              <a:rPr lang="nl-NL" dirty="0"/>
              <a:t> </a:t>
            </a:r>
            <a:r>
              <a:rPr lang="nl-NL" dirty="0" err="1"/>
              <a:t>deteriorates</a:t>
            </a:r>
            <a:r>
              <a:rPr lang="nl-NL" dirty="0"/>
              <a:t> in time</a:t>
            </a:r>
          </a:p>
          <a:p>
            <a:endParaRPr lang="nl-NL" dirty="0"/>
          </a:p>
          <a:p>
            <a:r>
              <a:rPr lang="nl-NL" b="1" dirty="0" err="1"/>
              <a:t>Assume</a:t>
            </a:r>
            <a:r>
              <a:rPr lang="nl-NL" b="1" dirty="0"/>
              <a:t>: </a:t>
            </a:r>
          </a:p>
          <a:p>
            <a:pPr lvl="1"/>
            <a:r>
              <a:rPr lang="nl-NL" dirty="0" err="1"/>
              <a:t>Thickness</a:t>
            </a:r>
            <a:r>
              <a:rPr lang="nl-NL" dirty="0"/>
              <a:t> in 2025 = 0.025 m</a:t>
            </a:r>
          </a:p>
          <a:p>
            <a:pPr lvl="1"/>
            <a:r>
              <a:rPr lang="nl-NL" dirty="0" err="1"/>
              <a:t>Expected</a:t>
            </a:r>
            <a:r>
              <a:rPr lang="nl-NL" dirty="0"/>
              <a:t> </a:t>
            </a:r>
            <a:r>
              <a:rPr lang="nl-NL" dirty="0" err="1"/>
              <a:t>thickness</a:t>
            </a:r>
            <a:r>
              <a:rPr lang="nl-NL" dirty="0"/>
              <a:t> in 2075 = 0.015 m</a:t>
            </a:r>
          </a:p>
          <a:p>
            <a:pPr lvl="1"/>
            <a:endParaRPr lang="nl-NL" dirty="0"/>
          </a:p>
          <a:p>
            <a:r>
              <a:rPr lang="nl-NL" b="1" dirty="0"/>
              <a:t>Proven </a:t>
            </a:r>
            <a:r>
              <a:rPr lang="nl-NL" b="1" dirty="0" err="1"/>
              <a:t>strength</a:t>
            </a:r>
            <a:r>
              <a:rPr lang="nl-NL" b="1" dirty="0"/>
              <a:t>:</a:t>
            </a:r>
            <a:r>
              <a:rPr lang="nl-NL" dirty="0"/>
              <a:t>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in 2025,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displcament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sheet </a:t>
            </a:r>
            <a:r>
              <a:rPr lang="nl-NL" dirty="0" err="1"/>
              <a:t>pile</a:t>
            </a:r>
            <a:r>
              <a:rPr lang="nl-NL" dirty="0"/>
              <a:t> does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exceed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critical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of -0.17 m</a:t>
            </a:r>
          </a:p>
          <a:p>
            <a:endParaRPr lang="nl-NL" dirty="0"/>
          </a:p>
          <a:p>
            <a:r>
              <a:rPr lang="nl-NL" b="1" dirty="0"/>
              <a:t>Question: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probability</a:t>
            </a:r>
            <a:r>
              <a:rPr lang="nl-NL" dirty="0"/>
              <a:t> of failure in 2075, </a:t>
            </a:r>
            <a:r>
              <a:rPr lang="nl-NL" dirty="0" err="1"/>
              <a:t>given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sheet </a:t>
            </a:r>
            <a:r>
              <a:rPr lang="nl-NL" dirty="0" err="1"/>
              <a:t>pile</a:t>
            </a:r>
            <a:r>
              <a:rPr lang="nl-NL" dirty="0"/>
              <a:t> is </a:t>
            </a:r>
            <a:r>
              <a:rPr lang="nl-NL" dirty="0" err="1"/>
              <a:t>stable</a:t>
            </a:r>
            <a:r>
              <a:rPr lang="nl-NL" dirty="0"/>
              <a:t> in 2025?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EB0D-6A4A-6598-CB10-0AEEFACE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A1E-FED5-0207-5439-5C4B2AD44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proven </a:t>
            </a:r>
            <a:r>
              <a:rPr lang="nl-NL" dirty="0" err="1"/>
              <a:t>strength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3904-ED0A-03E9-A36E-E6D56EC64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u="sng" dirty="0"/>
              <a:t>A priori</a:t>
            </a:r>
            <a:r>
              <a:rPr lang="nl-NL" dirty="0"/>
              <a:t> failure </a:t>
            </a:r>
            <a:r>
              <a:rPr lang="nl-NL" dirty="0" err="1"/>
              <a:t>probability</a:t>
            </a:r>
            <a:r>
              <a:rPr lang="nl-NL" dirty="0"/>
              <a:t> in 2075, no information </a:t>
            </a:r>
            <a:r>
              <a:rPr lang="nl-NL" dirty="0" err="1"/>
              <a:t>added</a:t>
            </a:r>
            <a:r>
              <a:rPr lang="nl-NL" dirty="0"/>
              <a:t>: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u="sng" dirty="0"/>
              <a:t>A posteriori</a:t>
            </a:r>
            <a:r>
              <a:rPr lang="nl-NL" dirty="0"/>
              <a:t> failure </a:t>
            </a:r>
            <a:r>
              <a:rPr lang="nl-NL" dirty="0" err="1"/>
              <a:t>probability</a:t>
            </a:r>
            <a:r>
              <a:rPr lang="nl-NL" dirty="0"/>
              <a:t> in 2075, </a:t>
            </a:r>
            <a:r>
              <a:rPr lang="nl-NL" dirty="0" err="1"/>
              <a:t>including</a:t>
            </a:r>
            <a:r>
              <a:rPr lang="nl-NL" dirty="0"/>
              <a:t> information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survived</a:t>
            </a:r>
            <a:r>
              <a:rPr lang="nl-NL" dirty="0"/>
              <a:t> event: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76C7A-DA7C-F595-5200-79E455DEE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FCAB7-233B-6577-B002-336AFFF7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238F8-5AB9-33A7-80BD-184EE193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9B65B-075B-3609-69AB-3AFBFDBD7A1E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293118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2075&lt;0)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9B65B-075B-3609-69AB-3AFBFDBD7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2931187" cy="298415"/>
              </a:xfrm>
              <a:prstGeom prst="rect">
                <a:avLst/>
              </a:prstGeom>
              <a:blipFill>
                <a:blip r:embed="rId2"/>
                <a:stretch>
                  <a:fillRect l="-1247" r="-2287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002F35-1EB6-05C1-4B51-D8F33E37C003}"/>
                  </a:ext>
                </a:extLst>
              </p:cNvPr>
              <p:cNvSpPr txBox="1"/>
              <p:nvPr/>
            </p:nvSpPr>
            <p:spPr>
              <a:xfrm>
                <a:off x="995437" y="3779555"/>
                <a:ext cx="5531322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2075&lt;0|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002F35-1EB6-05C1-4B51-D8F33E37C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79555"/>
                <a:ext cx="5531322" cy="298415"/>
              </a:xfrm>
              <a:prstGeom prst="rect">
                <a:avLst/>
              </a:prstGeom>
              <a:blipFill>
                <a:blip r:embed="rId3"/>
                <a:stretch>
                  <a:fillRect l="-330" r="-88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727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A87E3-11E8-6DBC-6049-EA9F057C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276F-8C43-B875-1E94-6EF608F0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proven </a:t>
            </a:r>
            <a:r>
              <a:rPr lang="nl-NL" dirty="0" err="1"/>
              <a:t>strength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CFECD-80B4-BFEB-87E3-72BCC76D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CDF5-CF4A-F508-1EB2-BEE54E18B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EB910-E0D0-94D5-90A7-A220109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89DEB28-7B77-78D1-1F35-405BED933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5699488"/>
              </p:ext>
            </p:extLst>
          </p:nvPr>
        </p:nvGraphicFramePr>
        <p:xfrm>
          <a:off x="416459" y="2050525"/>
          <a:ext cx="109059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5086">
                  <a:extLst>
                    <a:ext uri="{9D8B030D-6E8A-4147-A177-3AD203B41FA5}">
                      <a16:colId xmlns:a16="http://schemas.microsoft.com/office/drawing/2014/main" val="2528922257"/>
                    </a:ext>
                  </a:extLst>
                </a:gridCol>
                <a:gridCol w="2961780">
                  <a:extLst>
                    <a:ext uri="{9D8B030D-6E8A-4147-A177-3AD203B41FA5}">
                      <a16:colId xmlns:a16="http://schemas.microsoft.com/office/drawing/2014/main" val="4123471549"/>
                    </a:ext>
                  </a:extLst>
                </a:gridCol>
                <a:gridCol w="3019039">
                  <a:extLst>
                    <a:ext uri="{9D8B030D-6E8A-4147-A177-3AD203B41FA5}">
                      <a16:colId xmlns:a16="http://schemas.microsoft.com/office/drawing/2014/main" val="916703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Failure </a:t>
                      </a:r>
                      <a:r>
                        <a:rPr lang="nl-NL" dirty="0" err="1"/>
                        <a:t>probability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Reliability</a:t>
                      </a:r>
                      <a:r>
                        <a:rPr lang="nl-NL" dirty="0"/>
                        <a:t> 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9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A priori failure </a:t>
                      </a:r>
                      <a:r>
                        <a:rPr lang="nl-NL" dirty="0" err="1"/>
                        <a:t>probability</a:t>
                      </a:r>
                      <a:r>
                        <a:rPr lang="nl-NL" dirty="0"/>
                        <a:t> in 2075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68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Probability</a:t>
                      </a:r>
                      <a:r>
                        <a:rPr lang="nl-NL" dirty="0"/>
                        <a:t> of </a:t>
                      </a:r>
                      <a:r>
                        <a:rPr lang="nl-NL" dirty="0" err="1"/>
                        <a:t>the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survived</a:t>
                      </a:r>
                      <a:r>
                        <a:rPr lang="nl-NL" dirty="0"/>
                        <a:t> 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44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Combined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probability</a:t>
                      </a:r>
                      <a:r>
                        <a:rPr lang="nl-NL" dirty="0"/>
                        <a:t> (a priori </a:t>
                      </a:r>
                      <a:r>
                        <a:rPr lang="nl-NL" dirty="0" err="1"/>
                        <a:t>and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survived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2.934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31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A posteriori failure </a:t>
                      </a:r>
                      <a:r>
                        <a:rPr lang="nl-NL" dirty="0" err="1"/>
                        <a:t>probability</a:t>
                      </a:r>
                      <a:r>
                        <a:rPr lang="nl-NL" dirty="0"/>
                        <a:t> in 2075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11187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1B30C64-86E7-4519-3B3F-64749B4B14C4}"/>
              </a:ext>
            </a:extLst>
          </p:cNvPr>
          <p:cNvSpPr txBox="1"/>
          <p:nvPr/>
        </p:nvSpPr>
        <p:spPr>
          <a:xfrm>
            <a:off x="416459" y="4531284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 err="1">
                <a:solidFill>
                  <a:srgbClr val="0D38E0"/>
                </a:solidFill>
              </a:rPr>
              <a:t>Taking</a:t>
            </a:r>
            <a:r>
              <a:rPr lang="nl-NL" dirty="0">
                <a:solidFill>
                  <a:srgbClr val="0D38E0"/>
                </a:solidFill>
              </a:rPr>
              <a:t> </a:t>
            </a:r>
            <a:r>
              <a:rPr lang="nl-NL" dirty="0" err="1">
                <a:solidFill>
                  <a:srgbClr val="0D38E0"/>
                </a:solidFill>
              </a:rPr>
              <a:t>into</a:t>
            </a:r>
            <a:r>
              <a:rPr lang="nl-NL" dirty="0">
                <a:solidFill>
                  <a:srgbClr val="0D38E0"/>
                </a:solidFill>
              </a:rPr>
              <a:t> account </a:t>
            </a:r>
            <a:r>
              <a:rPr lang="nl-NL" dirty="0" err="1">
                <a:solidFill>
                  <a:srgbClr val="0D38E0"/>
                </a:solidFill>
              </a:rPr>
              <a:t>the</a:t>
            </a:r>
            <a:r>
              <a:rPr lang="nl-NL" dirty="0">
                <a:solidFill>
                  <a:srgbClr val="0D38E0"/>
                </a:solidFill>
              </a:rPr>
              <a:t> </a:t>
            </a:r>
            <a:r>
              <a:rPr lang="nl-NL" dirty="0" err="1">
                <a:solidFill>
                  <a:srgbClr val="0D38E0"/>
                </a:solidFill>
              </a:rPr>
              <a:t>survived</a:t>
            </a:r>
            <a:r>
              <a:rPr lang="nl-NL" dirty="0">
                <a:solidFill>
                  <a:srgbClr val="0D38E0"/>
                </a:solidFill>
              </a:rPr>
              <a:t> event has </a:t>
            </a:r>
            <a:r>
              <a:rPr lang="nl-NL" dirty="0" err="1">
                <a:solidFill>
                  <a:srgbClr val="0D38E0"/>
                </a:solidFill>
              </a:rPr>
              <a:t>reduced</a:t>
            </a:r>
            <a:r>
              <a:rPr lang="nl-NL" dirty="0">
                <a:solidFill>
                  <a:srgbClr val="0D38E0"/>
                </a:solidFill>
              </a:rPr>
              <a:t> </a:t>
            </a:r>
            <a:r>
              <a:rPr lang="nl-NL" dirty="0" err="1">
                <a:solidFill>
                  <a:srgbClr val="0D38E0"/>
                </a:solidFill>
              </a:rPr>
              <a:t>the</a:t>
            </a:r>
            <a:r>
              <a:rPr lang="nl-NL" dirty="0">
                <a:solidFill>
                  <a:srgbClr val="0D38E0"/>
                </a:solidFill>
              </a:rPr>
              <a:t> failure </a:t>
            </a:r>
            <a:r>
              <a:rPr lang="nl-NL" dirty="0" err="1">
                <a:solidFill>
                  <a:srgbClr val="0D38E0"/>
                </a:solidFill>
              </a:rPr>
              <a:t>probability</a:t>
            </a:r>
            <a:r>
              <a:rPr lang="nl-NL" dirty="0">
                <a:solidFill>
                  <a:srgbClr val="0D38E0"/>
                </a:solidFill>
              </a:rPr>
              <a:t> in 2075 </a:t>
            </a:r>
            <a:r>
              <a:rPr lang="nl-NL" dirty="0" err="1">
                <a:solidFill>
                  <a:srgbClr val="0D38E0"/>
                </a:solidFill>
              </a:rPr>
              <a:t>from</a:t>
            </a:r>
            <a:r>
              <a:rPr lang="nl-NL" dirty="0">
                <a:solidFill>
                  <a:srgbClr val="0D38E0"/>
                </a:solidFill>
              </a:rPr>
              <a:t> 0.215 </a:t>
            </a:r>
            <a:r>
              <a:rPr lang="nl-NL" dirty="0" err="1">
                <a:solidFill>
                  <a:srgbClr val="0D38E0"/>
                </a:solidFill>
              </a:rPr>
              <a:t>to</a:t>
            </a:r>
            <a:r>
              <a:rPr lang="nl-NL" dirty="0">
                <a:solidFill>
                  <a:srgbClr val="0D38E0"/>
                </a:solidFill>
              </a:rPr>
              <a:t> 0.0022</a:t>
            </a:r>
          </a:p>
        </p:txBody>
      </p:sp>
    </p:spTree>
    <p:extLst>
      <p:ext uri="{BB962C8B-B14F-4D97-AF65-F5344CB8AC3E}">
        <p14:creationId xmlns:p14="http://schemas.microsoft.com/office/powerpoint/2010/main" val="980719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964CC-5AEA-357F-FA8A-67BD41ECF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Join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workshop at 14:15 (Option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025C5-E00C-8F6E-E0CD-5FA237B89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Learn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Python</a:t>
            </a:r>
          </a:p>
          <a:p>
            <a:endParaRPr lang="nl-NL" dirty="0"/>
          </a:p>
          <a:p>
            <a:r>
              <a:rPr lang="nl-NL" dirty="0" err="1"/>
              <a:t>Learn</a:t>
            </a:r>
            <a:r>
              <a:rPr lang="nl-NL" dirty="0"/>
              <a:t>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details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Kratos</a:t>
            </a:r>
            <a:r>
              <a:rPr lang="nl-NL" dirty="0"/>
              <a:t> (sheet </a:t>
            </a:r>
            <a:r>
              <a:rPr lang="nl-NL" dirty="0" err="1"/>
              <a:t>pile</a:t>
            </a:r>
            <a:r>
              <a:rPr lang="nl-NL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27C9-2D11-1D7C-8086-D3D0329B7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149-D769-B831-C838-8D04E4E01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236BF-7CE7-3A2C-D6BD-E3C83F2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8110497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1023</TotalTime>
  <Words>1062</Words>
  <Application>Microsoft Office PowerPoint</Application>
  <PresentationFormat>Widescreen</PresentationFormat>
  <Paragraphs>263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Cambria Math</vt:lpstr>
      <vt:lpstr>Deltares</vt:lpstr>
      <vt:lpstr>Sheet pile</vt:lpstr>
      <vt:lpstr>Overview</vt:lpstr>
      <vt:lpstr>Probabilistic library</vt:lpstr>
      <vt:lpstr>Kratos</vt:lpstr>
      <vt:lpstr>Sheet pile model</vt:lpstr>
      <vt:lpstr>Sheet pile model</vt:lpstr>
      <vt:lpstr>Probabilistic calculations: variables</vt:lpstr>
      <vt:lpstr>Probabilistic calculations: uncertainty analysis</vt:lpstr>
      <vt:lpstr>Probabilistic calculations: uncertainty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proven strength</vt:lpstr>
      <vt:lpstr>Probabilistic calculations: proven strength</vt:lpstr>
      <vt:lpstr>Probabilistic calculations: proven strength</vt:lpstr>
      <vt:lpstr>Join the workshop at 14:15 (Option 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Karolina Wojciechowska</cp:lastModifiedBy>
  <cp:revision>21</cp:revision>
  <dcterms:created xsi:type="dcterms:W3CDTF">2025-06-05T04:42:54Z</dcterms:created>
  <dcterms:modified xsi:type="dcterms:W3CDTF">2025-06-16T14:38:54Z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