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60" r:id="rId5"/>
    <p:sldId id="263" r:id="rId6"/>
    <p:sldId id="305" r:id="rId7"/>
    <p:sldId id="287" r:id="rId8"/>
    <p:sldId id="286" r:id="rId9"/>
    <p:sldId id="289" r:id="rId10"/>
    <p:sldId id="261" r:id="rId11"/>
    <p:sldId id="291" r:id="rId12"/>
    <p:sldId id="293" r:id="rId13"/>
    <p:sldId id="294" r:id="rId14"/>
    <p:sldId id="296" r:id="rId15"/>
    <p:sldId id="295" r:id="rId16"/>
    <p:sldId id="297" r:id="rId17"/>
    <p:sldId id="298" r:id="rId18"/>
    <p:sldId id="304" r:id="rId19"/>
    <p:sldId id="300" r:id="rId20"/>
    <p:sldId id="306" r:id="rId21"/>
    <p:sldId id="307" r:id="rId22"/>
    <p:sldId id="308" r:id="rId23"/>
    <p:sldId id="299" r:id="rId24"/>
    <p:sldId id="302" r:id="rId25"/>
    <p:sldId id="303" r:id="rId2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38E0"/>
    <a:srgbClr val="E6E6E6"/>
    <a:srgbClr val="FFFFFF"/>
    <a:srgbClr val="C0C0C0"/>
    <a:srgbClr val="707070"/>
    <a:srgbClr val="00B389"/>
    <a:srgbClr val="F1F3FD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93" autoAdjust="0"/>
    <p:restoredTop sz="94712" autoAdjust="0"/>
  </p:normalViewPr>
  <p:slideViewPr>
    <p:cSldViewPr snapToGrid="0" showGuides="1">
      <p:cViewPr varScale="1">
        <p:scale>
          <a:sx n="106" d="100"/>
          <a:sy n="106" d="100"/>
        </p:scale>
        <p:origin x="26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Probabilistische damwand-analyse met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Overzicht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  <a:p>
            <a:r>
              <a:rPr lang="nl-NL" dirty="0"/>
              <a:t>Probabilistische bibliotheek en </a:t>
            </a:r>
            <a:r>
              <a:rPr lang="nl-NL" dirty="0" err="1"/>
              <a:t>Kratos</a:t>
            </a:r>
            <a:endParaRPr lang="nl-NL" dirty="0"/>
          </a:p>
          <a:p>
            <a:r>
              <a:rPr lang="nl-NL" dirty="0"/>
              <a:t>Damwand model</a:t>
            </a:r>
          </a:p>
          <a:p>
            <a:r>
              <a:rPr lang="nl-NL" dirty="0"/>
              <a:t>Probabilistische berekeningen met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Input en output parameters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Betrouwbaarheidsanalyse</a:t>
            </a:r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B8C3-90E8-CBD5-0167-59BCF0F1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28006-10E8-97EF-671F-C56FF948D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Laten zien dat probabilistische berekeningen met </a:t>
            </a:r>
            <a:r>
              <a:rPr lang="nl-NL" dirty="0" err="1"/>
              <a:t>Kratos</a:t>
            </a:r>
            <a:r>
              <a:rPr lang="nl-NL" dirty="0"/>
              <a:t> mogelijk zijn.</a:t>
            </a:r>
          </a:p>
          <a:p>
            <a:endParaRPr lang="nl-NL" dirty="0"/>
          </a:p>
          <a:p>
            <a:r>
              <a:rPr lang="nl-NL" dirty="0"/>
              <a:t>Koppeling leggen tussen de probabilistische bibliotheek en </a:t>
            </a:r>
            <a:r>
              <a:rPr lang="nl-NL" dirty="0" err="1"/>
              <a:t>Kratos</a:t>
            </a:r>
            <a:r>
              <a:rPr lang="nl-NL" dirty="0"/>
              <a:t>.</a:t>
            </a:r>
          </a:p>
          <a:p>
            <a:endParaRPr lang="nl-NL" dirty="0"/>
          </a:p>
          <a:p>
            <a:r>
              <a:rPr lang="nl-NL" dirty="0"/>
              <a:t>Semi-realistische case.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20E53-DD92-EB11-22EE-6A381D5CD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C8ED-B677-B3CF-6EE6-6E69A2763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22623-4C22-6320-F540-1664959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827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Probabilistische bibliotheek en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Probabilistische bibliotheek:</a:t>
            </a:r>
          </a:p>
          <a:p>
            <a:pPr lvl="1"/>
            <a:r>
              <a:rPr lang="nl-NL" dirty="0"/>
              <a:t>Toepassing: veiligheidsbeoordeling van primaire waterkeringen in Nederland, geotechnische applicaties en </a:t>
            </a:r>
            <a:r>
              <a:rPr lang="nl-NL" dirty="0" err="1"/>
              <a:t>Probabilistic</a:t>
            </a:r>
            <a:r>
              <a:rPr lang="nl-NL" dirty="0"/>
              <a:t> Toolkit</a:t>
            </a:r>
          </a:p>
          <a:p>
            <a:pPr lvl="1"/>
            <a:r>
              <a:rPr lang="nl-NL" dirty="0"/>
              <a:t>Geschreven in C++, Python en .Net </a:t>
            </a:r>
            <a:r>
              <a:rPr lang="nl-NL" dirty="0" err="1"/>
              <a:t>wrappers</a:t>
            </a:r>
            <a:r>
              <a:rPr lang="nl-NL" dirty="0"/>
              <a:t> zijn beschikbaar</a:t>
            </a:r>
          </a:p>
          <a:p>
            <a:pPr lvl="1"/>
            <a:r>
              <a:rPr lang="nl-NL" dirty="0"/>
              <a:t>Functionaliteit: verdelingsfuncties, correlaties, betrouwbaarheidsanalyse, onzekerheidsanalyse, gevoeligheidsanalyse, aansluiten van modellen</a:t>
            </a:r>
          </a:p>
          <a:p>
            <a:endParaRPr lang="nl-NL" dirty="0"/>
          </a:p>
          <a:p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Open-source </a:t>
            </a:r>
            <a:r>
              <a:rPr lang="nl-NL" dirty="0" err="1"/>
              <a:t>framework</a:t>
            </a:r>
            <a:r>
              <a:rPr lang="nl-NL" dirty="0"/>
              <a:t> voor de implementatie van numerieke methoden voor het oplossen van technische vraagstukken</a:t>
            </a:r>
          </a:p>
          <a:p>
            <a:pPr lvl="1"/>
            <a:r>
              <a:rPr lang="nl-NL" dirty="0"/>
              <a:t>Geschreven in C++</a:t>
            </a:r>
          </a:p>
          <a:p>
            <a:pPr lvl="1"/>
            <a:r>
              <a:rPr lang="nl-NL" dirty="0"/>
              <a:t>Deltares </a:t>
            </a:r>
            <a:r>
              <a:rPr lang="nl-NL" dirty="0">
                <a:sym typeface="Wingdings" panose="05000000000000000000" pitchFamily="2" charset="2"/>
              </a:rPr>
              <a:t></a:t>
            </a:r>
            <a:r>
              <a:rPr lang="nl-NL" dirty="0"/>
              <a:t> </a:t>
            </a:r>
            <a:r>
              <a:rPr lang="nl-NL" u="sng" dirty="0" err="1"/>
              <a:t>Geo-Mechanics</a:t>
            </a:r>
            <a:r>
              <a:rPr lang="nl-NL" u="sng" dirty="0"/>
              <a:t> Application</a:t>
            </a:r>
            <a:r>
              <a:rPr lang="nl-NL" dirty="0"/>
              <a:t> (eindige elementen methode voor geotechnische vraagstukken)</a:t>
            </a:r>
          </a:p>
          <a:p>
            <a:endParaRPr lang="nl-NL" dirty="0"/>
          </a:p>
          <a:p>
            <a:endParaRPr lang="nl-NL" dirty="0"/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1768763"/>
            <a:ext cx="4839392" cy="4320000"/>
          </a:xfrm>
        </p:spPr>
        <p:txBody>
          <a:bodyPr/>
          <a:lstStyle/>
          <a:p>
            <a:r>
              <a:rPr lang="nl-NL" b="1" dirty="0"/>
              <a:t>Fase 0:</a:t>
            </a:r>
            <a:r>
              <a:rPr lang="nl-NL" dirty="0"/>
              <a:t> beginsituatie</a:t>
            </a:r>
          </a:p>
          <a:p>
            <a:r>
              <a:rPr lang="nl-NL" b="1" dirty="0"/>
              <a:t>Fase 1:</a:t>
            </a:r>
            <a:r>
              <a:rPr lang="nl-NL" dirty="0"/>
              <a:t> damwand</a:t>
            </a:r>
          </a:p>
          <a:p>
            <a:r>
              <a:rPr lang="nl-NL" b="1" dirty="0"/>
              <a:t>Fase 2:</a:t>
            </a:r>
            <a:r>
              <a:rPr lang="nl-NL" dirty="0"/>
              <a:t> ontgraving</a:t>
            </a:r>
          </a:p>
          <a:p>
            <a:r>
              <a:rPr lang="nl-NL" b="1" dirty="0"/>
              <a:t>Fase 3:</a:t>
            </a:r>
            <a:r>
              <a:rPr lang="nl-NL" dirty="0"/>
              <a:t> met anker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Het model is geïmplementeerd in het </a:t>
            </a:r>
            <a:r>
              <a:rPr lang="nl-NL" dirty="0" err="1"/>
              <a:t>Kratos</a:t>
            </a:r>
            <a:r>
              <a:rPr lang="nl-NL" dirty="0"/>
              <a:t> </a:t>
            </a:r>
            <a:r>
              <a:rPr lang="nl-NL" dirty="0" err="1"/>
              <a:t>framework</a:t>
            </a:r>
            <a:r>
              <a:rPr lang="nl-NL" dirty="0"/>
              <a:t> (lineair elastisch).</a:t>
            </a:r>
          </a:p>
          <a:p>
            <a:r>
              <a:rPr lang="nl-NL" dirty="0"/>
              <a:t>Op basis van de invoer worden de totale verplaatsing in x-richting (maaiveld) en het maximale buigmoment berekend.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B80E4E-4DC5-E6A1-F653-7BE94F23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959" y="1269506"/>
            <a:ext cx="4807780" cy="47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FF655D-822E-1C21-2807-27D2C10A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238" y="3218935"/>
            <a:ext cx="1790950" cy="11431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 gekoppeld aan</a:t>
            </a:r>
            <a:br>
              <a:rPr lang="nl-NL" dirty="0"/>
            </a:br>
            <a:r>
              <a:rPr lang="nl-NL" dirty="0"/>
              <a:t>probabilistische bibliotheek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9C1E8B-B78D-277A-57ED-ADE3BC09F9B2}"/>
              </a:ext>
            </a:extLst>
          </p:cNvPr>
          <p:cNvSpPr/>
          <p:nvPr/>
        </p:nvSpPr>
        <p:spPr>
          <a:xfrm>
            <a:off x="3429116" y="3295347"/>
            <a:ext cx="1455937" cy="108973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 err="1"/>
              <a:t>Prob</a:t>
            </a:r>
            <a:r>
              <a:rPr lang="nl-NL" dirty="0"/>
              <a:t> </a:t>
            </a:r>
            <a:r>
              <a:rPr lang="nl-NL" dirty="0" err="1"/>
              <a:t>lib</a:t>
            </a:r>
            <a:r>
              <a:rPr lang="nl-NL" dirty="0"/>
              <a:t> (C++)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023ED-CBF3-6761-8BFE-1B599EC77434}"/>
              </a:ext>
            </a:extLst>
          </p:cNvPr>
          <p:cNvSpPr/>
          <p:nvPr/>
        </p:nvSpPr>
        <p:spPr>
          <a:xfrm>
            <a:off x="3240175" y="2568163"/>
            <a:ext cx="1951607" cy="2086251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3315C7-2221-B017-15E5-96732AEBEF62}"/>
              </a:ext>
            </a:extLst>
          </p:cNvPr>
          <p:cNvSpPr txBox="1"/>
          <p:nvPr/>
        </p:nvSpPr>
        <p:spPr>
          <a:xfrm>
            <a:off x="3256839" y="263494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Python wrapper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6DFF1-AC14-9B82-7845-0386DA4D7F87}"/>
              </a:ext>
            </a:extLst>
          </p:cNvPr>
          <p:cNvSpPr/>
          <p:nvPr/>
        </p:nvSpPr>
        <p:spPr>
          <a:xfrm>
            <a:off x="6406543" y="3137694"/>
            <a:ext cx="1951607" cy="10897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Damwand model in Python </a:t>
            </a:r>
          </a:p>
          <a:p>
            <a:pPr algn="ctr"/>
            <a:r>
              <a:rPr lang="nl-NL" dirty="0"/>
              <a:t>(</a:t>
            </a:r>
            <a:r>
              <a:rPr lang="nl-NL" dirty="0" err="1"/>
              <a:t>Kratos</a:t>
            </a:r>
            <a:r>
              <a:rPr lang="nl-NL" dirty="0"/>
              <a:t>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AEAE22-D8B4-3291-E3FC-DC46B3B7E1D2}"/>
              </a:ext>
            </a:extLst>
          </p:cNvPr>
          <p:cNvCxnSpPr>
            <a:cxnSpLocks/>
          </p:cNvCxnSpPr>
          <p:nvPr/>
        </p:nvCxnSpPr>
        <p:spPr>
          <a:xfrm>
            <a:off x="5191782" y="3420419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ABD86A-CEAC-F719-27EE-F2BF3EE289B0}"/>
              </a:ext>
            </a:extLst>
          </p:cNvPr>
          <p:cNvCxnSpPr/>
          <p:nvPr/>
        </p:nvCxnSpPr>
        <p:spPr>
          <a:xfrm flipH="1">
            <a:off x="5191781" y="4088010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91584BE-1A95-72C1-53AD-0059E1155D84}"/>
              </a:ext>
            </a:extLst>
          </p:cNvPr>
          <p:cNvSpPr txBox="1"/>
          <p:nvPr/>
        </p:nvSpPr>
        <p:spPr>
          <a:xfrm>
            <a:off x="5380723" y="30619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invoer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F02E32-06D4-D8BE-F4F5-B9E43FB2D0C1}"/>
              </a:ext>
            </a:extLst>
          </p:cNvPr>
          <p:cNvSpPr txBox="1"/>
          <p:nvPr/>
        </p:nvSpPr>
        <p:spPr>
          <a:xfrm>
            <a:off x="5422991" y="408801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uitvoer</a:t>
            </a:r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Probabilistische berekeningen: input en output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noProof="0" dirty="0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noProof="0" dirty="0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noProof="0" smtClean="0"/>
              <a:t>7</a:t>
            </a:fld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99720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P</a:t>
                      </a:r>
                      <a:r>
                        <a:rPr lang="nl-NL" noProof="0" dirty="0" err="1"/>
                        <a:t>arameter</a:t>
                      </a:r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Verdeling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Waarden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(klei)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5x10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8x10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(zand)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30x10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50x10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Interface stijfheid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10</a:t>
                      </a:r>
                      <a:r>
                        <a:rPr lang="nl-NL" baseline="30000" noProof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Young 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200x10</a:t>
                      </a:r>
                      <a:r>
                        <a:rPr lang="nl-NL" baseline="30000" noProof="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</a:t>
                      </a:r>
                      <a:r>
                        <a:rPr lang="nl-NL" noProof="0" dirty="0" err="1"/>
                        <a:t>Poisson</a:t>
                      </a:r>
                      <a:r>
                        <a:rPr lang="nl-NL" noProof="0" dirty="0"/>
                        <a:t>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dikte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0.02159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Invoer: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82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Uitvoer:</a:t>
            </a:r>
            <a:r>
              <a:rPr lang="nl-NL" noProof="0" dirty="0"/>
              <a:t> totale verplaatsing in x-richting (maaiveld), maximaal buigmoment</a:t>
            </a:r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</a:t>
            </a:r>
            <a:r>
              <a:rPr lang="nl-NL" dirty="0" err="1"/>
              <a:t>nzekerheidsanalyse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5" y="1477695"/>
            <a:ext cx="10671170" cy="4320000"/>
          </a:xfrm>
        </p:spPr>
        <p:txBody>
          <a:bodyPr/>
          <a:lstStyle/>
          <a:p>
            <a:r>
              <a:rPr lang="nl-NL" dirty="0"/>
              <a:t>Monte Carlo met 1000 trekkingen,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7325477" y="2128746"/>
            <a:ext cx="276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Maximaal buigmoment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B4B1C1-E726-192B-82EE-E107240E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529" y="2498078"/>
            <a:ext cx="5310056" cy="39154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879936" y="2128746"/>
            <a:ext cx="4977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Totale verplaatsing in x-richting (maaiveld)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23AED5-622A-0F28-8ECF-2EF5E7D34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24" y="2628365"/>
            <a:ext cx="5312927" cy="373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Kans dat de totale verplaatsing een kritieke waarde overschrijdt: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Kans voor het maximale buigmoment een kritieke waarde overschrijdt: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Gecombineerde kans (een van de twee mogelijkheden):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Faalkans voor de verplaatsing,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/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blipFill>
                <a:blip r:embed="rId2"/>
                <a:stretch>
                  <a:fillRect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209315"/>
              </p:ext>
            </p:extLst>
          </p:nvPr>
        </p:nvGraphicFramePr>
        <p:xfrm>
          <a:off x="1117600" y="3158508"/>
          <a:ext cx="86148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404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95846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871625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Kritieke verplaatsing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123090" y="3545588"/>
            <a:ext cx="8614875" cy="304800"/>
          </a:xfrm>
          <a:custGeom>
            <a:avLst/>
            <a:gdLst>
              <a:gd name="connsiteX0" fmla="*/ 0 w 8614875"/>
              <a:gd name="connsiteY0" fmla="*/ 0 h 304800"/>
              <a:gd name="connsiteX1" fmla="*/ 488176 w 8614875"/>
              <a:gd name="connsiteY1" fmla="*/ 0 h 304800"/>
              <a:gd name="connsiteX2" fmla="*/ 890204 w 8614875"/>
              <a:gd name="connsiteY2" fmla="*/ 0 h 304800"/>
              <a:gd name="connsiteX3" fmla="*/ 1464529 w 8614875"/>
              <a:gd name="connsiteY3" fmla="*/ 0 h 304800"/>
              <a:gd name="connsiteX4" fmla="*/ 1780408 w 8614875"/>
              <a:gd name="connsiteY4" fmla="*/ 0 h 304800"/>
              <a:gd name="connsiteX5" fmla="*/ 2182435 w 8614875"/>
              <a:gd name="connsiteY5" fmla="*/ 0 h 304800"/>
              <a:gd name="connsiteX6" fmla="*/ 2929057 w 8614875"/>
              <a:gd name="connsiteY6" fmla="*/ 0 h 304800"/>
              <a:gd name="connsiteX7" fmla="*/ 3503382 w 8614875"/>
              <a:gd name="connsiteY7" fmla="*/ 0 h 304800"/>
              <a:gd name="connsiteX8" fmla="*/ 3905410 w 8614875"/>
              <a:gd name="connsiteY8" fmla="*/ 0 h 304800"/>
              <a:gd name="connsiteX9" fmla="*/ 4221289 w 8614875"/>
              <a:gd name="connsiteY9" fmla="*/ 0 h 304800"/>
              <a:gd name="connsiteX10" fmla="*/ 4709465 w 8614875"/>
              <a:gd name="connsiteY10" fmla="*/ 0 h 304800"/>
              <a:gd name="connsiteX11" fmla="*/ 5283790 w 8614875"/>
              <a:gd name="connsiteY11" fmla="*/ 0 h 304800"/>
              <a:gd name="connsiteX12" fmla="*/ 5685817 w 8614875"/>
              <a:gd name="connsiteY12" fmla="*/ 0 h 304800"/>
              <a:gd name="connsiteX13" fmla="*/ 6432440 w 8614875"/>
              <a:gd name="connsiteY13" fmla="*/ 0 h 304800"/>
              <a:gd name="connsiteX14" fmla="*/ 6920616 w 8614875"/>
              <a:gd name="connsiteY14" fmla="*/ 0 h 304800"/>
              <a:gd name="connsiteX15" fmla="*/ 7408792 w 8614875"/>
              <a:gd name="connsiteY15" fmla="*/ 0 h 304800"/>
              <a:gd name="connsiteX16" fmla="*/ 7896969 w 8614875"/>
              <a:gd name="connsiteY16" fmla="*/ 0 h 304800"/>
              <a:gd name="connsiteX17" fmla="*/ 8614875 w 8614875"/>
              <a:gd name="connsiteY17" fmla="*/ 0 h 304800"/>
              <a:gd name="connsiteX18" fmla="*/ 8614875 w 8614875"/>
              <a:gd name="connsiteY18" fmla="*/ 304800 h 304800"/>
              <a:gd name="connsiteX19" fmla="*/ 8040550 w 8614875"/>
              <a:gd name="connsiteY19" fmla="*/ 304800 h 304800"/>
              <a:gd name="connsiteX20" fmla="*/ 7293928 w 8614875"/>
              <a:gd name="connsiteY20" fmla="*/ 304800 h 304800"/>
              <a:gd name="connsiteX21" fmla="*/ 6891900 w 8614875"/>
              <a:gd name="connsiteY21" fmla="*/ 304800 h 304800"/>
              <a:gd name="connsiteX22" fmla="*/ 6231426 w 8614875"/>
              <a:gd name="connsiteY22" fmla="*/ 304800 h 304800"/>
              <a:gd name="connsiteX23" fmla="*/ 5657101 w 8614875"/>
              <a:gd name="connsiteY23" fmla="*/ 304800 h 304800"/>
              <a:gd name="connsiteX24" fmla="*/ 4910479 w 8614875"/>
              <a:gd name="connsiteY24" fmla="*/ 304800 h 304800"/>
              <a:gd name="connsiteX25" fmla="*/ 4508451 w 8614875"/>
              <a:gd name="connsiteY25" fmla="*/ 304800 h 304800"/>
              <a:gd name="connsiteX26" fmla="*/ 3761829 w 8614875"/>
              <a:gd name="connsiteY26" fmla="*/ 304800 h 304800"/>
              <a:gd name="connsiteX27" fmla="*/ 3445950 w 8614875"/>
              <a:gd name="connsiteY27" fmla="*/ 304800 h 304800"/>
              <a:gd name="connsiteX28" fmla="*/ 2699328 w 8614875"/>
              <a:gd name="connsiteY28" fmla="*/ 304800 h 304800"/>
              <a:gd name="connsiteX29" fmla="*/ 1952705 w 8614875"/>
              <a:gd name="connsiteY29" fmla="*/ 304800 h 304800"/>
              <a:gd name="connsiteX30" fmla="*/ 1378380 w 8614875"/>
              <a:gd name="connsiteY30" fmla="*/ 304800 h 304800"/>
              <a:gd name="connsiteX31" fmla="*/ 976353 w 8614875"/>
              <a:gd name="connsiteY31" fmla="*/ 304800 h 304800"/>
              <a:gd name="connsiteX32" fmla="*/ 488176 w 8614875"/>
              <a:gd name="connsiteY32" fmla="*/ 304800 h 304800"/>
              <a:gd name="connsiteX33" fmla="*/ 0 w 8614875"/>
              <a:gd name="connsiteY33" fmla="*/ 304800 h 304800"/>
              <a:gd name="connsiteX34" fmla="*/ 0 w 8614875"/>
              <a:gd name="connsiteY34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614875" h="304800" extrusionOk="0">
                <a:moveTo>
                  <a:pt x="0" y="0"/>
                </a:moveTo>
                <a:cubicBezTo>
                  <a:pt x="144277" y="-6644"/>
                  <a:pt x="352376" y="54271"/>
                  <a:pt x="488176" y="0"/>
                </a:cubicBezTo>
                <a:cubicBezTo>
                  <a:pt x="623976" y="-54271"/>
                  <a:pt x="716988" y="40241"/>
                  <a:pt x="890204" y="0"/>
                </a:cubicBezTo>
                <a:cubicBezTo>
                  <a:pt x="1063420" y="-40241"/>
                  <a:pt x="1328977" y="3905"/>
                  <a:pt x="1464529" y="0"/>
                </a:cubicBezTo>
                <a:cubicBezTo>
                  <a:pt x="1600082" y="-3905"/>
                  <a:pt x="1676960" y="26526"/>
                  <a:pt x="1780408" y="0"/>
                </a:cubicBezTo>
                <a:cubicBezTo>
                  <a:pt x="1883856" y="-26526"/>
                  <a:pt x="2053939" y="9150"/>
                  <a:pt x="2182435" y="0"/>
                </a:cubicBezTo>
                <a:cubicBezTo>
                  <a:pt x="2310931" y="-9150"/>
                  <a:pt x="2623881" y="68367"/>
                  <a:pt x="2929057" y="0"/>
                </a:cubicBezTo>
                <a:cubicBezTo>
                  <a:pt x="3234233" y="-68367"/>
                  <a:pt x="3376348" y="14315"/>
                  <a:pt x="3503382" y="0"/>
                </a:cubicBezTo>
                <a:cubicBezTo>
                  <a:pt x="3630416" y="-14315"/>
                  <a:pt x="3708577" y="42212"/>
                  <a:pt x="3905410" y="0"/>
                </a:cubicBezTo>
                <a:cubicBezTo>
                  <a:pt x="4102243" y="-42212"/>
                  <a:pt x="4068091" y="438"/>
                  <a:pt x="4221289" y="0"/>
                </a:cubicBezTo>
                <a:cubicBezTo>
                  <a:pt x="4374487" y="-438"/>
                  <a:pt x="4521307" y="27959"/>
                  <a:pt x="4709465" y="0"/>
                </a:cubicBezTo>
                <a:cubicBezTo>
                  <a:pt x="4897623" y="-27959"/>
                  <a:pt x="5140746" y="20408"/>
                  <a:pt x="5283790" y="0"/>
                </a:cubicBezTo>
                <a:cubicBezTo>
                  <a:pt x="5426834" y="-20408"/>
                  <a:pt x="5595505" y="24633"/>
                  <a:pt x="5685817" y="0"/>
                </a:cubicBezTo>
                <a:cubicBezTo>
                  <a:pt x="5776129" y="-24633"/>
                  <a:pt x="6085257" y="55229"/>
                  <a:pt x="6432440" y="0"/>
                </a:cubicBezTo>
                <a:cubicBezTo>
                  <a:pt x="6779623" y="-55229"/>
                  <a:pt x="6735777" y="26512"/>
                  <a:pt x="6920616" y="0"/>
                </a:cubicBezTo>
                <a:cubicBezTo>
                  <a:pt x="7105455" y="-26512"/>
                  <a:pt x="7183624" y="13401"/>
                  <a:pt x="7408792" y="0"/>
                </a:cubicBezTo>
                <a:cubicBezTo>
                  <a:pt x="7633960" y="-13401"/>
                  <a:pt x="7720563" y="30215"/>
                  <a:pt x="7896969" y="0"/>
                </a:cubicBezTo>
                <a:cubicBezTo>
                  <a:pt x="8073375" y="-30215"/>
                  <a:pt x="8348543" y="84464"/>
                  <a:pt x="8614875" y="0"/>
                </a:cubicBezTo>
                <a:cubicBezTo>
                  <a:pt x="8630610" y="78841"/>
                  <a:pt x="8605101" y="172418"/>
                  <a:pt x="8614875" y="304800"/>
                </a:cubicBezTo>
                <a:cubicBezTo>
                  <a:pt x="8478088" y="367983"/>
                  <a:pt x="8313452" y="252003"/>
                  <a:pt x="8040550" y="304800"/>
                </a:cubicBezTo>
                <a:cubicBezTo>
                  <a:pt x="7767649" y="357597"/>
                  <a:pt x="7506175" y="215367"/>
                  <a:pt x="7293928" y="304800"/>
                </a:cubicBezTo>
                <a:cubicBezTo>
                  <a:pt x="7081681" y="394233"/>
                  <a:pt x="6978039" y="292650"/>
                  <a:pt x="6891900" y="304800"/>
                </a:cubicBezTo>
                <a:cubicBezTo>
                  <a:pt x="6805761" y="316950"/>
                  <a:pt x="6531894" y="282119"/>
                  <a:pt x="6231426" y="304800"/>
                </a:cubicBezTo>
                <a:cubicBezTo>
                  <a:pt x="5930958" y="327481"/>
                  <a:pt x="5792527" y="249345"/>
                  <a:pt x="5657101" y="304800"/>
                </a:cubicBezTo>
                <a:cubicBezTo>
                  <a:pt x="5521676" y="360255"/>
                  <a:pt x="5201890" y="287167"/>
                  <a:pt x="4910479" y="304800"/>
                </a:cubicBezTo>
                <a:cubicBezTo>
                  <a:pt x="4619068" y="322433"/>
                  <a:pt x="4660452" y="264769"/>
                  <a:pt x="4508451" y="304800"/>
                </a:cubicBezTo>
                <a:cubicBezTo>
                  <a:pt x="4356450" y="344831"/>
                  <a:pt x="4119813" y="237483"/>
                  <a:pt x="3761829" y="304800"/>
                </a:cubicBezTo>
                <a:cubicBezTo>
                  <a:pt x="3403845" y="372117"/>
                  <a:pt x="3569663" y="293088"/>
                  <a:pt x="3445950" y="304800"/>
                </a:cubicBezTo>
                <a:cubicBezTo>
                  <a:pt x="3322237" y="316512"/>
                  <a:pt x="3059662" y="276256"/>
                  <a:pt x="2699328" y="304800"/>
                </a:cubicBezTo>
                <a:cubicBezTo>
                  <a:pt x="2338994" y="333344"/>
                  <a:pt x="2293979" y="263047"/>
                  <a:pt x="1952705" y="304800"/>
                </a:cubicBezTo>
                <a:cubicBezTo>
                  <a:pt x="1611431" y="346553"/>
                  <a:pt x="1509612" y="251757"/>
                  <a:pt x="1378380" y="304800"/>
                </a:cubicBezTo>
                <a:cubicBezTo>
                  <a:pt x="1247149" y="357843"/>
                  <a:pt x="1142319" y="288662"/>
                  <a:pt x="976353" y="304800"/>
                </a:cubicBezTo>
                <a:cubicBezTo>
                  <a:pt x="810387" y="320938"/>
                  <a:pt x="716184" y="282934"/>
                  <a:pt x="488176" y="304800"/>
                </a:cubicBezTo>
                <a:cubicBezTo>
                  <a:pt x="260168" y="326666"/>
                  <a:pt x="145214" y="263156"/>
                  <a:pt x="0" y="304800"/>
                </a:cubicBezTo>
                <a:cubicBezTo>
                  <a:pt x="-6435" y="236675"/>
                  <a:pt x="15890" y="9638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Kritieke verplaatsing = -0.18 m: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196104-64ED-9437-F548-48C726147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2545744"/>
            <a:ext cx="5671776" cy="29251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82CAC8-8A91-9E20-D9B1-478D56C33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920" y="2396376"/>
            <a:ext cx="4735213" cy="322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Faalkans voor het maximale buigmoment,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/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blipFill>
                <a:blip r:embed="rId2"/>
                <a:stretch>
                  <a:fillRect r="-383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868461"/>
              </p:ext>
            </p:extLst>
          </p:nvPr>
        </p:nvGraphicFramePr>
        <p:xfrm>
          <a:off x="1117600" y="3158508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 buigmoment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0.17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1.35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257300" y="4295775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 buigmoment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80028-C41E-6003-27E7-E46427BC5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46" y="2542119"/>
            <a:ext cx="5511054" cy="3231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A827CC-A314-0695-29BE-BBB98B348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707" y="2473358"/>
            <a:ext cx="4904524" cy="3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Gecombineerde kans:</a:t>
            </a:r>
          </a:p>
          <a:p>
            <a:endParaRPr lang="nl-NL" dirty="0"/>
          </a:p>
          <a:p>
            <a:r>
              <a:rPr lang="nl-NL" dirty="0"/>
              <a:t>Kritieke verplaatsing = -0.18 m, kritiek buigmoment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3988104"/>
                  </p:ext>
                </p:extLst>
              </p:nvPr>
            </p:nvGraphicFramePr>
            <p:xfrm>
              <a:off x="686294" y="3287718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0.09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1.35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0.85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3988104"/>
                  </p:ext>
                </p:extLst>
              </p:nvPr>
            </p:nvGraphicFramePr>
            <p:xfrm>
              <a:off x="686294" y="3287718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104762" r="-154464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201563" r="-154464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0.09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1.35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301563" r="-154464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0.85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6FB1-2A0E-A63E-17F5-583F6B990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7D671-A722-91EB-6D18-E4675FC30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974" y="1623229"/>
            <a:ext cx="4864096" cy="4320000"/>
          </a:xfrm>
        </p:spPr>
        <p:txBody>
          <a:bodyPr/>
          <a:lstStyle/>
          <a:p>
            <a:r>
              <a:rPr lang="nl-NL" dirty="0"/>
              <a:t>Ontwerppunt</a:t>
            </a:r>
          </a:p>
          <a:p>
            <a:r>
              <a:rPr lang="nl-NL" dirty="0"/>
              <a:t>Totale verplaatsing in de x-richting,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C78D6-FD6B-08FB-77DF-27BF2037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D5825-9CAB-F76A-09E0-21A29D055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58BD-16CC-FEE9-CF9F-8486B01A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BB642B-6D4F-DDFB-E165-7D4F60DB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9"/>
          <a:stretch/>
        </p:blipFill>
        <p:spPr>
          <a:xfrm>
            <a:off x="4872459" y="1392750"/>
            <a:ext cx="6963567" cy="478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514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964CC-5AEA-357F-FA8A-67BD41ECF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 mee aan de workshop om 14:15 uur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025C5-E00C-8F6E-E0CD-5FA237B89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Leer hoe je de probabilistische bibliotheek vanuit Python gebruikt</a:t>
            </a:r>
          </a:p>
          <a:p>
            <a:endParaRPr lang="nl-NL" dirty="0"/>
          </a:p>
          <a:p>
            <a:r>
              <a:rPr lang="nl-NL" dirty="0"/>
              <a:t>Leer over de details van de probabilistische berekeningen met </a:t>
            </a:r>
            <a:r>
              <a:rPr lang="nl-NL" dirty="0" err="1"/>
              <a:t>Kratos</a:t>
            </a:r>
            <a:r>
              <a:rPr lang="nl-NL" dirty="0"/>
              <a:t> (damwand)</a:t>
            </a:r>
          </a:p>
          <a:p>
            <a:pPr lvl="1"/>
            <a:r>
              <a:rPr lang="nl-NL" dirty="0"/>
              <a:t>Inclusief voorbeeld bewezen sterkte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27C9-2D11-1D7C-8086-D3D0329B7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149-D769-B831-C838-8D04E4E01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236BF-7CE7-3A2C-D6BD-E3C83F2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8110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AD39-E9DA-FE63-1A88-D7D60B325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Workshop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5F8FE-A11C-ED0D-568F-8D9DB1E2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1D297-D895-3814-7B93-00D4B8356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D8E11-03BE-7389-362B-1E233600A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45414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EE077-B27C-5318-B7A1-A6DAD1A41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Overzicht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934CD-04BD-3BCF-4B9C-FAFCE55B2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DEMO probabilistische bibliotheek (model in Python)</a:t>
            </a:r>
          </a:p>
          <a:p>
            <a:endParaRPr lang="nl-NL" dirty="0"/>
          </a:p>
          <a:p>
            <a:r>
              <a:rPr lang="nl-NL" dirty="0"/>
              <a:t>DEMO probabilistische berekeningen met </a:t>
            </a:r>
            <a:r>
              <a:rPr lang="nl-NL" dirty="0" err="1"/>
              <a:t>Kratos</a:t>
            </a:r>
            <a:r>
              <a:rPr lang="nl-NL" dirty="0"/>
              <a:t>, incl. 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6E64F-A92B-8519-705A-63F48427F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96454-D20D-CD1C-18EA-15849D62A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72D62-85D2-C9EE-E44B-C6475874A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7325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6E02AE-39D4-86C0-C0D6-C9A80CA59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535A4-68E7-FF4B-9538-C2F4FC81C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3B44A-2299-CADA-73EC-62A9493BE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F35EC-2479-52BB-12FA-5DCCB20EF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CE926-11C6-3E3B-C333-8119524A3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7AAC9-4C16-B951-5A44-8A6114476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5E4FD28-BE39-90AB-116C-AF89F865F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532582"/>
              </p:ext>
            </p:extLst>
          </p:nvPr>
        </p:nvGraphicFramePr>
        <p:xfrm>
          <a:off x="2431496" y="2488948"/>
          <a:ext cx="6978836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9418">
                  <a:extLst>
                    <a:ext uri="{9D8B030D-6E8A-4147-A177-3AD203B41FA5}">
                      <a16:colId xmlns:a16="http://schemas.microsoft.com/office/drawing/2014/main" val="3227878487"/>
                    </a:ext>
                  </a:extLst>
                </a:gridCol>
                <a:gridCol w="3489418">
                  <a:extLst>
                    <a:ext uri="{9D8B030D-6E8A-4147-A177-3AD203B41FA5}">
                      <a16:colId xmlns:a16="http://schemas.microsoft.com/office/drawing/2014/main" val="1645708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Dikte damwand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 (totale verplaatsing)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135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175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687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6850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944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664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1618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af.</a:t>
            </a:r>
            <a:endParaRPr lang="nl-NL" b="1" dirty="0"/>
          </a:p>
          <a:p>
            <a:endParaRPr lang="nl-NL" b="1" dirty="0"/>
          </a:p>
          <a:p>
            <a:r>
              <a:rPr lang="nl-NL" b="1" dirty="0"/>
              <a:t>Neem aan dat: </a:t>
            </a:r>
          </a:p>
          <a:p>
            <a:pPr lvl="1"/>
            <a:r>
              <a:rPr lang="nl-NL" dirty="0"/>
              <a:t>Dikte in 2025 = 0.025 m</a:t>
            </a:r>
          </a:p>
          <a:p>
            <a:pPr lvl="1"/>
            <a:r>
              <a:rPr lang="nl-NL" dirty="0"/>
              <a:t>Verwachte dikte in 2075 = 0.015 m</a:t>
            </a:r>
          </a:p>
          <a:p>
            <a:pPr lvl="1"/>
            <a:endParaRPr lang="nl-NL" dirty="0"/>
          </a:p>
          <a:p>
            <a:r>
              <a:rPr lang="nl-NL" b="1" dirty="0"/>
              <a:t>Bewezen sterkte:</a:t>
            </a:r>
            <a:r>
              <a:rPr lang="nl-NL" dirty="0"/>
              <a:t> we weten dat in 2025 de verplaatsing van de damwand de kritieke waarde van -0.18 m niet overschrijdt.</a:t>
            </a:r>
          </a:p>
          <a:p>
            <a:endParaRPr lang="nl-NL" dirty="0"/>
          </a:p>
          <a:p>
            <a:r>
              <a:rPr lang="nl-NL" b="1" dirty="0"/>
              <a:t>Vraag:</a:t>
            </a:r>
            <a:r>
              <a:rPr lang="nl-NL" dirty="0"/>
              <a:t> wat is de faalkans in 2075, gegeven dat de damwand in 2025 stabiel is?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EB0D-6A4A-6598-CB10-0AEEFACE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A1E-FED5-0207-5439-5C4B2AD44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3904-ED0A-03E9-A36E-E6D56EC64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u="sng" dirty="0"/>
              <a:t>A priori</a:t>
            </a:r>
            <a:r>
              <a:rPr lang="nl-NL" dirty="0"/>
              <a:t> faalkans in 2075, zonder aanvullende informatie: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Bewezen sterkte</a:t>
            </a:r>
            <a:r>
              <a:rPr lang="nl-NL" dirty="0"/>
              <a:t> kans in 2025: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A posteriori</a:t>
            </a:r>
            <a:r>
              <a:rPr lang="nl-NL" dirty="0"/>
              <a:t> faalkans in 2075, inclusief bewezen sterkte: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 err="1"/>
              <a:t>Bayesian</a:t>
            </a:r>
            <a:r>
              <a:rPr lang="nl-NL" dirty="0"/>
              <a:t> updating: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76C7A-DA7C-F595-5200-79E455DEE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FCAB7-233B-6577-B002-336AFFF7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238F8-5AB9-33A7-80BD-184EE193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21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/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blipFill>
                <a:blip r:embed="rId2"/>
                <a:stretch>
                  <a:fillRect l="-1483" t="-2083" r="-2331" b="-291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/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blipFill>
                <a:blip r:embed="rId3"/>
                <a:stretch>
                  <a:fillRect l="-1483" t="-2083" r="-2331" b="-2708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/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𝑑𝑖𝑠𝑝𝑙𝑎𝑐𝑒𝑚𝑒𝑛𝑡</m:t>
                              </m:r>
                            </m:sub>
                          </m:s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 2075&lt;0 </m:t>
                          </m:r>
                        </m:e>
                      </m:d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blipFill>
                <a:blip r:embed="rId4"/>
                <a:stretch>
                  <a:fillRect l="-444" r="-1000" b="-2264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/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 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𝑒𝑛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2025&gt;0)/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blipFill>
                <a:blip r:embed="rId5"/>
                <a:stretch>
                  <a:fillRect l="-141" r="-423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727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A87E3-11E8-6DBC-6049-EA9F057C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276F-8C43-B875-1E94-6EF608F0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CFECD-80B4-BFEB-87E3-72BCC76D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CDF5-CF4A-F508-1EB2-BEE54E18B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EB910-E0D0-94D5-90A7-A220109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22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89DEB28-7B77-78D1-1F35-405BED933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195323"/>
              </p:ext>
            </p:extLst>
          </p:nvPr>
        </p:nvGraphicFramePr>
        <p:xfrm>
          <a:off x="416459" y="1574800"/>
          <a:ext cx="10924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2080">
                  <a:extLst>
                    <a:ext uri="{9D8B030D-6E8A-4147-A177-3AD203B41FA5}">
                      <a16:colId xmlns:a16="http://schemas.microsoft.com/office/drawing/2014/main" val="2528922257"/>
                    </a:ext>
                  </a:extLst>
                </a:gridCol>
                <a:gridCol w="2472893">
                  <a:extLst>
                    <a:ext uri="{9D8B030D-6E8A-4147-A177-3AD203B41FA5}">
                      <a16:colId xmlns:a16="http://schemas.microsoft.com/office/drawing/2014/main" val="4123471549"/>
                    </a:ext>
                  </a:extLst>
                </a:gridCol>
                <a:gridCol w="3019039">
                  <a:extLst>
                    <a:ext uri="{9D8B030D-6E8A-4147-A177-3AD203B41FA5}">
                      <a16:colId xmlns:a16="http://schemas.microsoft.com/office/drawing/2014/main" val="916703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Stappen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9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priori faalkans in 2075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68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Bewezen sterkte in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-1.16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44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Gecombineerde kans (a priori en waarneming)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3.009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31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posteriori faalkans in 2075 (</a:t>
                      </a:r>
                      <a:r>
                        <a:rPr lang="it-IT" dirty="0" err="1"/>
                        <a:t>Bayesian</a:t>
                      </a:r>
                      <a:r>
                        <a:rPr lang="it-IT" dirty="0"/>
                        <a:t>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11187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1B30C64-86E7-4519-3B3F-64749B4B14C4}"/>
              </a:ext>
            </a:extLst>
          </p:cNvPr>
          <p:cNvSpPr txBox="1"/>
          <p:nvPr/>
        </p:nvSpPr>
        <p:spPr>
          <a:xfrm>
            <a:off x="416459" y="4157669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Rekening houdend met de bewezen sterkte is de faalkans in 2075 gedaald van 0.098 naar 0.0015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69DD5A-4C8B-28B5-BDE9-69BB3B121D6B}"/>
              </a:ext>
            </a:extLst>
          </p:cNvPr>
          <p:cNvSpPr txBox="1"/>
          <p:nvPr/>
        </p:nvSpPr>
        <p:spPr>
          <a:xfrm>
            <a:off x="416459" y="4784228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Aanname: Er treedt geen veroudering op in de grond- en damwandparameters</a:t>
            </a:r>
          </a:p>
        </p:txBody>
      </p:sp>
    </p:spTree>
    <p:extLst>
      <p:ext uri="{BB962C8B-B14F-4D97-AF65-F5344CB8AC3E}">
        <p14:creationId xmlns:p14="http://schemas.microsoft.com/office/powerpoint/2010/main" val="980719990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customXml/itemProps2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1391</TotalTime>
  <Words>1003</Words>
  <Application>Microsoft Office PowerPoint</Application>
  <PresentationFormat>Widescreen</PresentationFormat>
  <Paragraphs>284</Paragraphs>
  <Slides>22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Cambria Math</vt:lpstr>
      <vt:lpstr>Wingdings</vt:lpstr>
      <vt:lpstr>Deltares</vt:lpstr>
      <vt:lpstr>Probabilistische damwand-analyse met Kratos</vt:lpstr>
      <vt:lpstr>Overzicht</vt:lpstr>
      <vt:lpstr>Doel</vt:lpstr>
      <vt:lpstr>Probabilistische bibliotheek en Kratos</vt:lpstr>
      <vt:lpstr>Damwand model</vt:lpstr>
      <vt:lpstr>Damwand model gekoppeld aan probabilistische bibliotheek</vt:lpstr>
      <vt:lpstr>Probabilistische berekeningen: input en output</vt:lpstr>
      <vt:lpstr>Onzekerheidsanalyse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Doe mee aan de workshop om 14:15 uur</vt:lpstr>
      <vt:lpstr>Workshop</vt:lpstr>
      <vt:lpstr>Overzicht</vt:lpstr>
      <vt:lpstr>Bewezen sterkte</vt:lpstr>
      <vt:lpstr>Bewezen sterkte</vt:lpstr>
      <vt:lpstr>Bewezen sterkte</vt:lpstr>
      <vt:lpstr>Bewezen sterkte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Karolina Wojciechowska</cp:lastModifiedBy>
  <cp:revision>47</cp:revision>
  <dcterms:created xsi:type="dcterms:W3CDTF">2025-06-05T04:42:54Z</dcterms:created>
  <dcterms:modified xsi:type="dcterms:W3CDTF">2025-06-18T07:22:49Z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