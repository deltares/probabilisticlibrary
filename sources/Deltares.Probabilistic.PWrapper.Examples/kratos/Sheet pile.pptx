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60" r:id="rId5"/>
    <p:sldId id="263" r:id="rId6"/>
    <p:sldId id="264" r:id="rId7"/>
    <p:sldId id="272" r:id="rId8"/>
    <p:sldId id="261" r:id="rId9"/>
    <p:sldId id="265" r:id="rId10"/>
    <p:sldId id="267" r:id="rId11"/>
    <p:sldId id="262" r:id="rId12"/>
    <p:sldId id="266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8" r:id="rId21"/>
    <p:sldId id="279" r:id="rId22"/>
    <p:sldId id="280" r:id="rId23"/>
    <p:sldId id="281" r:id="rId24"/>
    <p:sldId id="282" r:id="rId25"/>
    <p:sldId id="285" r:id="rId2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FFFFFF"/>
    <a:srgbClr val="C0C0C0"/>
    <a:srgbClr val="707070"/>
    <a:srgbClr val="00B389"/>
    <a:srgbClr val="F1F3FD"/>
    <a:srgbClr val="0D38E0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033" autoAdjust="0"/>
    <p:restoredTop sz="94712" autoAdjust="0"/>
  </p:normalViewPr>
  <p:slideViewPr>
    <p:cSldViewPr snapToGrid="0" showGuides="1">
      <p:cViewPr varScale="1">
        <p:scale>
          <a:sx n="106" d="100"/>
          <a:sy n="106" d="100"/>
        </p:scale>
        <p:origin x="15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7" name="Ondertitel 6">
            <a:extLst>
              <a:ext uri="{FF2B5EF4-FFF2-40B4-BE49-F238E27FC236}">
                <a16:creationId xmlns:a16="http://schemas.microsoft.com/office/drawing/2014/main" id="{838C8FD7-55FC-4DBD-825A-309E45D663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nl-NL" dirty="0" err="1"/>
              <a:t>ratos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probabilistic</a:t>
            </a:r>
            <a:r>
              <a:rPr lang="nl-NL" dirty="0"/>
              <a:t> </a:t>
            </a:r>
            <a:r>
              <a:rPr lang="nl-NL" dirty="0" err="1"/>
              <a:t>library</a:t>
            </a:r>
            <a:endParaRPr lang="nl-NL" dirty="0"/>
          </a:p>
        </p:txBody>
      </p:sp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Sheet </a:t>
            </a:r>
            <a:r>
              <a:rPr lang="nl-NL" dirty="0" err="1"/>
              <a:t>pile</a:t>
            </a:r>
            <a:r>
              <a:rPr lang="nl-NL" dirty="0"/>
              <a:t> model, stages</a:t>
            </a:r>
          </a:p>
          <a:p>
            <a:endParaRPr lang="nl-NL" dirty="0"/>
          </a:p>
          <a:p>
            <a:r>
              <a:rPr lang="nl-NL" dirty="0" err="1"/>
              <a:t>Linear</a:t>
            </a:r>
            <a:r>
              <a:rPr lang="nl-NL" dirty="0"/>
              <a:t> model:</a:t>
            </a:r>
          </a:p>
          <a:p>
            <a:pPr lvl="1"/>
            <a:r>
              <a:rPr lang="nl-NL" dirty="0"/>
              <a:t>Variables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displacement x)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</a:t>
            </a:r>
            <a:r>
              <a:rPr lang="nl-NL" dirty="0" err="1"/>
              <a:t>bending</a:t>
            </a:r>
            <a:r>
              <a:rPr lang="nl-NL" dirty="0"/>
              <a:t> moment)</a:t>
            </a:r>
          </a:p>
          <a:p>
            <a:pPr lvl="1"/>
            <a:endParaRPr lang="nl-NL" dirty="0"/>
          </a:p>
          <a:p>
            <a:r>
              <a:rPr lang="nl-NL" dirty="0"/>
              <a:t>Mohr-Coulomb model:</a:t>
            </a:r>
          </a:p>
          <a:p>
            <a:pPr lvl="1"/>
            <a:r>
              <a:rPr lang="nl-NL" dirty="0"/>
              <a:t>Variables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displacement x)</a:t>
            </a:r>
          </a:p>
          <a:p>
            <a:pPr lvl="1"/>
            <a:r>
              <a:rPr lang="nl-NL" dirty="0" err="1"/>
              <a:t>Uncertainty</a:t>
            </a:r>
            <a:r>
              <a:rPr lang="nl-NL" dirty="0"/>
              <a:t> analysis (max </a:t>
            </a:r>
            <a:r>
              <a:rPr lang="nl-NL" dirty="0" err="1"/>
              <a:t>bending</a:t>
            </a:r>
            <a:r>
              <a:rPr lang="nl-NL" dirty="0"/>
              <a:t> moment)</a:t>
            </a:r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BA488-8F3B-21E3-AB86-AADB1AE05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Sheet pile model, stages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B551B0-F28C-7EB5-3460-45F2890B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EEEE1-F0E2-7B31-3AE3-0C5BA51EA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6C4EA-7FE2-F4F4-6DEC-D724F8EE2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46A8A2-817F-6148-F529-315B1D2BB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00" y="2388786"/>
            <a:ext cx="2211198" cy="20195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EA0149-C888-F673-CB72-EC135C817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0179" y="2118512"/>
            <a:ext cx="2282509" cy="22897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09685D-46F0-EC77-3255-A9CB58A7B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8361" y="2118512"/>
            <a:ext cx="2319145" cy="228978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893A307-EAB1-5060-9AAD-26E0BE98C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1312" y="2096601"/>
            <a:ext cx="2319145" cy="2311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D686DB-F205-94B4-A8A3-D9B146E3A38E}"/>
              </a:ext>
            </a:extLst>
          </p:cNvPr>
          <p:cNvSpPr txBox="1"/>
          <p:nvPr/>
        </p:nvSpPr>
        <p:spPr>
          <a:xfrm>
            <a:off x="1166492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5E1FB-22AD-B190-E64F-487F28A344A3}"/>
              </a:ext>
            </a:extLst>
          </p:cNvPr>
          <p:cNvSpPr txBox="1"/>
          <p:nvPr/>
        </p:nvSpPr>
        <p:spPr>
          <a:xfrm>
            <a:off x="4181058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64F5CC-580B-949C-EE56-580F3F4B5ED7}"/>
              </a:ext>
            </a:extLst>
          </p:cNvPr>
          <p:cNvSpPr txBox="1"/>
          <p:nvPr/>
        </p:nvSpPr>
        <p:spPr>
          <a:xfrm>
            <a:off x="6875531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6B8805-BA9B-2983-2270-DC15E3568C42}"/>
              </a:ext>
            </a:extLst>
          </p:cNvPr>
          <p:cNvSpPr txBox="1"/>
          <p:nvPr/>
        </p:nvSpPr>
        <p:spPr>
          <a:xfrm>
            <a:off x="9888482" y="3973003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8FD31-8BAC-85B7-6B4F-8648246BA570}"/>
              </a:ext>
            </a:extLst>
          </p:cNvPr>
          <p:cNvSpPr txBox="1"/>
          <p:nvPr/>
        </p:nvSpPr>
        <p:spPr>
          <a:xfrm>
            <a:off x="1179533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2F76B4-3304-62EB-7EED-2FBC67B73804}"/>
              </a:ext>
            </a:extLst>
          </p:cNvPr>
          <p:cNvSpPr txBox="1"/>
          <p:nvPr/>
        </p:nvSpPr>
        <p:spPr>
          <a:xfrm>
            <a:off x="3971555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86162D-372D-2060-00C8-0FCCCDE73EF4}"/>
              </a:ext>
            </a:extLst>
          </p:cNvPr>
          <p:cNvSpPr txBox="1"/>
          <p:nvPr/>
        </p:nvSpPr>
        <p:spPr>
          <a:xfrm>
            <a:off x="6776781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197CB4-1E7A-5167-9E9D-B8EF001085C2}"/>
              </a:ext>
            </a:extLst>
          </p:cNvPr>
          <p:cNvSpPr txBox="1"/>
          <p:nvPr/>
        </p:nvSpPr>
        <p:spPr>
          <a:xfrm>
            <a:off x="9741005" y="168321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Stage 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AD0272-5153-1BD0-47CB-DC3D939F6C1D}"/>
              </a:ext>
            </a:extLst>
          </p:cNvPr>
          <p:cNvSpPr txBox="1"/>
          <p:nvPr/>
        </p:nvSpPr>
        <p:spPr>
          <a:xfrm>
            <a:off x="653463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D0FD1A-AD2F-3206-056F-0F38AC983F30}"/>
              </a:ext>
            </a:extLst>
          </p:cNvPr>
          <p:cNvSpPr txBox="1"/>
          <p:nvPr/>
        </p:nvSpPr>
        <p:spPr>
          <a:xfrm>
            <a:off x="1734506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9DB149-B300-0A09-E684-99E2C7C83EDC}"/>
              </a:ext>
            </a:extLst>
          </p:cNvPr>
          <p:cNvSpPr txBox="1"/>
          <p:nvPr/>
        </p:nvSpPr>
        <p:spPr>
          <a:xfrm>
            <a:off x="675720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(1)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475726-34E2-C1A8-EFA5-8B99D4C4BA0A}"/>
              </a:ext>
            </a:extLst>
          </p:cNvPr>
          <p:cNvSpPr txBox="1"/>
          <p:nvPr/>
        </p:nvSpPr>
        <p:spPr>
          <a:xfrm>
            <a:off x="1689936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7826EE-D009-D4BC-34D2-6AD29CA4E6C3}"/>
              </a:ext>
            </a:extLst>
          </p:cNvPr>
          <p:cNvSpPr txBox="1"/>
          <p:nvPr/>
        </p:nvSpPr>
        <p:spPr>
          <a:xfrm>
            <a:off x="666892" y="2876929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(2)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841F13-4AA5-00EA-FD74-1D0EA6347ABC}"/>
              </a:ext>
            </a:extLst>
          </p:cNvPr>
          <p:cNvSpPr txBox="1"/>
          <p:nvPr/>
        </p:nvSpPr>
        <p:spPr>
          <a:xfrm>
            <a:off x="1709462" y="2885881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3B6CA-D627-F6DD-7FBC-11DB8D8F1984}"/>
              </a:ext>
            </a:extLst>
          </p:cNvPr>
          <p:cNvSpPr txBox="1"/>
          <p:nvPr/>
        </p:nvSpPr>
        <p:spPr>
          <a:xfrm>
            <a:off x="3408879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B1E385-CDB8-4372-0DB0-6F2E3FA3C4CF}"/>
              </a:ext>
            </a:extLst>
          </p:cNvPr>
          <p:cNvSpPr txBox="1"/>
          <p:nvPr/>
        </p:nvSpPr>
        <p:spPr>
          <a:xfrm>
            <a:off x="4489922" y="3452097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5F09E-6DCE-09B1-1E1B-DB19EB7C637A}"/>
              </a:ext>
            </a:extLst>
          </p:cNvPr>
          <p:cNvSpPr txBox="1"/>
          <p:nvPr/>
        </p:nvSpPr>
        <p:spPr>
          <a:xfrm>
            <a:off x="3431136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9555D8-F8E2-A58E-2273-1CD7B495E1CC}"/>
              </a:ext>
            </a:extLst>
          </p:cNvPr>
          <p:cNvSpPr txBox="1"/>
          <p:nvPr/>
        </p:nvSpPr>
        <p:spPr>
          <a:xfrm>
            <a:off x="4445352" y="245325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35DD13-0586-09F9-41CB-ABA8BC9EB5D7}"/>
              </a:ext>
            </a:extLst>
          </p:cNvPr>
          <p:cNvSpPr txBox="1"/>
          <p:nvPr/>
        </p:nvSpPr>
        <p:spPr>
          <a:xfrm>
            <a:off x="3422308" y="2876929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280768-B829-7E4D-F60C-B72A78938A0E}"/>
              </a:ext>
            </a:extLst>
          </p:cNvPr>
          <p:cNvSpPr txBox="1"/>
          <p:nvPr/>
        </p:nvSpPr>
        <p:spPr>
          <a:xfrm>
            <a:off x="4464878" y="2885881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1BDFB1-C3BB-76D8-9FF0-50CEABD7ACA9}"/>
              </a:ext>
            </a:extLst>
          </p:cNvPr>
          <p:cNvSpPr txBox="1"/>
          <p:nvPr/>
        </p:nvSpPr>
        <p:spPr>
          <a:xfrm>
            <a:off x="6130766" y="3461862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A9942F-B89F-A242-48AB-E207B6A7D616}"/>
              </a:ext>
            </a:extLst>
          </p:cNvPr>
          <p:cNvSpPr txBox="1"/>
          <p:nvPr/>
        </p:nvSpPr>
        <p:spPr>
          <a:xfrm>
            <a:off x="7211809" y="3461862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FD99D6-3A0A-93E2-7268-741F9FAE5C26}"/>
              </a:ext>
            </a:extLst>
          </p:cNvPr>
          <p:cNvSpPr txBox="1"/>
          <p:nvPr/>
        </p:nvSpPr>
        <p:spPr>
          <a:xfrm>
            <a:off x="6153023" y="2463018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(1)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C529D2-F8BF-E45E-3484-05E3580A7269}"/>
              </a:ext>
            </a:extLst>
          </p:cNvPr>
          <p:cNvSpPr txBox="1"/>
          <p:nvPr/>
        </p:nvSpPr>
        <p:spPr>
          <a:xfrm>
            <a:off x="7167239" y="2463018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8805B3-C0AE-6CD8-2DD1-5A4F43FD12F3}"/>
              </a:ext>
            </a:extLst>
          </p:cNvPr>
          <p:cNvSpPr txBox="1"/>
          <p:nvPr/>
        </p:nvSpPr>
        <p:spPr>
          <a:xfrm>
            <a:off x="6144195" y="2886694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(2)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2FB427-54A6-0BA5-8281-4B84D0139B1B}"/>
              </a:ext>
            </a:extLst>
          </p:cNvPr>
          <p:cNvSpPr txBox="1"/>
          <p:nvPr/>
        </p:nvSpPr>
        <p:spPr>
          <a:xfrm>
            <a:off x="7186765" y="2895646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FE92A3-07D3-AB1A-6381-B5DDF5148939}"/>
              </a:ext>
            </a:extLst>
          </p:cNvPr>
          <p:cNvSpPr txBox="1"/>
          <p:nvPr/>
        </p:nvSpPr>
        <p:spPr>
          <a:xfrm>
            <a:off x="9245454" y="337881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433968D-EFAE-52EF-5A46-350890796D74}"/>
              </a:ext>
            </a:extLst>
          </p:cNvPr>
          <p:cNvSpPr txBox="1"/>
          <p:nvPr/>
        </p:nvSpPr>
        <p:spPr>
          <a:xfrm>
            <a:off x="10326497" y="3378811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Sand (3)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600778-E9BA-72E5-6CC9-0B542456EB0C}"/>
              </a:ext>
            </a:extLst>
          </p:cNvPr>
          <p:cNvSpPr txBox="1"/>
          <p:nvPr/>
        </p:nvSpPr>
        <p:spPr>
          <a:xfrm>
            <a:off x="9267711" y="2379967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(1)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B6A0CF-3311-390C-B960-17754E416349}"/>
              </a:ext>
            </a:extLst>
          </p:cNvPr>
          <p:cNvSpPr txBox="1"/>
          <p:nvPr/>
        </p:nvSpPr>
        <p:spPr>
          <a:xfrm>
            <a:off x="10281927" y="2379967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(1)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EDE94D-05E0-8493-4F38-4906BC342AD9}"/>
              </a:ext>
            </a:extLst>
          </p:cNvPr>
          <p:cNvSpPr txBox="1"/>
          <p:nvPr/>
        </p:nvSpPr>
        <p:spPr>
          <a:xfrm>
            <a:off x="9258883" y="2803643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Caly</a:t>
            </a:r>
            <a:r>
              <a:rPr lang="nl-NL" dirty="0"/>
              <a:t> (2)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C5C062-EAAE-0A8D-7F9C-8976D43311BC}"/>
              </a:ext>
            </a:extLst>
          </p:cNvPr>
          <p:cNvSpPr txBox="1"/>
          <p:nvPr/>
        </p:nvSpPr>
        <p:spPr>
          <a:xfrm>
            <a:off x="10301453" y="281259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Clay</a:t>
            </a:r>
            <a:r>
              <a:rPr lang="nl-NL" dirty="0"/>
              <a:t> (2)</a:t>
            </a:r>
          </a:p>
        </p:txBody>
      </p:sp>
    </p:spTree>
    <p:extLst>
      <p:ext uri="{BB962C8B-B14F-4D97-AF65-F5344CB8AC3E}">
        <p14:creationId xmlns:p14="http://schemas.microsoft.com/office/powerpoint/2010/main" val="32493968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8509-50F9-9E41-D424-2292D73F7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Lineair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1703D-59DB-DD0E-A6BC-9B892D6DE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90A23-8984-5B40-E269-C9D195618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9C57B-5E65-3572-7160-6CAFE65C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8177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721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Variable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Distribution type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Parameters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(clay)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5x10**6 – 8x10**6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(sand)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30x10**6 – 50x10**6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Interface </a:t>
                      </a:r>
                      <a:r>
                        <a:rPr lang="en-GB" noProof="0" dirty="0"/>
                        <a:t>stiffness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10**11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Young modulus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200x10**9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Poisson ratio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thickness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0.02159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Input:</a:t>
            </a:r>
            <a:endParaRPr lang="nl-NL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186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Output:</a:t>
            </a:r>
            <a:r>
              <a:rPr lang="en-GB" dirty="0"/>
              <a:t> total displacement x (</a:t>
            </a:r>
            <a:r>
              <a:rPr lang="en-GB" u="sng" dirty="0" err="1"/>
              <a:t>maaiveld</a:t>
            </a:r>
            <a:r>
              <a:rPr lang="en-GB" u="sng" dirty="0"/>
              <a:t> node</a:t>
            </a:r>
            <a:r>
              <a:rPr lang="en-GB" dirty="0"/>
              <a:t>), max bending moment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0750-583B-78A2-B5BF-C0D8F95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1AC55-F590-2BAA-1B4E-8EA0AFB2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287CC-7400-041A-A9FC-0662B01E2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5873-3CEB-E17E-9809-473DF22CF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E4E91-3783-8040-3F7B-0DFF604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E5EB373-DBDA-A8CC-47C4-02AD1EA88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28EF475-0BA0-362B-0521-EABF10BB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00" y="1282574"/>
            <a:ext cx="6935168" cy="48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234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5FB2E-F26F-2E4C-9228-403A52EC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E00A1-F8BA-8988-2E7E-EECDE289B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608366-6E5C-DF4B-15B1-19B1E1E6D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CF555-B53B-B506-CFB7-E43549DE7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7F98B-EFC3-2436-1DE4-B7DF783B1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7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EEA8FB7-AAB0-D07E-BE14-879ACF7AD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F56796-2EE2-5456-0511-8A5B2CC59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656" y="1477695"/>
            <a:ext cx="6944694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746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E5813-946C-9B94-2C78-DA45DC24C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9DB6D-DC09-2479-9E5B-ADC770607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23159-E0E1-A346-7C11-B1544D340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C08EFD-F37B-E569-A760-A81689D7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894672E-B843-441A-5043-30BBC05B2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925792-F87F-57C5-D98D-8D84A669E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148" y="1477695"/>
            <a:ext cx="6868484" cy="482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19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52D5-590F-3209-A8A0-0E8A14D94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(total displacement x, </a:t>
            </a:r>
            <a:r>
              <a:rPr lang="en-GB" dirty="0" err="1"/>
              <a:t>maaiveld</a:t>
            </a:r>
            <a:r>
              <a:rPr lang="en-GB" dirty="0"/>
              <a:t>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342AA-CF70-2D16-271D-C9278D7B8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66DA4-83C9-C27D-3CFB-6608CE70E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F4DBB8-7E28-DAB8-E9F3-BB6A724C3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CF3FDD-6329-95A7-7209-8841D477A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3C68CC-A0BB-22A7-D89E-CF362BEA2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440" y="1477695"/>
            <a:ext cx="6897063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720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0C50-5D78-64D8-E519-EBF27D442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60810-9910-80C7-6CAC-08CFDCDC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73952-A13A-6F46-7193-929BBF3D3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B112-604C-3D02-3CCF-A409E83B4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93216-91BC-C160-4FFA-885D80F09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C19C42-5635-8A67-FCD9-BC3591C2C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5617990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</a:p>
          <a:p>
            <a:endParaRPr lang="en-GB" dirty="0"/>
          </a:p>
          <a:p>
            <a:r>
              <a:rPr lang="en-GB" dirty="0"/>
              <a:t>No results returned, but there was no sheet pile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55871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25252-C032-E0B7-BD68-E65DCEFFD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48982-6632-4C2C-84F0-69DAA63EF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7C184-92E1-ACC5-B7B2-781196D83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E5CB6-4BD7-988F-D221-70C57B6C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5D23E-159C-846E-E8DB-A9B4253E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D2C824B-60DC-ED72-0778-6465661E5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119134-BBFA-1A2D-900E-54C010B5B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035" y="1258914"/>
            <a:ext cx="7259063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080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5DFDC-03C4-0B9D-CC8D-73B7F2BB3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8A056-689A-012A-EDB1-0DED135D2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5A1672-562A-5A07-EE87-0F68DE0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E4556-8FA5-0E13-F987-2D84E6D06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D9CA1-EE4C-1377-F32D-C36C767E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2AD548E-07FF-299A-2445-CABF776B0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C9B679-3955-501E-9339-A0969596D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445" y="1324508"/>
            <a:ext cx="6839905" cy="499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346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6CE68-14F6-08CB-6920-980ED4B16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46917-55FB-FAE0-BB59-41A591E0F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AF3D6-C375-9F82-173D-9252D517D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82949-C7A4-BC6D-28E5-788F33196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86ABA-907C-1BE5-C39D-1166F3CF6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82F30A5-28A5-F4DA-D281-3C8E5F715D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50 – 100 samples</a:t>
            </a:r>
            <a:endParaRPr lang="nl-NL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D8982C-5B19-43AE-1E3E-98B467F45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248" y="1214436"/>
            <a:ext cx="6744641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47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3D1F9-EB6C-6F73-C644-E4F4830D7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44E41-E61B-DF9B-1078-5C3F2F52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Mohr-Coulomb model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ACB38-72BD-B979-59E8-4709E091A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779EF-73E2-0B6C-2423-7F7B5C364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AB01D-1939-3ED4-459E-86740CB2F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6741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D31A1-F02B-F7C7-08B5-E4166C89F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4082F-6B8E-FEF0-9CFB-0A807684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Variables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FD58E-246F-D0C6-4E39-66AC4CFE6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7C136-0E49-3AC0-0EBC-4B4C99409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F3495-6588-2424-F55E-386C2033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44BAEB6-9EFC-8BAF-C997-6DE6CE15E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531946"/>
              </p:ext>
            </p:extLst>
          </p:nvPr>
        </p:nvGraphicFramePr>
        <p:xfrm>
          <a:off x="755650" y="1790030"/>
          <a:ext cx="9520033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Variable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Distribution type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Parameters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Cohesion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Log-normal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Mu = 3, </a:t>
                      </a:r>
                      <a:r>
                        <a:rPr lang="en-GB" dirty="0" err="1"/>
                        <a:t>CoV</a:t>
                      </a:r>
                      <a:r>
                        <a:rPr lang="en-GB" dirty="0"/>
                        <a:t> = 0.2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Friction </a:t>
                      </a:r>
                      <a:r>
                        <a:rPr lang="nl-NL" dirty="0" err="1"/>
                        <a:t>angle</a:t>
                      </a:r>
                      <a:r>
                        <a:rPr lang="nl-NL" dirty="0"/>
                        <a:t> (</a:t>
                      </a:r>
                      <a:r>
                        <a:rPr lang="nl-NL" dirty="0" err="1"/>
                        <a:t>clay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Log-normal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Mu = 22.5, </a:t>
                      </a:r>
                      <a:r>
                        <a:rPr lang="en-GB" dirty="0" err="1"/>
                        <a:t>CoV</a:t>
                      </a:r>
                      <a:r>
                        <a:rPr lang="en-GB" dirty="0"/>
                        <a:t> = 0.08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Friction </a:t>
                      </a:r>
                      <a:r>
                        <a:rPr lang="nl-NL" dirty="0" err="1"/>
                        <a:t>angle</a:t>
                      </a:r>
                      <a:r>
                        <a:rPr lang="nl-NL" dirty="0"/>
                        <a:t> (</a:t>
                      </a:r>
                      <a:r>
                        <a:rPr lang="nl-NL" dirty="0" err="1"/>
                        <a:t>sand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dirty="0"/>
                        <a:t>Log-</a:t>
                      </a:r>
                      <a:r>
                        <a:rPr lang="nl-NL" dirty="0" err="1"/>
                        <a:t>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Mu = 32.5, </a:t>
                      </a:r>
                      <a:r>
                        <a:rPr lang="nl-NL" dirty="0" err="1"/>
                        <a:t>CoV</a:t>
                      </a:r>
                      <a:r>
                        <a:rPr lang="nl-NL" dirty="0"/>
                        <a:t> = 0.08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467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(clay)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5x10**6 – 8x10**6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98259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Young modulus (sand)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Uniform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30x10**6 – 50x10**6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2289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Young modulus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200x10**9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Poisson ratio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Sheet pile: thickness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Deterministic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0.02159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Interfaces (</a:t>
                      </a:r>
                      <a:r>
                        <a:rPr lang="nl-NL" dirty="0" err="1"/>
                        <a:t>cohesion</a:t>
                      </a:r>
                      <a:r>
                        <a:rPr lang="nl-NL" dirty="0"/>
                        <a:t>, friction </a:t>
                      </a:r>
                      <a:r>
                        <a:rPr lang="nl-NL" dirty="0" err="1"/>
                        <a:t>angle</a:t>
                      </a:r>
                      <a:r>
                        <a:rPr lang="nl-NL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The </a:t>
                      </a:r>
                      <a:r>
                        <a:rPr lang="nl-NL" dirty="0" err="1"/>
                        <a:t>same</a:t>
                      </a:r>
                      <a:r>
                        <a:rPr lang="nl-NL" dirty="0"/>
                        <a:t> as </a:t>
                      </a:r>
                      <a:r>
                        <a:rPr lang="nl-NL" dirty="0" err="1"/>
                        <a:t>soil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The </a:t>
                      </a:r>
                      <a:r>
                        <a:rPr lang="nl-NL" dirty="0" err="1"/>
                        <a:t>same</a:t>
                      </a:r>
                      <a:r>
                        <a:rPr lang="nl-NL" dirty="0"/>
                        <a:t> as </a:t>
                      </a:r>
                      <a:r>
                        <a:rPr lang="nl-NL" dirty="0" err="1"/>
                        <a:t>soil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1103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9B7C1FF-5AF7-7737-0FBC-94001479B3F5}"/>
              </a:ext>
            </a:extLst>
          </p:cNvPr>
          <p:cNvSpPr txBox="1"/>
          <p:nvPr/>
        </p:nvSpPr>
        <p:spPr>
          <a:xfrm>
            <a:off x="679010" y="1359570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Input:</a:t>
            </a:r>
            <a:endParaRPr lang="nl-NL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4FE316-8FBA-9D66-50C2-6AE3BC51BEAC}"/>
              </a:ext>
            </a:extLst>
          </p:cNvPr>
          <p:cNvSpPr txBox="1"/>
          <p:nvPr/>
        </p:nvSpPr>
        <p:spPr>
          <a:xfrm>
            <a:off x="679010" y="5682227"/>
            <a:ext cx="7186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Output:</a:t>
            </a:r>
            <a:r>
              <a:rPr lang="en-GB" dirty="0"/>
              <a:t> total displacement x (</a:t>
            </a:r>
            <a:r>
              <a:rPr lang="en-GB" dirty="0" err="1"/>
              <a:t>maaiveld</a:t>
            </a:r>
            <a:r>
              <a:rPr lang="en-GB" dirty="0"/>
              <a:t> node), max bending moment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708051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A3A51-61E9-6597-A5F8-AE87F8B0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160A-F280-9DB5-D6E6-E253F1FAE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total displacement)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96EB7-30FB-4C9E-686E-0C5536DB6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477FC-1804-133B-4E83-B0EEC917C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65DEF-922A-54B9-E029-C1810A674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8C9C8B4-A2F4-79C9-BF27-843D807D1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10 - 50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40995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623CA-C87C-2934-C3C0-F7010D525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AAD6B-3662-AB3F-E953-3D6C5EA99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total displacement)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D8C9C-DBE3-6620-2591-8AB9985D0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E3456F-2BFF-01A9-5B2C-8C6CE139C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9888A7-E080-021A-6429-3975AE574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ECBAEE2-4D59-04D8-B1AF-EBFB0B97D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10 - 50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81877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F1DEE-69F0-8140-5F89-C42000B9C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997B0-AA09-339D-08A1-C25F872F4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46FC9-6688-56B0-BA6D-B4B1CC22E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7F53C-8294-DBE8-A2FC-EFED6BE1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BB3DE-222C-5E36-A33A-40036EBA5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80850B-48C6-271B-BDF6-751574239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5219637" cy="4320000"/>
          </a:xfrm>
        </p:spPr>
        <p:txBody>
          <a:bodyPr/>
          <a:lstStyle/>
          <a:p>
            <a:r>
              <a:rPr lang="en-GB" dirty="0"/>
              <a:t>Stage 0 (</a:t>
            </a:r>
            <a:r>
              <a:rPr lang="en-GB" dirty="0">
                <a:highlight>
                  <a:srgbClr val="FFFF00"/>
                </a:highlight>
              </a:rPr>
              <a:t>no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</a:p>
          <a:p>
            <a:endParaRPr lang="en-GB" dirty="0"/>
          </a:p>
          <a:p>
            <a:r>
              <a:rPr lang="en-GB" dirty="0"/>
              <a:t>No results returned, but there was no sheet pile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10064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4995D-2A19-96B4-0F03-9C23C7181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2DA0E-E7F0-F416-E94A-41CCFDC9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06F27D-923F-9BD7-F4A7-E6787180D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17DB67-5651-541D-C8F9-AB38E8E14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2E792-2D99-A1FF-EA23-152248FB5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A230C75-467A-F733-B47E-EB33AA284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1 (</a:t>
            </a:r>
            <a:r>
              <a:rPr lang="en-GB" dirty="0">
                <a:highlight>
                  <a:srgbClr val="FFFF00"/>
                </a:highlight>
              </a:rPr>
              <a:t>with sheet pile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0608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7003F-D38A-ECA7-486F-30334F98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87441-6D38-9707-DB5C-EE4337FF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045E3-1693-6739-E60F-0F7EAB3F4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341270-1227-ABFA-4470-6F2C59B39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DDED3-9938-152D-922E-886F78ED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20</a:t>
            </a:fld>
            <a:endParaRPr lang="nl-NL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8EB9B49-02EA-D504-5992-F812CE579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2 (</a:t>
            </a:r>
            <a:r>
              <a:rPr lang="en-GB" dirty="0">
                <a:highlight>
                  <a:srgbClr val="FFFF00"/>
                </a:highlight>
              </a:rPr>
              <a:t>excavation, no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2325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0D4DF-93C6-7F04-1068-71DC1A011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A2759-86FC-23FA-E717-EB9ECDDC7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Uncertainty analysis (max bending moment)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A8DE8-F9A4-7B6C-CF74-1E140FEC4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9CE77-3888-B0BF-1785-C65CB489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A7249-DA45-90A9-2028-197200A13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21</a:t>
            </a:fld>
            <a:endParaRPr lang="nl-NL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E7FEA21-C5E4-F46F-6970-ABD2F3A0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4875605" cy="4320000"/>
          </a:xfrm>
        </p:spPr>
        <p:txBody>
          <a:bodyPr/>
          <a:lstStyle/>
          <a:p>
            <a:r>
              <a:rPr lang="en-GB" dirty="0"/>
              <a:t>Stage 3 (</a:t>
            </a:r>
            <a:r>
              <a:rPr lang="en-GB" dirty="0">
                <a:highlight>
                  <a:srgbClr val="FFFF00"/>
                </a:highlight>
              </a:rPr>
              <a:t>excavation, with anker</a:t>
            </a:r>
            <a:r>
              <a:rPr lang="en-GB" dirty="0"/>
              <a:t>)</a:t>
            </a:r>
          </a:p>
          <a:p>
            <a:endParaRPr lang="en-GB" dirty="0"/>
          </a:p>
          <a:p>
            <a:r>
              <a:rPr lang="en-GB" dirty="0"/>
              <a:t>Monte Carlo, 10 – 50 samples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81192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E3AD9-380B-94E1-847C-2E9B67823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Verbeterpunten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DD3CF-5425-EF78-AB96-B6701C5A0F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Lineair model:</a:t>
            </a:r>
          </a:p>
          <a:p>
            <a:pPr lvl="1"/>
            <a:r>
              <a:rPr lang="nl-NL" dirty="0">
                <a:highlight>
                  <a:srgbClr val="00FF00"/>
                </a:highlight>
              </a:rPr>
              <a:t>Interfaces aanpassen in het lineair model (</a:t>
            </a:r>
            <a:r>
              <a:rPr lang="nl-NL" dirty="0" err="1">
                <a:highlight>
                  <a:srgbClr val="00FF00"/>
                </a:highlight>
              </a:rPr>
              <a:t>normal</a:t>
            </a:r>
            <a:r>
              <a:rPr lang="nl-NL" dirty="0">
                <a:highlight>
                  <a:srgbClr val="00FF00"/>
                </a:highlight>
              </a:rPr>
              <a:t>, 10**11)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Klei: Volume gewicht + </a:t>
            </a:r>
            <a:r>
              <a:rPr lang="nl-NL" dirty="0" err="1">
                <a:highlight>
                  <a:srgbClr val="00FF00"/>
                </a:highlight>
                <a:sym typeface="Wingdings" panose="05000000000000000000" pitchFamily="2" charset="2"/>
              </a:rPr>
              <a:t>young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 modulus 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Totale displacement, op het maaiveld ter plaatse van de damwand (met teken)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maaiveld node 171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Onder + 2 net boven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zand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Correlatie</a:t>
            </a:r>
          </a:p>
          <a:p>
            <a:pPr lvl="1"/>
            <a:endParaRPr lang="nl-NL" dirty="0">
              <a:sym typeface="Wingdings" panose="05000000000000000000" pitchFamily="2" charset="2"/>
            </a:endParaRPr>
          </a:p>
          <a:p>
            <a:r>
              <a:rPr lang="nl-NL" dirty="0"/>
              <a:t>Mohr-</a:t>
            </a:r>
            <a:r>
              <a:rPr lang="nl-NL" dirty="0" err="1"/>
              <a:t>Coloumb</a:t>
            </a:r>
            <a:r>
              <a:rPr lang="nl-NL" dirty="0"/>
              <a:t>: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Klei: Volume gewicht + </a:t>
            </a:r>
            <a:r>
              <a:rPr lang="nl-NL" dirty="0" err="1">
                <a:highlight>
                  <a:srgbClr val="00FF00"/>
                </a:highlight>
                <a:sym typeface="Wingdings" panose="05000000000000000000" pitchFamily="2" charset="2"/>
              </a:rPr>
              <a:t>young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 modulus 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Totale displacement, op het maaiveld ter plaatse van de damwand (met teken)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maaiveld node 171</a:t>
            </a:r>
            <a:endParaRPr lang="nl-NL" dirty="0">
              <a:highlight>
                <a:srgbClr val="00FF00"/>
              </a:highlight>
            </a:endParaRPr>
          </a:p>
          <a:p>
            <a:pPr lvl="1"/>
            <a:r>
              <a:rPr lang="nl-NL" dirty="0">
                <a:highlight>
                  <a:srgbClr val="00FF00"/>
                </a:highlight>
              </a:rPr>
              <a:t>Onder + 2 net boven </a:t>
            </a:r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 zand</a:t>
            </a:r>
          </a:p>
          <a:p>
            <a:pPr lvl="1"/>
            <a:r>
              <a:rPr lang="nl-NL" dirty="0">
                <a:highlight>
                  <a:srgbClr val="00FF00"/>
                </a:highlight>
                <a:sym typeface="Wingdings" panose="05000000000000000000" pitchFamily="2" charset="2"/>
              </a:rPr>
              <a:t>Interfaces: net als bij grond</a:t>
            </a:r>
          </a:p>
          <a:p>
            <a:pPr lvl="1"/>
            <a:r>
              <a:rPr lang="nl-NL" dirty="0">
                <a:sym typeface="Wingdings" panose="05000000000000000000" pitchFamily="2" charset="2"/>
              </a:rPr>
              <a:t>Correlatie</a:t>
            </a:r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2A6D9-5E6D-33C4-BAE1-519482ED0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77769-2C7E-10FD-D8FE-6641A6519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0470F-12C8-D57D-4FE3-773987FA6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53124354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557</TotalTime>
  <Words>1005</Words>
  <Application>Microsoft Office PowerPoint</Application>
  <PresentationFormat>Widescreen</PresentationFormat>
  <Paragraphs>249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Wingdings</vt:lpstr>
      <vt:lpstr>Deltares</vt:lpstr>
      <vt:lpstr>Sheet pile</vt:lpstr>
      <vt:lpstr>Overview</vt:lpstr>
      <vt:lpstr>Sheet pile model, stages</vt:lpstr>
      <vt:lpstr>Lineair model</vt:lpstr>
      <vt:lpstr>Variables</vt:lpstr>
      <vt:lpstr>Uncertainty analysis (total displacement x, maaiveld)</vt:lpstr>
      <vt:lpstr>Uncertainty analysis (total displacement x, maaiveld)</vt:lpstr>
      <vt:lpstr>Uncertainty analysis (total displacement x, maaiveld)</vt:lpstr>
      <vt:lpstr>Uncertainty analysis (total displacement x, maaiveld)</vt:lpstr>
      <vt:lpstr>Uncertainty analysis (max bending moment)</vt:lpstr>
      <vt:lpstr>Uncertainty analysis (max bending moment)</vt:lpstr>
      <vt:lpstr>Uncertainty analysis (max bending moment)</vt:lpstr>
      <vt:lpstr>Uncertainty analysis (max bending moment)</vt:lpstr>
      <vt:lpstr>Mohr-Coulomb model</vt:lpstr>
      <vt:lpstr>Variables</vt:lpstr>
      <vt:lpstr>Uncertainty analysis (max total displacement)</vt:lpstr>
      <vt:lpstr>Uncertainty analysis (max total displacement)</vt:lpstr>
      <vt:lpstr>Uncertainty analysis (max bending moment)</vt:lpstr>
      <vt:lpstr>Uncertainty analysis (max bending moment)</vt:lpstr>
      <vt:lpstr>Uncertainty analysis (max bending moment)</vt:lpstr>
      <vt:lpstr>Uncertainty analysis (max bending moment)</vt:lpstr>
      <vt:lpstr>Verbeterpunten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Karolina Wojciechowska</cp:lastModifiedBy>
  <cp:revision>8</cp:revision>
  <dcterms:created xsi:type="dcterms:W3CDTF">2025-06-05T04:42:54Z</dcterms:created>
  <dcterms:modified xsi:type="dcterms:W3CDTF">2025-06-06T11:44:25Z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