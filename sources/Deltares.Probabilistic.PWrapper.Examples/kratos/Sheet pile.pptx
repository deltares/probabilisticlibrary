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60" r:id="rId5"/>
    <p:sldId id="263" r:id="rId6"/>
    <p:sldId id="264" r:id="rId7"/>
    <p:sldId id="272" r:id="rId8"/>
    <p:sldId id="261" r:id="rId9"/>
    <p:sldId id="265" r:id="rId10"/>
    <p:sldId id="267" r:id="rId11"/>
    <p:sldId id="262" r:id="rId12"/>
    <p:sldId id="266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8" r:id="rId21"/>
    <p:sldId id="279" r:id="rId22"/>
    <p:sldId id="280" r:id="rId23"/>
    <p:sldId id="281" r:id="rId24"/>
    <p:sldId id="282" r:id="rId25"/>
    <p:sldId id="283" r:id="rId26"/>
    <p:sldId id="285" r:id="rId2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FFFFFF"/>
    <a:srgbClr val="C0C0C0"/>
    <a:srgbClr val="707070"/>
    <a:srgbClr val="00B389"/>
    <a:srgbClr val="F1F3FD"/>
    <a:srgbClr val="0D38E0"/>
    <a:srgbClr val="080C80"/>
    <a:srgbClr val="0EA2ED"/>
    <a:srgbClr val="00D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033" autoAdjust="0"/>
    <p:restoredTop sz="94712" autoAdjust="0"/>
  </p:normalViewPr>
  <p:slideViewPr>
    <p:cSldViewPr snapToGrid="0" showGuides="1">
      <p:cViewPr varScale="1">
        <p:scale>
          <a:sx n="106" d="100"/>
          <a:sy n="106" d="100"/>
        </p:scale>
        <p:origin x="1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B07A4AF-8444-4E55-9211-06750DF868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59487" y="8229664"/>
            <a:ext cx="588963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9B6C5B75-63DC-4795-B872-D188C0279E99}" type="slidenum">
              <a:rPr lang="nl-NL" sz="1000" smtClean="0"/>
              <a:pPr/>
              <a:t>‹#›</a:t>
            </a:fld>
            <a:endParaRPr lang="nl-NL" sz="10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086CC55-5F13-427E-8D55-23A3E11C4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12" y="8635837"/>
            <a:ext cx="1080000" cy="3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349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extLst>
    <p:ext uri="{56416CCD-93CA-4268-BC5B-53C4BB910035}">
      <p15:sldGuideLst xmlns:p15="http://schemas.microsoft.com/office/powerpoint/2012/main"/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6172200" y="8685213"/>
            <a:ext cx="438150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/>
            </a:lvl1pPr>
          </a:lstStyle>
          <a:p>
            <a:fld id="{309F7339-69D5-4EA7-B93A-8AF4EDB56B8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EB29D91-C68B-40E2-ACA8-22AC17FBF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12" y="8592970"/>
            <a:ext cx="1080000" cy="351000"/>
          </a:xfrm>
          <a:prstGeom prst="rect">
            <a:avLst/>
          </a:prstGeom>
        </p:spPr>
      </p:pic>
      <p:sp>
        <p:nvSpPr>
          <p:cNvPr id="9" name="Tijdelijke aanduiding voor notities 8">
            <a:extLst>
              <a:ext uri="{FF2B5EF4-FFF2-40B4-BE49-F238E27FC236}">
                <a16:creationId xmlns:a16="http://schemas.microsoft.com/office/drawing/2014/main" id="{A3C8BF89-5841-4101-9B55-9A1ADF2AA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379500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10772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DeltaresNL/" TargetMode="External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hyperlink" Target="mailto:info@deltares.nl" TargetMode="External"/><Relationship Id="rId21" Type="http://schemas.openxmlformats.org/officeDocument/2006/relationships/image" Target="../media/image19.svg"/><Relationship Id="rId7" Type="http://schemas.openxmlformats.org/officeDocument/2006/relationships/hyperlink" Target="https://www.instagram.com/deltares/" TargetMode="External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image" Target="../media/image6.jp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deltares.nl/" TargetMode="External"/><Relationship Id="rId11" Type="http://schemas.openxmlformats.org/officeDocument/2006/relationships/image" Target="../media/image9.svg"/><Relationship Id="rId5" Type="http://schemas.openxmlformats.org/officeDocument/2006/relationships/hyperlink" Target="https://www.linkedin.com/company/deltares" TargetMode="External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hyperlink" Target="https://twitter.com/deltares/" TargetMode="External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1.svg"/><Relationship Id="rId3" Type="http://schemas.openxmlformats.org/officeDocument/2006/relationships/image" Target="../media/image7.png"/><Relationship Id="rId7" Type="http://schemas.openxmlformats.org/officeDocument/2006/relationships/image" Target="../media/image13.svg"/><Relationship Id="rId12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9.svg"/><Relationship Id="rId5" Type="http://schemas.openxmlformats.org/officeDocument/2006/relationships/image" Target="../media/image9.svg"/><Relationship Id="rId15" Type="http://schemas.openxmlformats.org/officeDocument/2006/relationships/image" Target="../media/image15.sv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svg"/><Relationship Id="rId1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532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6860" y="5295900"/>
            <a:ext cx="600222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6861" y="3854640"/>
            <a:ext cx="600222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22938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3258" y="1766078"/>
            <a:ext cx="6006145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604582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057708-D1C8-4296-B46B-067A31C01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013580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Titeldia met vierkant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85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80256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Groen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454C307C-D04D-4709-9FD4-571150894DD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419398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Blauw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FE604B20-D198-4E8C-9B1F-0066D909E5D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739235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FEC7CA-9C23-4C8C-8E52-48827CB3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AB16DB44-A35C-4555-8271-1BC45D5E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8298A93-251E-4C71-ACF3-6A138886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E74A889B-77F6-4552-B217-7A2CA16B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9EBD329-956B-407B-9AD6-0D41AC6CB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1" y="1762124"/>
            <a:ext cx="10517112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ijdelijke aanduiding voor afbeelding 13">
            <a:extLst>
              <a:ext uri="{FF2B5EF4-FFF2-40B4-BE49-F238E27FC236}">
                <a16:creationId xmlns:a16="http://schemas.microsoft.com/office/drawing/2014/main" id="{29C6F091-D152-418D-B9F8-A87580FF62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3358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afbeelding 13">
            <a:extLst>
              <a:ext uri="{FF2B5EF4-FFF2-40B4-BE49-F238E27FC236}">
                <a16:creationId xmlns:a16="http://schemas.microsoft.com/office/drawing/2014/main" id="{60BE643B-1ED0-4C44-A1BD-69154E5788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3876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2" name="Tijdelijke aanduiding voor afbeelding 13">
            <a:extLst>
              <a:ext uri="{FF2B5EF4-FFF2-40B4-BE49-F238E27FC236}">
                <a16:creationId xmlns:a16="http://schemas.microsoft.com/office/drawing/2014/main" id="{A065EEC8-0E39-4605-AE1D-D95CBC9048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14164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afbeelding 13">
            <a:extLst>
              <a:ext uri="{FF2B5EF4-FFF2-40B4-BE49-F238E27FC236}">
                <a16:creationId xmlns:a16="http://schemas.microsoft.com/office/drawing/2014/main" id="{48162130-D103-42A6-B07E-E8EF059018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54452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afbeelding 13">
            <a:extLst>
              <a:ext uri="{FF2B5EF4-FFF2-40B4-BE49-F238E27FC236}">
                <a16:creationId xmlns:a16="http://schemas.microsoft.com/office/drawing/2014/main" id="{7250C887-952A-4DC1-8215-8DFA36C6ED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4740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5" name="Tijdelijke aanduiding voor afbeelding 13">
            <a:extLst>
              <a:ext uri="{FF2B5EF4-FFF2-40B4-BE49-F238E27FC236}">
                <a16:creationId xmlns:a16="http://schemas.microsoft.com/office/drawing/2014/main" id="{B0075813-47FE-4243-A0DB-86635BED62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73502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afbeelding 13">
            <a:extLst>
              <a:ext uri="{FF2B5EF4-FFF2-40B4-BE49-F238E27FC236}">
                <a16:creationId xmlns:a16="http://schemas.microsoft.com/office/drawing/2014/main" id="{B8D44326-7D12-4338-99E1-2E879D21A2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5317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4828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2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BD4A7-30E2-4E78-B4FA-A8B2C41A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89361EE-4435-4145-8E9D-4F0A53E9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6DFBB55-F053-4FC0-8FD6-FD27BC57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220EB44-40D1-4CAF-8FFD-29202A0A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564A6160-4B2C-4199-AB7C-023FEDE195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5650" y="1768763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8" name="Tijdelijke aanduiding voor inhoud 6">
            <a:extLst>
              <a:ext uri="{FF2B5EF4-FFF2-40B4-BE49-F238E27FC236}">
                <a16:creationId xmlns:a16="http://schemas.microsoft.com/office/drawing/2014/main" id="{A7315F35-EA75-4506-B955-CB617ACBDB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1825" y="1770636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359406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 met tit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B360240-711C-40DC-B819-28D5F76EA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2125"/>
            <a:ext cx="5065347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485B8C4-FFE1-4941-89E1-E5B658D7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650" y="2556001"/>
            <a:ext cx="5065347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D244503-4D19-475F-8DE3-680EA8CDC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997" y="1762125"/>
            <a:ext cx="5087002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D37810D-DEFA-432E-B30A-7F13B7EF0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997" y="2556001"/>
            <a:ext cx="5087002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D5B83A0-F52F-4A50-A779-6FBDEC06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0DF3265-27D0-49AD-8963-A3EC3CB2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32C89B3-2645-49EA-AE6E-C0189B3A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CFFACB9-41BE-4C1C-8FD9-C0590014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474446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77C9B-D616-43D5-9E9C-399615DA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97891F0-8DCB-4D52-8695-2AD66508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B044C9F-B1E5-43F8-ABA5-F8A0AF3B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14021C5-B1DD-464A-832F-A03BCAB5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962055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076175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5"/>
            <a:ext cx="5076175" cy="4322762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481776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4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724001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B5530F62-171F-4B44-ACAA-AC786B92F2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91825" y="5724000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051189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61FC5BFF-809B-4D7D-AC0F-5D7B92535F0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455737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F51408D9-846A-496F-B660-9763E7E9FC9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55911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B1122521-F62D-48C8-B637-D4F27028964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55824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650134BB-B103-4668-BCD7-561087B391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55737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jdelijke aanduiding voor tekst 8">
            <a:extLst>
              <a:ext uri="{FF2B5EF4-FFF2-40B4-BE49-F238E27FC236}">
                <a16:creationId xmlns:a16="http://schemas.microsoft.com/office/drawing/2014/main" id="{545B6CBB-4649-4D2E-B29A-C3F6E02090C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5824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9D1568BF-DD59-4BEE-A218-1B34F1C6B38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855911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450455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1768763"/>
            <a:ext cx="10512348" cy="4320000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6227857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olle breed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1743163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tekst 61">
            <a:extLst>
              <a:ext uri="{FF2B5EF4-FFF2-40B4-BE49-F238E27FC236}">
                <a16:creationId xmlns:a16="http://schemas.microsoft.com/office/drawing/2014/main" id="{CAD4495B-AA1A-4F62-8627-356151635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752" y="6267443"/>
            <a:ext cx="1188000" cy="3852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532634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str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7382169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70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40700" y="857"/>
            <a:ext cx="3599932" cy="6857143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245374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 sta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5340000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2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857"/>
            <a:ext cx="5644632" cy="6857143"/>
          </a:xfrm>
          <a:solidFill>
            <a:schemeClr val="bg1">
              <a:lumMod val="85000"/>
            </a:schemeClr>
          </a:solidFill>
        </p:spPr>
        <p:txBody>
          <a:bodyPr tIns="378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740227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of logo overz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F2D50-CADF-4163-A029-8B9A0424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10512000" cy="46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60EC3D4-D14B-4BCD-BF52-05BE98A99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36323C5-92AF-4A0E-82DF-F4AB426B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FFE8BBA-2E99-4D96-8F25-2A98D038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jdelijke aanduiding voor afbeelding 65">
            <a:extLst>
              <a:ext uri="{FF2B5EF4-FFF2-40B4-BE49-F238E27FC236}">
                <a16:creationId xmlns:a16="http://schemas.microsoft.com/office/drawing/2014/main" id="{2AF1D927-9FAE-49C1-9BD6-F1C4F8D7594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9" name="Tijdelijke aanduiding voor afbeelding 65">
            <a:extLst>
              <a:ext uri="{FF2B5EF4-FFF2-40B4-BE49-F238E27FC236}">
                <a16:creationId xmlns:a16="http://schemas.microsoft.com/office/drawing/2014/main" id="{733ADF27-84E5-4C77-A414-7F0E4DA3DA9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6724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1C857FC7-6D65-4C72-9D0F-581A48D0715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57799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B765388F-978F-43F5-923F-85D826894A4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08875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A87D663-B54E-4A21-A00C-0BD3BFB4647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3599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3" name="Tijdelijke aanduiding voor afbeelding 65">
            <a:extLst>
              <a:ext uri="{FF2B5EF4-FFF2-40B4-BE49-F238E27FC236}">
                <a16:creationId xmlns:a16="http://schemas.microsoft.com/office/drawing/2014/main" id="{56FDE74E-0F50-4155-BEEC-2850FDC97DB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556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D71C804D-3C0F-41A5-8373-6A3A8168C95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06724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0C3E9BDF-7ACE-40C6-8AC1-CCDE842E1F3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057799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4E753E60-0CC4-4D5F-9F09-D1EB7F5C1B6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208875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7" name="Tijdelijke aanduiding voor afbeelding 65">
            <a:extLst>
              <a:ext uri="{FF2B5EF4-FFF2-40B4-BE49-F238E27FC236}">
                <a16:creationId xmlns:a16="http://schemas.microsoft.com/office/drawing/2014/main" id="{3CA6A3D3-992C-4A44-ACE1-E437BA7329B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599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8" name="Tijdelijke aanduiding voor afbeelding 65">
            <a:extLst>
              <a:ext uri="{FF2B5EF4-FFF2-40B4-BE49-F238E27FC236}">
                <a16:creationId xmlns:a16="http://schemas.microsoft.com/office/drawing/2014/main" id="{92F6A7FF-822A-4C63-8F78-1CCC66B869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556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9" name="Tijdelijke aanduiding voor afbeelding 65">
            <a:extLst>
              <a:ext uri="{FF2B5EF4-FFF2-40B4-BE49-F238E27FC236}">
                <a16:creationId xmlns:a16="http://schemas.microsoft.com/office/drawing/2014/main" id="{9E6C6AC3-C163-4C9D-AC60-05BBCCF9147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06724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0" name="Tijdelijke aanduiding voor afbeelding 65">
            <a:extLst>
              <a:ext uri="{FF2B5EF4-FFF2-40B4-BE49-F238E27FC236}">
                <a16:creationId xmlns:a16="http://schemas.microsoft.com/office/drawing/2014/main" id="{3168A12F-BFBE-4360-98BA-A467C3F113E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057799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1" name="Tijdelijke aanduiding voor afbeelding 65">
            <a:extLst>
              <a:ext uri="{FF2B5EF4-FFF2-40B4-BE49-F238E27FC236}">
                <a16:creationId xmlns:a16="http://schemas.microsoft.com/office/drawing/2014/main" id="{27717DEB-1276-417F-A482-0C7E87407CF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08875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2" name="Tijdelijke aanduiding voor afbeelding 65">
            <a:extLst>
              <a:ext uri="{FF2B5EF4-FFF2-40B4-BE49-F238E27FC236}">
                <a16:creationId xmlns:a16="http://schemas.microsoft.com/office/drawing/2014/main" id="{DC804FE7-5194-45B7-9F11-66B83C126F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599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3" name="Tijdelijke aanduiding voor afbeelding 65">
            <a:extLst>
              <a:ext uri="{FF2B5EF4-FFF2-40B4-BE49-F238E27FC236}">
                <a16:creationId xmlns:a16="http://schemas.microsoft.com/office/drawing/2014/main" id="{13BF1A4D-0004-47F5-BD22-5574315802E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556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4" name="Tijdelijke aanduiding voor afbeelding 65">
            <a:extLst>
              <a:ext uri="{FF2B5EF4-FFF2-40B4-BE49-F238E27FC236}">
                <a16:creationId xmlns:a16="http://schemas.microsoft.com/office/drawing/2014/main" id="{40E7FE1B-81AA-4D57-A470-4914C5DE25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06724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5" name="Tijdelijke aanduiding voor afbeelding 65">
            <a:extLst>
              <a:ext uri="{FF2B5EF4-FFF2-40B4-BE49-F238E27FC236}">
                <a16:creationId xmlns:a16="http://schemas.microsoft.com/office/drawing/2014/main" id="{D4810DC4-4E2F-4B0D-88EA-49713EC28B6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057799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6" name="Tijdelijke aanduiding voor afbeelding 65">
            <a:extLst>
              <a:ext uri="{FF2B5EF4-FFF2-40B4-BE49-F238E27FC236}">
                <a16:creationId xmlns:a16="http://schemas.microsoft.com/office/drawing/2014/main" id="{C38C4235-7F22-4988-B598-0D97819CFE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208875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7" name="Tijdelijke aanduiding voor afbeelding 65">
            <a:extLst>
              <a:ext uri="{FF2B5EF4-FFF2-40B4-BE49-F238E27FC236}">
                <a16:creationId xmlns:a16="http://schemas.microsoft.com/office/drawing/2014/main" id="{F9CC71FE-8D91-41AA-BD80-0A48C4E294A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599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9775882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met bol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256FF6D-B760-43BA-B16F-E3D5015A3F29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53" y="447038"/>
            <a:ext cx="5497409" cy="594360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2711AF3-2B55-481E-9ED2-5ACC1009CDA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439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4876A113-1D30-4087-9D42-E90369759F0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132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81E34DD4-0E1C-4461-98C5-DDEC9922F5D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670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449E03-26AF-49A4-81EB-7C9E0730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11195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blau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tx2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2BE7A57-D121-4714-8A53-2C2146121931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820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6C7F7593-F4BA-42C6-A380-DDE2C8EFDE6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513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DDBCD6E0-B215-4817-9034-DD97790855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5051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17776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accent4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924D0FF-5EBE-4860-837B-BFB572136BD6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54CB1E06-8FF5-435E-8680-1F32B34785F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2A789FDD-DFC0-4340-8081-AD0F03E80E4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0792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en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5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2035359" y="1513268"/>
            <a:ext cx="8128800" cy="4572000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5BDAF44-690D-4351-8FD6-C1E9BED26CF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9915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3674169-AF61-4435-A283-A72FDC76FF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608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37B8B9B-1532-42C6-9518-5A4FFA46DA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146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701057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hele di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-582255"/>
            <a:ext cx="10517113" cy="504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0" y="-381"/>
            <a:ext cx="12192000" cy="6857325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44074A4-CF50-4C78-B45A-809AAE1C0D8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2ABB8A6-5903-42F4-80B8-B80E7DE199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1603FA5-FFD5-4564-BBCA-638420254F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011587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34A854-1FA0-4B51-9A92-125BD510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60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B3C54020-6274-482D-BF87-6C38C2F9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74C2B89-1B52-4DA9-B304-A626BCE8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A8AA3559-A58B-438D-A544-F79B7A9C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96020416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rond el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_wi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8" name="Ovaal 7">
            <a:extLst>
              <a:ext uri="{FF2B5EF4-FFF2-40B4-BE49-F238E27FC236}">
                <a16:creationId xmlns:a16="http://schemas.microsoft.com/office/drawing/2014/main" id="{EA007BEC-B68F-4D17-A66D-5C87F079B473}"/>
              </a:ext>
            </a:extLst>
          </p:cNvPr>
          <p:cNvSpPr>
            <a:spLocks noChangeAspect="1"/>
          </p:cNvSpPr>
          <p:nvPr userDrawn="1"/>
        </p:nvSpPr>
        <p:spPr>
          <a:xfrm>
            <a:off x="465064" y="455811"/>
            <a:ext cx="5943600" cy="594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8" name="Enabling_deltalife_wit">
            <a:extLst>
              <a:ext uri="{FF2B5EF4-FFF2-40B4-BE49-F238E27FC236}">
                <a16:creationId xmlns:a16="http://schemas.microsoft.com/office/drawing/2014/main" id="{CC1AB181-2C98-49C8-B934-9DA01A7107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2554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026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Enabling_deltalife_wit">
            <a:extLst>
              <a:ext uri="{FF2B5EF4-FFF2-40B4-BE49-F238E27FC236}">
                <a16:creationId xmlns:a16="http://schemas.microsoft.com/office/drawing/2014/main" id="{A4EF4C13-16AE-4FBA-9B9D-2EEA812DFA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8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(met animati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ircle Blue">
            <a:extLst>
              <a:ext uri="{FF2B5EF4-FFF2-40B4-BE49-F238E27FC236}">
                <a16:creationId xmlns:a16="http://schemas.microsoft.com/office/drawing/2014/main" id="{E67129F5-F9B1-464C-B563-6456865CCFF2}"/>
              </a:ext>
            </a:extLst>
          </p:cNvPr>
          <p:cNvSpPr>
            <a:spLocks noChangeAspect="1"/>
          </p:cNvSpPr>
          <p:nvPr userDrawn="1"/>
        </p:nvSpPr>
        <p:spPr>
          <a:xfrm>
            <a:off x="4384800" y="1580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Circle Green">
            <a:extLst>
              <a:ext uri="{FF2B5EF4-FFF2-40B4-BE49-F238E27FC236}">
                <a16:creationId xmlns:a16="http://schemas.microsoft.com/office/drawing/2014/main" id="{9D1A10F2-6EA4-4646-94AB-D1971B8790AC}"/>
              </a:ext>
            </a:extLst>
          </p:cNvPr>
          <p:cNvSpPr>
            <a:spLocks noChangeAspect="1"/>
          </p:cNvSpPr>
          <p:nvPr userDrawn="1"/>
        </p:nvSpPr>
        <p:spPr>
          <a:xfrm>
            <a:off x="4240800" y="1796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E1DF8627-4105-4921-8328-8A3BE55CDA89}"/>
              </a:ext>
            </a:extLst>
          </p:cNvPr>
          <p:cNvSpPr/>
          <p:nvPr userDrawn="1"/>
        </p:nvSpPr>
        <p:spPr>
          <a:xfrm>
            <a:off x="3123210" y="985652"/>
            <a:ext cx="7030193" cy="4773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Enabling_deltalife_wit">
            <a:extLst>
              <a:ext uri="{FF2B5EF4-FFF2-40B4-BE49-F238E27FC236}">
                <a16:creationId xmlns:a16="http://schemas.microsoft.com/office/drawing/2014/main" id="{F6979AE7-8CDB-45F8-88A4-AC18A1F0E5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0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7.40741E-7 L -0.0332 0.0604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300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2.22222E-6 L 0.04115 -0.0747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-375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3" animBg="1"/>
      <p:bldP spid="10" grpId="0" animBg="1"/>
      <p:bldP spid="10" grpId="1" animBg="1"/>
      <p:bldP spid="10" grpId="3" animBg="1"/>
      <p:bldP spid="3" grpId="0" animBg="1"/>
      <p:bldP spid="12" grpId="0" animBg="1"/>
    </p:bldLst>
  </p:timing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29" name="Tekstvak 28">
            <a:hlinkClick r:id="rId3"/>
            <a:extLst>
              <a:ext uri="{FF2B5EF4-FFF2-40B4-BE49-F238E27FC236}">
                <a16:creationId xmlns:a16="http://schemas.microsoft.com/office/drawing/2014/main" id="{C731B5EA-6866-4EBE-8138-DEC893F2E2E3}"/>
              </a:ext>
            </a:extLst>
          </p:cNvPr>
          <p:cNvSpPr txBox="1"/>
          <p:nvPr userDrawn="1"/>
        </p:nvSpPr>
        <p:spPr>
          <a:xfrm>
            <a:off x="1260000" y="2267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info@deltares.nl</a:t>
            </a:r>
          </a:p>
        </p:txBody>
      </p:sp>
      <p:sp>
        <p:nvSpPr>
          <p:cNvPr id="30" name="Tekstvak 29">
            <a:hlinkClick r:id="rId4"/>
            <a:extLst>
              <a:ext uri="{FF2B5EF4-FFF2-40B4-BE49-F238E27FC236}">
                <a16:creationId xmlns:a16="http://schemas.microsoft.com/office/drawing/2014/main" id="{B2A41075-9E8D-4E25-B2BA-1D1DD506088A}"/>
              </a:ext>
            </a:extLst>
          </p:cNvPr>
          <p:cNvSpPr txBox="1"/>
          <p:nvPr userDrawn="1"/>
        </p:nvSpPr>
        <p:spPr>
          <a:xfrm>
            <a:off x="4212000" y="1763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1" name="Tekstvak 30">
            <a:hlinkClick r:id="rId5"/>
            <a:extLst>
              <a:ext uri="{FF2B5EF4-FFF2-40B4-BE49-F238E27FC236}">
                <a16:creationId xmlns:a16="http://schemas.microsoft.com/office/drawing/2014/main" id="{58C063EF-2783-4DB8-8B62-49C28C8695C5}"/>
              </a:ext>
            </a:extLst>
          </p:cNvPr>
          <p:cNvSpPr txBox="1"/>
          <p:nvPr userDrawn="1"/>
        </p:nvSpPr>
        <p:spPr>
          <a:xfrm>
            <a:off x="6912000" y="1763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linkedin.com/company/deltares</a:t>
            </a:r>
          </a:p>
        </p:txBody>
      </p:sp>
      <p:sp>
        <p:nvSpPr>
          <p:cNvPr id="32" name="Tekstvak 31">
            <a:hlinkClick r:id="rId6"/>
            <a:extLst>
              <a:ext uri="{FF2B5EF4-FFF2-40B4-BE49-F238E27FC236}">
                <a16:creationId xmlns:a16="http://schemas.microsoft.com/office/drawing/2014/main" id="{5F163D96-77E3-420C-8665-5CE311574B20}"/>
              </a:ext>
            </a:extLst>
          </p:cNvPr>
          <p:cNvSpPr txBox="1"/>
          <p:nvPr userDrawn="1"/>
        </p:nvSpPr>
        <p:spPr>
          <a:xfrm>
            <a:off x="1260000" y="1763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www.deltares.nl</a:t>
            </a:r>
          </a:p>
        </p:txBody>
      </p:sp>
      <p:sp>
        <p:nvSpPr>
          <p:cNvPr id="33" name="Tekstvak 32">
            <a:hlinkClick r:id="rId7"/>
            <a:extLst>
              <a:ext uri="{FF2B5EF4-FFF2-40B4-BE49-F238E27FC236}">
                <a16:creationId xmlns:a16="http://schemas.microsoft.com/office/drawing/2014/main" id="{3B4E325A-D4A5-415E-A8C3-FF4A98631369}"/>
              </a:ext>
            </a:extLst>
          </p:cNvPr>
          <p:cNvSpPr txBox="1"/>
          <p:nvPr userDrawn="1"/>
        </p:nvSpPr>
        <p:spPr>
          <a:xfrm>
            <a:off x="4212000" y="2267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4" name="Tekstvak 33">
            <a:hlinkClick r:id="rId8"/>
            <a:extLst>
              <a:ext uri="{FF2B5EF4-FFF2-40B4-BE49-F238E27FC236}">
                <a16:creationId xmlns:a16="http://schemas.microsoft.com/office/drawing/2014/main" id="{052934D0-6B1B-4AB9-8002-224050C7A1A1}"/>
              </a:ext>
            </a:extLst>
          </p:cNvPr>
          <p:cNvSpPr txBox="1"/>
          <p:nvPr userDrawn="1"/>
        </p:nvSpPr>
        <p:spPr>
          <a:xfrm>
            <a:off x="6912000" y="2267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facebook.com/deltaresNL</a:t>
            </a:r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hlinkClick r:id="rId6"/>
            <a:extLst>
              <a:ext uri="{FF2B5EF4-FFF2-40B4-BE49-F238E27FC236}">
                <a16:creationId xmlns:a16="http://schemas.microsoft.com/office/drawing/2014/main" id="{0D7005BD-5B17-436C-95BF-D53FCBDA054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000" y="1764000"/>
            <a:ext cx="306000" cy="306000"/>
          </a:xfrm>
          <a:prstGeom prst="rect">
            <a:avLst/>
          </a:prstGeom>
        </p:spPr>
      </p:pic>
      <p:pic>
        <p:nvPicPr>
          <p:cNvPr id="9" name="Graphic 8">
            <a:hlinkClick r:id="rId5"/>
            <a:extLst>
              <a:ext uri="{FF2B5EF4-FFF2-40B4-BE49-F238E27FC236}">
                <a16:creationId xmlns:a16="http://schemas.microsoft.com/office/drawing/2014/main" id="{48ED5D6E-BB00-4DF8-8A4A-B64CCA32001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8000" y="1764000"/>
            <a:ext cx="306000" cy="306000"/>
          </a:xfrm>
          <a:prstGeom prst="rect">
            <a:avLst/>
          </a:prstGeom>
        </p:spPr>
      </p:pic>
      <p:pic>
        <p:nvPicPr>
          <p:cNvPr id="12" name="Graphic 11">
            <a:hlinkClick r:id="rId3"/>
            <a:extLst>
              <a:ext uri="{FF2B5EF4-FFF2-40B4-BE49-F238E27FC236}">
                <a16:creationId xmlns:a16="http://schemas.microsoft.com/office/drawing/2014/main" id="{3D248AEC-10A5-4B7E-BF95-2E949619BAC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6000" y="2268000"/>
            <a:ext cx="306000" cy="306000"/>
          </a:xfrm>
          <a:prstGeom prst="rect">
            <a:avLst/>
          </a:prstGeom>
        </p:spPr>
      </p:pic>
      <p:pic>
        <p:nvPicPr>
          <p:cNvPr id="16" name="Graphic 15">
            <a:hlinkClick r:id="rId8"/>
            <a:extLst>
              <a:ext uri="{FF2B5EF4-FFF2-40B4-BE49-F238E27FC236}">
                <a16:creationId xmlns:a16="http://schemas.microsoft.com/office/drawing/2014/main" id="{54EB740A-0F53-4E1C-8587-DA2F01870AD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08000" y="2268000"/>
            <a:ext cx="306000" cy="306000"/>
          </a:xfrm>
          <a:prstGeom prst="rect">
            <a:avLst/>
          </a:prstGeom>
        </p:spPr>
      </p:pic>
      <p:pic>
        <p:nvPicPr>
          <p:cNvPr id="19" name="Graphic 18">
            <a:hlinkClick r:id="rId4"/>
            <a:extLst>
              <a:ext uri="{FF2B5EF4-FFF2-40B4-BE49-F238E27FC236}">
                <a16:creationId xmlns:a16="http://schemas.microsoft.com/office/drawing/2014/main" id="{3C2A80C3-6754-49BB-AE1D-787E3C8B82C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08000" y="1764000"/>
            <a:ext cx="306000" cy="306000"/>
          </a:xfrm>
          <a:prstGeom prst="rect">
            <a:avLst/>
          </a:prstGeom>
        </p:spPr>
      </p:pic>
      <p:pic>
        <p:nvPicPr>
          <p:cNvPr id="44" name="Graphic 43">
            <a:hlinkClick r:id="rId7"/>
            <a:extLst>
              <a:ext uri="{FF2B5EF4-FFF2-40B4-BE49-F238E27FC236}">
                <a16:creationId xmlns:a16="http://schemas.microsoft.com/office/drawing/2014/main" id="{7232CAEC-F3CE-4040-A772-F8A6B930251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08000" y="2268000"/>
            <a:ext cx="306000" cy="306000"/>
          </a:xfrm>
          <a:prstGeom prst="rect">
            <a:avLst/>
          </a:prstGeom>
        </p:spPr>
      </p:pic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5255237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45" userDrawn="1">
          <p15:clr>
            <a:srgbClr val="FBAE40"/>
          </p15:clr>
        </p15:guide>
        <p15:guide id="2" orient="horz" pos="2058" userDrawn="1">
          <p15:clr>
            <a:srgbClr val="FBAE40"/>
          </p15:clr>
        </p15:guide>
        <p15:guide id="3" orient="horz" pos="4026" userDrawn="1">
          <p15:clr>
            <a:srgbClr val="FBAE40"/>
          </p15:clr>
        </p15:guide>
        <p15:guide id="4" pos="4044" userDrawn="1">
          <p15:clr>
            <a:srgbClr val="FBAE40"/>
          </p15:clr>
        </p15:guide>
        <p15:guide id="5" pos="4362" userDrawn="1">
          <p15:clr>
            <a:srgbClr val="FBAE40"/>
          </p15:clr>
        </p15:guide>
        <p15:guide id="6" pos="2661" userDrawn="1">
          <p15:clr>
            <a:srgbClr val="FBAE40"/>
          </p15:clr>
        </p15:guide>
        <p15:guide id="7" pos="2343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(Vrij invulba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 28 november 2019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ijdelijke aanduiding voor tekst 3">
            <a:extLst>
              <a:ext uri="{FF2B5EF4-FFF2-40B4-BE49-F238E27FC236}">
                <a16:creationId xmlns:a16="http://schemas.microsoft.com/office/drawing/2014/main" id="{D05F72AB-9143-4CEB-9995-BC46F87996D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60000" y="1764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4" name="Tijdelijke aanduiding voor tekst 3">
            <a:extLst>
              <a:ext uri="{FF2B5EF4-FFF2-40B4-BE49-F238E27FC236}">
                <a16:creationId xmlns:a16="http://schemas.microsoft.com/office/drawing/2014/main" id="{140C74ED-3843-44B5-A036-98F1C0983D0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260000" y="2268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5" name="Tijdelijke aanduiding voor tekst 3">
            <a:extLst>
              <a:ext uri="{FF2B5EF4-FFF2-40B4-BE49-F238E27FC236}">
                <a16:creationId xmlns:a16="http://schemas.microsoft.com/office/drawing/2014/main" id="{7CB3B72F-829E-4802-89CE-5FAA887211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12000" y="1764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6" name="Tijdelijke aanduiding voor tekst 3">
            <a:extLst>
              <a:ext uri="{FF2B5EF4-FFF2-40B4-BE49-F238E27FC236}">
                <a16:creationId xmlns:a16="http://schemas.microsoft.com/office/drawing/2014/main" id="{E96C0F79-C1F5-448A-9B02-130652C5EFD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212000" y="2268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7" name="Tijdelijke aanduiding voor tekst 3">
            <a:extLst>
              <a:ext uri="{FF2B5EF4-FFF2-40B4-BE49-F238E27FC236}">
                <a16:creationId xmlns:a16="http://schemas.microsoft.com/office/drawing/2014/main" id="{3008B147-EF81-4851-A6A3-FDBC85BB5B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10369" y="1764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8" name="Tijdelijke aanduiding voor tekst 3">
            <a:extLst>
              <a:ext uri="{FF2B5EF4-FFF2-40B4-BE49-F238E27FC236}">
                <a16:creationId xmlns:a16="http://schemas.microsoft.com/office/drawing/2014/main" id="{D61D01F4-0D94-49A0-A0C6-2A6964B393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910369" y="2268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12238712-852D-4C83-A179-EE0F3F65535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5650" y="1764000"/>
            <a:ext cx="306000" cy="306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5" name="Tijdelijke aanduiding voor afbeelding 12">
            <a:extLst>
              <a:ext uri="{FF2B5EF4-FFF2-40B4-BE49-F238E27FC236}">
                <a16:creationId xmlns:a16="http://schemas.microsoft.com/office/drawing/2014/main" id="{B94B33D8-9ADC-46F3-9BAD-244DD869287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55650" y="2268000"/>
            <a:ext cx="306000" cy="306000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6" name="Tijdelijke aanduiding voor afbeelding 12">
            <a:extLst>
              <a:ext uri="{FF2B5EF4-FFF2-40B4-BE49-F238E27FC236}">
                <a16:creationId xmlns:a16="http://schemas.microsoft.com/office/drawing/2014/main" id="{7B078E79-A086-4E54-9016-28A2DBA0692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08000" y="1764000"/>
            <a:ext cx="306000" cy="30600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7" name="Tijdelijke aanduiding voor afbeelding 12">
            <a:extLst>
              <a:ext uri="{FF2B5EF4-FFF2-40B4-BE49-F238E27FC236}">
                <a16:creationId xmlns:a16="http://schemas.microsoft.com/office/drawing/2014/main" id="{9A2E3717-085D-4920-9B0E-8DBF1A42FCA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708000" y="2268000"/>
            <a:ext cx="306000" cy="306000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8" name="Tijdelijke aanduiding voor afbeelding 12">
            <a:extLst>
              <a:ext uri="{FF2B5EF4-FFF2-40B4-BE49-F238E27FC236}">
                <a16:creationId xmlns:a16="http://schemas.microsoft.com/office/drawing/2014/main" id="{77467CBB-F989-40AA-BAA1-DDC3FE2145D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408000" y="1764000"/>
            <a:ext cx="306000" cy="306000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9" name="Tijdelijke aanduiding voor afbeelding 12">
            <a:extLst>
              <a:ext uri="{FF2B5EF4-FFF2-40B4-BE49-F238E27FC236}">
                <a16:creationId xmlns:a16="http://schemas.microsoft.com/office/drawing/2014/main" id="{1C25A578-0CC7-464F-9CFB-1B9EC232EF8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408000" y="2268000"/>
            <a:ext cx="306000" cy="306000"/>
          </a:xfr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409454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3045">
          <p15:clr>
            <a:srgbClr val="FBAE40"/>
          </p15:clr>
        </p15:guide>
        <p15:guide id="2" orient="horz" pos="2058">
          <p15:clr>
            <a:srgbClr val="FBAE40"/>
          </p15:clr>
        </p15:guide>
        <p15:guide id="3" orient="horz" pos="4026">
          <p15:clr>
            <a:srgbClr val="FBAE40"/>
          </p15:clr>
        </p15:guide>
        <p15:guide id="4" pos="4044">
          <p15:clr>
            <a:srgbClr val="FBAE40"/>
          </p15:clr>
        </p15:guide>
        <p15:guide id="5" pos="4362">
          <p15:clr>
            <a:srgbClr val="FBAE40"/>
          </p15:clr>
        </p15:guide>
        <p15:guide id="6" pos="2661">
          <p15:clr>
            <a:srgbClr val="FBAE40"/>
          </p15:clr>
        </p15:guide>
        <p15:guide id="7" pos="234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Footer Bar">
            <a:extLst>
              <a:ext uri="{FF2B5EF4-FFF2-40B4-BE49-F238E27FC236}">
                <a16:creationId xmlns:a16="http://schemas.microsoft.com/office/drawing/2014/main" id="{022EB8B7-6824-4AED-BB2B-C0B109993AD1}"/>
              </a:ext>
            </a:extLst>
          </p:cNvPr>
          <p:cNvGrpSpPr/>
          <p:nvPr userDrawn="1"/>
        </p:nvGrpSpPr>
        <p:grpSpPr>
          <a:xfrm>
            <a:off x="11742000" y="0"/>
            <a:ext cx="450000" cy="6858000"/>
            <a:chOff x="11742000" y="0"/>
            <a:chExt cx="450000" cy="6858000"/>
          </a:xfrm>
          <a:solidFill>
            <a:schemeClr val="accent2">
              <a:alpha val="5882"/>
            </a:schemeClr>
          </a:solidFill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F9EE001-C15B-435E-9F44-1622C159FC17}"/>
                </a:ext>
              </a:extLst>
            </p:cNvPr>
            <p:cNvSpPr/>
            <p:nvPr userDrawn="1"/>
          </p:nvSpPr>
          <p:spPr>
            <a:xfrm>
              <a:off x="11742000" y="0"/>
              <a:ext cx="450000" cy="6858000"/>
            </a:xfrm>
            <a:prstGeom prst="rect">
              <a:avLst/>
            </a:prstGeom>
            <a:solidFill>
              <a:srgbClr val="F1F3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32440EA2-337B-4EDA-9C88-10B9002EF364}"/>
                </a:ext>
              </a:extLst>
            </p:cNvPr>
            <p:cNvCxnSpPr/>
            <p:nvPr userDrawn="1"/>
          </p:nvCxnSpPr>
          <p:spPr>
            <a:xfrm>
              <a:off x="11801530" y="6081711"/>
              <a:ext cx="324000" cy="0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8E966F5-006F-433A-9691-0B17633B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93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Dia met tekst. Voorbeeld van een lange tekst over twee regels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B2E2CE-1F7F-4603-9A75-FEAAFF73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8763"/>
            <a:ext cx="10512349" cy="43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Niveau 1, standaard met </a:t>
            </a:r>
            <a:r>
              <a:rPr lang="nl-NL" dirty="0" err="1"/>
              <a:t>bullets</a:t>
            </a:r>
            <a:endParaRPr lang="nl-NL" dirty="0"/>
          </a:p>
          <a:p>
            <a:pPr lvl="1"/>
            <a:r>
              <a:rPr lang="nl-NL" dirty="0"/>
              <a:t>Tweede niveau, (sub </a:t>
            </a:r>
            <a:r>
              <a:rPr lang="nl-NL" dirty="0" err="1"/>
              <a:t>bullets</a:t>
            </a:r>
            <a:r>
              <a:rPr lang="nl-NL" dirty="0"/>
              <a:t>)</a:t>
            </a:r>
          </a:p>
          <a:p>
            <a:pPr lvl="2"/>
            <a:r>
              <a:rPr lang="nl-NL" dirty="0"/>
              <a:t>Derde niveau (Leestekst)</a:t>
            </a:r>
          </a:p>
          <a:p>
            <a:pPr lvl="3"/>
            <a:r>
              <a:rPr lang="nl-NL" dirty="0"/>
              <a:t>Vierde niveau (Subtitel)</a:t>
            </a:r>
          </a:p>
          <a:p>
            <a:pPr lvl="4"/>
            <a:r>
              <a:rPr lang="nl-NL" dirty="0"/>
              <a:t>Vijfde niveau (Standaard met nummers)</a:t>
            </a:r>
          </a:p>
          <a:p>
            <a:pPr lvl="5"/>
            <a:r>
              <a:rPr lang="nl-NL" dirty="0"/>
              <a:t>Niveau zes (sub nummers)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4571E1-7B78-4AC3-AB7A-7A15720DF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20000" y="4157669"/>
            <a:ext cx="153888" cy="1485895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sz="1000" b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 dirty="0"/>
              <a:t> 28 november 2019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04B6D2-F868-492E-8371-701F4F999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89372" y="541695"/>
            <a:ext cx="153888" cy="5101869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lang="nl-NL" sz="10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 dirty="0"/>
              <a:t>Voettekst van de presentatie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491C4D-045B-4D79-8E4E-A715678EC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3163" y="6413498"/>
            <a:ext cx="450000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5" name="Deltares_Logo_klein">
            <a:extLst>
              <a:ext uri="{FF2B5EF4-FFF2-40B4-BE49-F238E27FC236}">
                <a16:creationId xmlns:a16="http://schemas.microsoft.com/office/drawing/2014/main" id="{CA5E38F1-EE2E-4740-B411-6A2F5838BECA}"/>
              </a:ext>
            </a:extLst>
          </p:cNvPr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756" y="6267123"/>
            <a:ext cx="1188000" cy="3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5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47" r:id="rId3"/>
    <p:sldLayoutId id="2147483691" r:id="rId4"/>
    <p:sldLayoutId id="2147483692" r:id="rId5"/>
    <p:sldLayoutId id="2147483664" r:id="rId6"/>
    <p:sldLayoutId id="2147483687" r:id="rId7"/>
    <p:sldLayoutId id="2147483689" r:id="rId8"/>
    <p:sldLayoutId id="2147483690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96" r:id="rId17"/>
    <p:sldLayoutId id="2147483682" r:id="rId18"/>
    <p:sldLayoutId id="2147483683" r:id="rId19"/>
    <p:sldLayoutId id="2147483749" r:id="rId20"/>
    <p:sldLayoutId id="2147483681" r:id="rId21"/>
    <p:sldLayoutId id="2147483752" r:id="rId22"/>
    <p:sldLayoutId id="2147483699" r:id="rId23"/>
    <p:sldLayoutId id="2147483748" r:id="rId24"/>
    <p:sldLayoutId id="2147483656" r:id="rId25"/>
    <p:sldLayoutId id="2147483753" r:id="rId26"/>
    <p:sldLayoutId id="2147483698" r:id="rId27"/>
    <p:sldLayoutId id="2147483754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24000" indent="-324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8000" indent="-324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24000" indent="-324000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+mj-lt"/>
        <a:buAutoNum type="arabicPeriod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648000" indent="-324000" algn="l" defTabSz="914400" rtl="0" eaLnBrk="1" latinLnBrk="0" hangingPunct="1">
        <a:lnSpc>
          <a:spcPct val="90000"/>
        </a:lnSpc>
        <a:spcBef>
          <a:spcPts val="500"/>
        </a:spcBef>
        <a:buSzPct val="95000"/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1110" userDrawn="1">
          <p15:clr>
            <a:srgbClr val="F26B43"/>
          </p15:clr>
        </p15:guide>
        <p15:guide id="3" pos="476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6" pos="792" userDrawn="1">
          <p15:clr>
            <a:srgbClr val="F26B43"/>
          </p15:clr>
        </p15:guide>
        <p15:guide id="7" orient="horz" pos="3833" userDrawn="1">
          <p15:clr>
            <a:srgbClr val="F26B43"/>
          </p15:clr>
        </p15:guide>
        <p15:guide id="8" orient="horz" pos="336" userDrawn="1">
          <p15:clr>
            <a:srgbClr val="F26B43"/>
          </p15:clr>
        </p15:guide>
        <p15:guide id="9" pos="7098" userDrawn="1">
          <p15:clr>
            <a:srgbClr val="F26B43"/>
          </p15:clr>
        </p15:guide>
        <p15:guide id="10" pos="74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Tijdelijke aanduiding voor afbeelding 17">
            <a:extLst>
              <a:ext uri="{FF2B5EF4-FFF2-40B4-BE49-F238E27FC236}">
                <a16:creationId xmlns:a16="http://schemas.microsoft.com/office/drawing/2014/main" id="{AA69BC65-8AFE-4119-BE77-AE1B7096E43E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" r="42"/>
          <a:stretch>
            <a:fillRect/>
          </a:stretch>
        </p:blipFill>
        <p:spPr/>
      </p:pic>
      <p:sp>
        <p:nvSpPr>
          <p:cNvPr id="7" name="Ondertitel 6">
            <a:extLst>
              <a:ext uri="{FF2B5EF4-FFF2-40B4-BE49-F238E27FC236}">
                <a16:creationId xmlns:a16="http://schemas.microsoft.com/office/drawing/2014/main" id="{838C8FD7-55FC-4DBD-825A-309E45D66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K</a:t>
            </a:r>
            <a:r>
              <a:rPr lang="nl-NL" dirty="0" err="1"/>
              <a:t>ratos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probabilistic</a:t>
            </a:r>
            <a:r>
              <a:rPr lang="nl-NL" dirty="0"/>
              <a:t> </a:t>
            </a:r>
            <a:r>
              <a:rPr lang="nl-NL" dirty="0" err="1"/>
              <a:t>library</a:t>
            </a:r>
            <a:endParaRPr lang="nl-NL" dirty="0"/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D510B812-7AC5-475D-ACB5-69A9EF35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 19 juni 2025</a:t>
            </a:r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9A199952-5E95-4A28-BD26-74ECEF647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Voettekst van de presentatie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18D4A5E8-322A-4392-899C-82090DBD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1</a:t>
            </a:fld>
            <a:endParaRPr lang="nl-NL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D010081-142B-471A-8A79-433EA62F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Sheet </a:t>
            </a:r>
            <a:r>
              <a:rPr lang="nl-NL" dirty="0" err="1"/>
              <a:t>pile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7F40214-05A9-459B-91CB-FE5EED0528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Naam Achternaam</a:t>
            </a:r>
          </a:p>
        </p:txBody>
      </p:sp>
    </p:spTree>
    <p:extLst>
      <p:ext uri="{BB962C8B-B14F-4D97-AF65-F5344CB8AC3E}">
        <p14:creationId xmlns:p14="http://schemas.microsoft.com/office/powerpoint/2010/main" val="1848310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412A-07C7-DE29-F08F-84DC8AA0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D33DE-AEEB-6AC7-BC22-1D3D8F4DD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Sheet </a:t>
            </a:r>
            <a:r>
              <a:rPr lang="nl-NL" dirty="0" err="1"/>
              <a:t>pile</a:t>
            </a:r>
            <a:r>
              <a:rPr lang="nl-NL" dirty="0"/>
              <a:t> model, stages</a:t>
            </a:r>
          </a:p>
          <a:p>
            <a:endParaRPr lang="nl-NL" dirty="0"/>
          </a:p>
          <a:p>
            <a:r>
              <a:rPr lang="nl-NL" dirty="0" err="1"/>
              <a:t>Linear</a:t>
            </a:r>
            <a:r>
              <a:rPr lang="nl-NL" dirty="0"/>
              <a:t> model:</a:t>
            </a:r>
          </a:p>
          <a:p>
            <a:pPr lvl="1"/>
            <a:r>
              <a:rPr lang="nl-NL" dirty="0"/>
              <a:t>Variables</a:t>
            </a:r>
          </a:p>
          <a:p>
            <a:pPr lvl="1"/>
            <a:r>
              <a:rPr lang="nl-NL" dirty="0" err="1"/>
              <a:t>Uncertainty</a:t>
            </a:r>
            <a:r>
              <a:rPr lang="nl-NL" dirty="0"/>
              <a:t> analysis (max displacement x)</a:t>
            </a:r>
          </a:p>
          <a:p>
            <a:pPr lvl="1"/>
            <a:r>
              <a:rPr lang="nl-NL" dirty="0" err="1"/>
              <a:t>Uncertainty</a:t>
            </a:r>
            <a:r>
              <a:rPr lang="nl-NL" dirty="0"/>
              <a:t> analysis (max </a:t>
            </a:r>
            <a:r>
              <a:rPr lang="nl-NL" dirty="0" err="1"/>
              <a:t>bending</a:t>
            </a:r>
            <a:r>
              <a:rPr lang="nl-NL" dirty="0"/>
              <a:t> moment)</a:t>
            </a:r>
          </a:p>
          <a:p>
            <a:pPr lvl="1"/>
            <a:endParaRPr lang="nl-NL" dirty="0"/>
          </a:p>
          <a:p>
            <a:r>
              <a:rPr lang="nl-NL" dirty="0"/>
              <a:t>Mohr-Coulomb model:</a:t>
            </a:r>
          </a:p>
          <a:p>
            <a:pPr lvl="1"/>
            <a:r>
              <a:rPr lang="nl-NL" dirty="0"/>
              <a:t>Variables</a:t>
            </a:r>
          </a:p>
          <a:p>
            <a:pPr lvl="1"/>
            <a:r>
              <a:rPr lang="nl-NL" dirty="0" err="1"/>
              <a:t>Uncertainty</a:t>
            </a:r>
            <a:r>
              <a:rPr lang="nl-NL" dirty="0"/>
              <a:t> analysis (max displacement x)</a:t>
            </a:r>
          </a:p>
          <a:p>
            <a:pPr lvl="1"/>
            <a:r>
              <a:rPr lang="nl-NL" dirty="0" err="1"/>
              <a:t>Uncertainty</a:t>
            </a:r>
            <a:r>
              <a:rPr lang="nl-NL" dirty="0"/>
              <a:t> analysis (max </a:t>
            </a:r>
            <a:r>
              <a:rPr lang="nl-NL" dirty="0" err="1"/>
              <a:t>bending</a:t>
            </a:r>
            <a:r>
              <a:rPr lang="nl-NL" dirty="0"/>
              <a:t> moment)</a:t>
            </a:r>
          </a:p>
          <a:p>
            <a:pPr lvl="1"/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10F70-4ED8-586E-F24E-36E305D53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8333A-629D-A3D8-C6E0-320EB9299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51C3C-6E3A-C89A-2793-7B0B7150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733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BA488-8F3B-21E3-AB86-AADB1AE05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Sheet pile model, stages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551B0-F28C-7EB5-3460-45F2890B1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EEEE1-F0E2-7B31-3AE3-0C5BA51EA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6C4EA-7FE2-F4F4-6DEC-D724F8EE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3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46A8A2-817F-6148-F529-315B1D2BB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0" y="2388786"/>
            <a:ext cx="2211198" cy="20195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EA0149-C888-F673-CB72-EC135C817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179" y="2118512"/>
            <a:ext cx="2282509" cy="22897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09685D-46F0-EC77-3255-A9CB58A7B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361" y="2118512"/>
            <a:ext cx="2319145" cy="22897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93A307-EAB1-5060-9AAD-26E0BE98C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312" y="2096601"/>
            <a:ext cx="2319145" cy="2311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D686DB-F205-94B4-A8A3-D9B146E3A38E}"/>
              </a:ext>
            </a:extLst>
          </p:cNvPr>
          <p:cNvSpPr txBox="1"/>
          <p:nvPr/>
        </p:nvSpPr>
        <p:spPr>
          <a:xfrm>
            <a:off x="1166492" y="3973003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Sand (3)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5E1FB-22AD-B190-E64F-487F28A344A3}"/>
              </a:ext>
            </a:extLst>
          </p:cNvPr>
          <p:cNvSpPr txBox="1"/>
          <p:nvPr/>
        </p:nvSpPr>
        <p:spPr>
          <a:xfrm>
            <a:off x="4181058" y="397300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sand</a:t>
            </a:r>
            <a:endParaRPr lang="nl-N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64F5CC-580B-949C-EE56-580F3F4B5ED7}"/>
              </a:ext>
            </a:extLst>
          </p:cNvPr>
          <p:cNvSpPr txBox="1"/>
          <p:nvPr/>
        </p:nvSpPr>
        <p:spPr>
          <a:xfrm>
            <a:off x="6875531" y="397300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sand</a:t>
            </a:r>
            <a:endParaRPr lang="nl-N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6B8805-BA9B-2983-2270-DC15E3568C42}"/>
              </a:ext>
            </a:extLst>
          </p:cNvPr>
          <p:cNvSpPr txBox="1"/>
          <p:nvPr/>
        </p:nvSpPr>
        <p:spPr>
          <a:xfrm>
            <a:off x="9888482" y="397300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sand</a:t>
            </a:r>
            <a:endParaRPr lang="nl-N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F8FD31-8BAC-85B7-6B4F-8648246BA570}"/>
              </a:ext>
            </a:extLst>
          </p:cNvPr>
          <p:cNvSpPr txBox="1"/>
          <p:nvPr/>
        </p:nvSpPr>
        <p:spPr>
          <a:xfrm>
            <a:off x="1179533" y="168321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Stage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2F76B4-3304-62EB-7EED-2FBC67B73804}"/>
              </a:ext>
            </a:extLst>
          </p:cNvPr>
          <p:cNvSpPr txBox="1"/>
          <p:nvPr/>
        </p:nvSpPr>
        <p:spPr>
          <a:xfrm>
            <a:off x="3971555" y="168321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Stage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86162D-372D-2060-00C8-0FCCCDE73EF4}"/>
              </a:ext>
            </a:extLst>
          </p:cNvPr>
          <p:cNvSpPr txBox="1"/>
          <p:nvPr/>
        </p:nvSpPr>
        <p:spPr>
          <a:xfrm>
            <a:off x="6776781" y="168321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Stage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197CB4-1E7A-5167-9E9D-B8EF001085C2}"/>
              </a:ext>
            </a:extLst>
          </p:cNvPr>
          <p:cNvSpPr txBox="1"/>
          <p:nvPr/>
        </p:nvSpPr>
        <p:spPr>
          <a:xfrm>
            <a:off x="9741005" y="168321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Stage 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AD0272-5153-1BD0-47CB-DC3D939F6C1D}"/>
              </a:ext>
            </a:extLst>
          </p:cNvPr>
          <p:cNvSpPr txBox="1"/>
          <p:nvPr/>
        </p:nvSpPr>
        <p:spPr>
          <a:xfrm>
            <a:off x="653463" y="3452097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Sand (3)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D0FD1A-AD2F-3206-056F-0F38AC983F30}"/>
              </a:ext>
            </a:extLst>
          </p:cNvPr>
          <p:cNvSpPr txBox="1"/>
          <p:nvPr/>
        </p:nvSpPr>
        <p:spPr>
          <a:xfrm>
            <a:off x="1734506" y="3452097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Sand (3)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9DB149-B300-0A09-E684-99E2C7C83EDC}"/>
              </a:ext>
            </a:extLst>
          </p:cNvPr>
          <p:cNvSpPr txBox="1"/>
          <p:nvPr/>
        </p:nvSpPr>
        <p:spPr>
          <a:xfrm>
            <a:off x="675720" y="2453253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Caly</a:t>
            </a:r>
            <a:r>
              <a:rPr lang="nl-NL" dirty="0"/>
              <a:t> (1)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475726-34E2-C1A8-EFA5-8B99D4C4BA0A}"/>
              </a:ext>
            </a:extLst>
          </p:cNvPr>
          <p:cNvSpPr txBox="1"/>
          <p:nvPr/>
        </p:nvSpPr>
        <p:spPr>
          <a:xfrm>
            <a:off x="1689936" y="249537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Clay</a:t>
            </a:r>
            <a:r>
              <a:rPr lang="nl-NL" dirty="0"/>
              <a:t> (1)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7826EE-D009-D4BC-34D2-6AD29CA4E6C3}"/>
              </a:ext>
            </a:extLst>
          </p:cNvPr>
          <p:cNvSpPr txBox="1"/>
          <p:nvPr/>
        </p:nvSpPr>
        <p:spPr>
          <a:xfrm>
            <a:off x="666892" y="287692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Caly</a:t>
            </a:r>
            <a:r>
              <a:rPr lang="nl-NL" dirty="0"/>
              <a:t> (2)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841F13-4AA5-00EA-FD74-1D0EA6347ABC}"/>
              </a:ext>
            </a:extLst>
          </p:cNvPr>
          <p:cNvSpPr txBox="1"/>
          <p:nvPr/>
        </p:nvSpPr>
        <p:spPr>
          <a:xfrm>
            <a:off x="1709462" y="2885881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Clay</a:t>
            </a:r>
            <a:r>
              <a:rPr lang="nl-NL" dirty="0"/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3249396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98509-50F9-9E41-D424-2292D73F7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Lineair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1703D-59DB-DD0E-A6BC-9B892D6DE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90A23-8984-5B40-E269-C9D19561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9C57B-5E65-3572-7160-6CAFE65C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8177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404F-8BF4-09B4-56FA-7C23BAB7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Variables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5C4B3-6D3D-27F4-8630-5555805D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83F8E-4280-A2F9-D453-69FF05F1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93F02-6127-5B76-8B78-40B97700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5</a:t>
            </a:fld>
            <a:endParaRPr lang="nl-NL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5A3D928-9177-5E7B-B8F6-D5BD54B44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85721"/>
              </p:ext>
            </p:extLst>
          </p:nvPr>
        </p:nvGraphicFramePr>
        <p:xfrm>
          <a:off x="755650" y="1980109"/>
          <a:ext cx="952003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8243">
                  <a:extLst>
                    <a:ext uri="{9D8B030D-6E8A-4147-A177-3AD203B41FA5}">
                      <a16:colId xmlns:a16="http://schemas.microsoft.com/office/drawing/2014/main" val="800794412"/>
                    </a:ext>
                  </a:extLst>
                </a:gridCol>
                <a:gridCol w="2679826">
                  <a:extLst>
                    <a:ext uri="{9D8B030D-6E8A-4147-A177-3AD203B41FA5}">
                      <a16:colId xmlns:a16="http://schemas.microsoft.com/office/drawing/2014/main" val="3354784842"/>
                    </a:ext>
                  </a:extLst>
                </a:gridCol>
                <a:gridCol w="3041964">
                  <a:extLst>
                    <a:ext uri="{9D8B030D-6E8A-4147-A177-3AD203B41FA5}">
                      <a16:colId xmlns:a16="http://schemas.microsoft.com/office/drawing/2014/main" val="578967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Variable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Distribution type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Parameters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712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Young modulus (clay)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Uniform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5x10**6 – 8x10**6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344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Young modulus (sand)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Uniform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30x10**6 – 50x10**6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806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Interface </a:t>
                      </a:r>
                      <a:r>
                        <a:rPr lang="en-GB" noProof="0" dirty="0"/>
                        <a:t>stiffness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Deterministic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10**11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17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Sheet pile: Young modulus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Deterministic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200x10**9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2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Sheet pile: Poisson ratio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Deterministic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7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Sheet pile: thickness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Deterministic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0.02159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4365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B449821-510F-1631-6BD7-CA0168E153B1}"/>
              </a:ext>
            </a:extLst>
          </p:cNvPr>
          <p:cNvSpPr txBox="1"/>
          <p:nvPr/>
        </p:nvSpPr>
        <p:spPr>
          <a:xfrm>
            <a:off x="679010" y="135957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Input:</a:t>
            </a:r>
            <a:endParaRPr lang="nl-NL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E4117-0627-828E-DC43-4EBC0AC4BFDE}"/>
              </a:ext>
            </a:extLst>
          </p:cNvPr>
          <p:cNvSpPr txBox="1"/>
          <p:nvPr/>
        </p:nvSpPr>
        <p:spPr>
          <a:xfrm>
            <a:off x="679010" y="5078403"/>
            <a:ext cx="7186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Output:</a:t>
            </a:r>
            <a:r>
              <a:rPr lang="en-GB" dirty="0"/>
              <a:t> total displacement x (</a:t>
            </a:r>
            <a:r>
              <a:rPr lang="en-GB" u="sng" dirty="0" err="1"/>
              <a:t>maaiveld</a:t>
            </a:r>
            <a:r>
              <a:rPr lang="en-GB" u="sng" dirty="0"/>
              <a:t> node</a:t>
            </a:r>
            <a:r>
              <a:rPr lang="en-GB" dirty="0"/>
              <a:t>), max bending moment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37517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0750-583B-78A2-B5BF-C0D8F95C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AC55-F590-2BAA-1B4E-8EA0AFB22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(total displacement x)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287CC-7400-041A-A9FC-0662B01E2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5873-3CEB-E17E-9809-473DF22C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E4E91-3783-8040-3F7B-0DFF6044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6</a:t>
            </a:fld>
            <a:endParaRPr lang="nl-N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E5EB373-DBDA-A8CC-47C4-02AD1EA88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875605" cy="4320000"/>
          </a:xfrm>
        </p:spPr>
        <p:txBody>
          <a:bodyPr/>
          <a:lstStyle/>
          <a:p>
            <a:r>
              <a:rPr lang="en-GB" dirty="0"/>
              <a:t>Stage 0 (</a:t>
            </a:r>
            <a:r>
              <a:rPr lang="en-GB" dirty="0">
                <a:highlight>
                  <a:srgbClr val="FFFF00"/>
                </a:highlight>
              </a:rPr>
              <a:t>no sheet pile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50 – 100 samples</a:t>
            </a:r>
            <a:endParaRPr lang="nl-NL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8EF475-0BA0-362B-0521-EABF10BB9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900" y="1282574"/>
            <a:ext cx="6935168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34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5FB2E-F26F-2E4C-9228-403A52EC7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00A1-F8BA-8988-2E7E-EECDE289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(total displacement x)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08366-6E5C-DF4B-15B1-19B1E1E6D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CF555-B53B-B506-CFB7-E43549DE7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7F98B-EFC3-2436-1DE4-B7DF783B1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7</a:t>
            </a:fld>
            <a:endParaRPr lang="nl-N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EA8FB7-AAB0-D07E-BE14-879ACF7AD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875605" cy="4320000"/>
          </a:xfrm>
        </p:spPr>
        <p:txBody>
          <a:bodyPr/>
          <a:lstStyle/>
          <a:p>
            <a:r>
              <a:rPr lang="en-GB" dirty="0"/>
              <a:t>Stage 1 (</a:t>
            </a:r>
            <a:r>
              <a:rPr lang="en-GB" dirty="0">
                <a:highlight>
                  <a:srgbClr val="FFFF00"/>
                </a:highlight>
              </a:rPr>
              <a:t>with sheet pile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50 – 100 samples</a:t>
            </a:r>
            <a:endParaRPr lang="nl-NL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3D10B06-7043-183D-AA50-0B93BD353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130" y="1401876"/>
            <a:ext cx="6954220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74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E5813-946C-9B94-2C78-DA45DC24C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(total displacement x)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9DB6D-DC09-2479-9E5B-ADC770607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23159-E0E1-A346-7C11-B1544D340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08EFD-F37B-E569-A760-A81689D7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8</a:t>
            </a:fld>
            <a:endParaRPr lang="nl-N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894672E-B843-441A-5043-30BBC05B2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875605" cy="4320000"/>
          </a:xfrm>
        </p:spPr>
        <p:txBody>
          <a:bodyPr/>
          <a:lstStyle/>
          <a:p>
            <a:r>
              <a:rPr lang="en-GB" dirty="0"/>
              <a:t>Stage 2 (</a:t>
            </a:r>
            <a:r>
              <a:rPr lang="en-GB" dirty="0">
                <a:highlight>
                  <a:srgbClr val="FFFF00"/>
                </a:highlight>
              </a:rPr>
              <a:t>excavation, no anker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50 – 100 samples</a:t>
            </a:r>
            <a:endParaRPr lang="nl-N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081994-A64B-F914-2A3D-2494DEE49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584" y="1477695"/>
            <a:ext cx="6868484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1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52D5-590F-3209-A8A0-0E8A14D9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(total displacement x)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342AA-CF70-2D16-271D-C9278D7B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66DA4-83C9-C27D-3CFB-6608CE70E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4DBB8-7E28-DAB8-E9F3-BB6A724C3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9</a:t>
            </a:fld>
            <a:endParaRPr lang="nl-NL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CF3FDD-6329-95A7-7209-8841D477A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875605" cy="4320000"/>
          </a:xfrm>
        </p:spPr>
        <p:txBody>
          <a:bodyPr/>
          <a:lstStyle/>
          <a:p>
            <a:r>
              <a:rPr lang="en-GB" dirty="0"/>
              <a:t>Stage 3 (</a:t>
            </a:r>
            <a:r>
              <a:rPr lang="en-GB" dirty="0">
                <a:highlight>
                  <a:srgbClr val="FFFF00"/>
                </a:highlight>
              </a:rPr>
              <a:t>excavation, with anker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50 – 100 samples</a:t>
            </a:r>
            <a:endParaRPr lang="nl-N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A1CA6A-E80A-4F2E-6428-118DA2D73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834" y="1505509"/>
            <a:ext cx="6935168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720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0C50-5D78-64D8-E519-EBF27D442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0810-9910-80C7-6CAC-08CFDCDCE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(max bending moment)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73952-A13A-6F46-7193-929BBF3D3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6B112-604C-3D02-3CCF-A409E83B4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93216-91BC-C160-4FFA-885D80F0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10</a:t>
            </a:fld>
            <a:endParaRPr lang="nl-N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0C19C42-5635-8A67-FCD9-BC3591C2C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5617990" cy="4320000"/>
          </a:xfrm>
        </p:spPr>
        <p:txBody>
          <a:bodyPr/>
          <a:lstStyle/>
          <a:p>
            <a:r>
              <a:rPr lang="en-GB" dirty="0"/>
              <a:t>Stage 0 (</a:t>
            </a:r>
            <a:r>
              <a:rPr lang="en-GB" dirty="0">
                <a:highlight>
                  <a:srgbClr val="FFFF00"/>
                </a:highlight>
              </a:rPr>
              <a:t>no sheet pile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50 – 100 samples</a:t>
            </a:r>
          </a:p>
          <a:p>
            <a:endParaRPr lang="en-GB" dirty="0"/>
          </a:p>
          <a:p>
            <a:r>
              <a:rPr lang="en-GB" dirty="0"/>
              <a:t>No results returned, but there was no sheet pile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55871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25252-C032-E0B7-BD68-E65DCEFFD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8982-6632-4C2C-84F0-69DAA63E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(max bending moment)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7C184-92E1-ACC5-B7B2-781196D83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E5CB6-4BD7-988F-D221-70C57B6C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5D23E-159C-846E-E8DB-A9B4253E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11</a:t>
            </a:fld>
            <a:endParaRPr lang="nl-N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D2C824B-60DC-ED72-0778-6465661E5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875605" cy="4320000"/>
          </a:xfrm>
        </p:spPr>
        <p:txBody>
          <a:bodyPr/>
          <a:lstStyle/>
          <a:p>
            <a:r>
              <a:rPr lang="en-GB" dirty="0"/>
              <a:t>Stage 1 (</a:t>
            </a:r>
            <a:r>
              <a:rPr lang="en-GB" dirty="0">
                <a:highlight>
                  <a:srgbClr val="FFFF00"/>
                </a:highlight>
              </a:rPr>
              <a:t>with sheet pile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50 – 100 samples</a:t>
            </a:r>
            <a:endParaRPr lang="nl-N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4F5631-53F1-0E51-5527-CCA2A87A4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992" y="1388918"/>
            <a:ext cx="7240010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80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5DFDC-03C4-0B9D-CC8D-73B7F2BB3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8A056-689A-012A-EDB1-0DED135D2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(max bending moment)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A1672-562A-5A07-EE87-0F68DE04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E4556-8FA5-0E13-F987-2D84E6D0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D9CA1-EE4C-1377-F32D-C36C767E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12</a:t>
            </a:fld>
            <a:endParaRPr lang="nl-N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2AD548E-07FF-299A-2445-CABF776B0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875605" cy="4320000"/>
          </a:xfrm>
        </p:spPr>
        <p:txBody>
          <a:bodyPr/>
          <a:lstStyle/>
          <a:p>
            <a:r>
              <a:rPr lang="en-GB" dirty="0"/>
              <a:t>Stage 2 (</a:t>
            </a:r>
            <a:r>
              <a:rPr lang="en-GB" dirty="0">
                <a:highlight>
                  <a:srgbClr val="FFFF00"/>
                </a:highlight>
              </a:rPr>
              <a:t>excavation, no anker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50 – 100 samples</a:t>
            </a:r>
            <a:endParaRPr lang="nl-N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4DD642-D666-4717-6E2D-53C7E6279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594" y="1125669"/>
            <a:ext cx="6763694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46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6CE68-14F6-08CB-6920-980ED4B16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6917-55FB-FAE0-BB59-41A591E0F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(max bending moment)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F3D6-C375-9F82-173D-9252D517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82949-C7A4-BC6D-28E5-788F33196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86ABA-907C-1BE5-C39D-1166F3CF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13</a:t>
            </a:fld>
            <a:endParaRPr lang="nl-NL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82F30A5-28A5-F4DA-D281-3C8E5F715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875605" cy="4320000"/>
          </a:xfrm>
        </p:spPr>
        <p:txBody>
          <a:bodyPr/>
          <a:lstStyle/>
          <a:p>
            <a:r>
              <a:rPr lang="en-GB" dirty="0"/>
              <a:t>Stage 3 (</a:t>
            </a:r>
            <a:r>
              <a:rPr lang="en-GB" dirty="0">
                <a:highlight>
                  <a:srgbClr val="FFFF00"/>
                </a:highlight>
              </a:rPr>
              <a:t>excavation, with anker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50 – 100 samples</a:t>
            </a:r>
            <a:endParaRPr lang="nl-N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3C40F1-AEB7-12D1-9DC3-E27576127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130" y="1305456"/>
            <a:ext cx="6773220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74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3D1F9-EB6C-6F73-C644-E4F4830D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44E41-E61B-DF9B-1078-5C3F2F52D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Mohr-Coulomb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ACB38-72BD-B979-59E8-4709E091A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779EF-73E2-0B6C-2423-7F7B5C364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AB01D-1939-3ED4-459E-86740CB2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6741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D31A1-F02B-F7C7-08B5-E4166C89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082F-6B8E-FEF0-9CFB-0A8076847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Variables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FD58E-246F-D0C6-4E39-66AC4CFE6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7C136-0E49-3AC0-0EBC-4B4C99409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F3495-6588-2424-F55E-386C2033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15</a:t>
            </a:fld>
            <a:endParaRPr lang="nl-NL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44BAEB6-9EFC-8BAF-C997-6DE6CE15E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531946"/>
              </p:ext>
            </p:extLst>
          </p:nvPr>
        </p:nvGraphicFramePr>
        <p:xfrm>
          <a:off x="755650" y="1790030"/>
          <a:ext cx="9520033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8243">
                  <a:extLst>
                    <a:ext uri="{9D8B030D-6E8A-4147-A177-3AD203B41FA5}">
                      <a16:colId xmlns:a16="http://schemas.microsoft.com/office/drawing/2014/main" val="800794412"/>
                    </a:ext>
                  </a:extLst>
                </a:gridCol>
                <a:gridCol w="2679826">
                  <a:extLst>
                    <a:ext uri="{9D8B030D-6E8A-4147-A177-3AD203B41FA5}">
                      <a16:colId xmlns:a16="http://schemas.microsoft.com/office/drawing/2014/main" val="3354784842"/>
                    </a:ext>
                  </a:extLst>
                </a:gridCol>
                <a:gridCol w="3041964">
                  <a:extLst>
                    <a:ext uri="{9D8B030D-6E8A-4147-A177-3AD203B41FA5}">
                      <a16:colId xmlns:a16="http://schemas.microsoft.com/office/drawing/2014/main" val="578967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Variable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Distribution type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Parameters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712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Cohesion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Log-normal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Mu = 3, </a:t>
                      </a:r>
                      <a:r>
                        <a:rPr lang="en-GB" dirty="0" err="1"/>
                        <a:t>CoV</a:t>
                      </a:r>
                      <a:r>
                        <a:rPr lang="en-GB" dirty="0"/>
                        <a:t> = 0.2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344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Friction </a:t>
                      </a:r>
                      <a:r>
                        <a:rPr lang="nl-NL" dirty="0" err="1"/>
                        <a:t>angle</a:t>
                      </a:r>
                      <a:r>
                        <a:rPr lang="nl-NL" dirty="0"/>
                        <a:t> (</a:t>
                      </a:r>
                      <a:r>
                        <a:rPr lang="nl-NL" dirty="0" err="1"/>
                        <a:t>clay</a:t>
                      </a:r>
                      <a:r>
                        <a:rPr lang="nl-NL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Log-normal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Mu = 22.5, </a:t>
                      </a:r>
                      <a:r>
                        <a:rPr lang="en-GB" dirty="0" err="1"/>
                        <a:t>CoV</a:t>
                      </a:r>
                      <a:r>
                        <a:rPr lang="en-GB" dirty="0"/>
                        <a:t> = 0.08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806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Friction </a:t>
                      </a:r>
                      <a:r>
                        <a:rPr lang="nl-NL" dirty="0" err="1"/>
                        <a:t>angle</a:t>
                      </a:r>
                      <a:r>
                        <a:rPr lang="nl-NL" dirty="0"/>
                        <a:t> (</a:t>
                      </a:r>
                      <a:r>
                        <a:rPr lang="nl-NL" dirty="0" err="1"/>
                        <a:t>sand</a:t>
                      </a:r>
                      <a:r>
                        <a:rPr lang="nl-NL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Log-</a:t>
                      </a:r>
                      <a:r>
                        <a:rPr lang="nl-NL" dirty="0" err="1"/>
                        <a:t>normal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Mu = 32.5, </a:t>
                      </a:r>
                      <a:r>
                        <a:rPr lang="nl-NL" dirty="0" err="1"/>
                        <a:t>CoV</a:t>
                      </a:r>
                      <a:r>
                        <a:rPr lang="nl-NL" dirty="0"/>
                        <a:t> = 0.08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467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Young modulus (clay)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Uniform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5x10**6 – 8x10**6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825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Young modulus (sand)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Uniform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30x10**6 – 50x10**6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Sheet pile: Young modulus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Deterministic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200x10**9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2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Sheet pile: Poisson ratio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Deterministic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7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Sheet pile: thickness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Deterministic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0.02159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436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Interfaces (</a:t>
                      </a:r>
                      <a:r>
                        <a:rPr lang="nl-NL" dirty="0" err="1"/>
                        <a:t>cohesion</a:t>
                      </a:r>
                      <a:r>
                        <a:rPr lang="nl-NL" dirty="0"/>
                        <a:t>, friction </a:t>
                      </a:r>
                      <a:r>
                        <a:rPr lang="nl-NL" dirty="0" err="1"/>
                        <a:t>angle</a:t>
                      </a:r>
                      <a:r>
                        <a:rPr lang="nl-NL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The </a:t>
                      </a:r>
                      <a:r>
                        <a:rPr lang="nl-NL" dirty="0" err="1"/>
                        <a:t>same</a:t>
                      </a:r>
                      <a:r>
                        <a:rPr lang="nl-NL" dirty="0"/>
                        <a:t> as </a:t>
                      </a:r>
                      <a:r>
                        <a:rPr lang="nl-NL" dirty="0" err="1"/>
                        <a:t>soil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The </a:t>
                      </a:r>
                      <a:r>
                        <a:rPr lang="nl-NL" dirty="0" err="1"/>
                        <a:t>same</a:t>
                      </a:r>
                      <a:r>
                        <a:rPr lang="nl-NL" dirty="0"/>
                        <a:t> as </a:t>
                      </a:r>
                      <a:r>
                        <a:rPr lang="nl-NL" dirty="0" err="1"/>
                        <a:t>soil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1103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B7C1FF-5AF7-7737-0FBC-94001479B3F5}"/>
              </a:ext>
            </a:extLst>
          </p:cNvPr>
          <p:cNvSpPr txBox="1"/>
          <p:nvPr/>
        </p:nvSpPr>
        <p:spPr>
          <a:xfrm>
            <a:off x="679010" y="135957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Input:</a:t>
            </a:r>
            <a:endParaRPr lang="nl-NL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FE316-8FBA-9D66-50C2-6AE3BC51BEAC}"/>
              </a:ext>
            </a:extLst>
          </p:cNvPr>
          <p:cNvSpPr txBox="1"/>
          <p:nvPr/>
        </p:nvSpPr>
        <p:spPr>
          <a:xfrm>
            <a:off x="679010" y="5682227"/>
            <a:ext cx="7186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Output:</a:t>
            </a:r>
            <a:r>
              <a:rPr lang="en-GB" dirty="0"/>
              <a:t> total displacement x (</a:t>
            </a:r>
            <a:r>
              <a:rPr lang="en-GB" dirty="0" err="1"/>
              <a:t>maaiveld</a:t>
            </a:r>
            <a:r>
              <a:rPr lang="en-GB" dirty="0"/>
              <a:t> node), max bending moment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70805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3A51-61E9-6597-A5F8-AE87F8B0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160A-F280-9DB5-D6E6-E253F1FAE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(max total displacement)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96EB7-30FB-4C9E-686E-0C5536DB6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477FC-1804-133B-4E83-B0EEC917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5DEF-922A-54B9-E029-C1810A67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16</a:t>
            </a:fld>
            <a:endParaRPr lang="nl-N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8C9C8B4-A2F4-79C9-BF27-843D807D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875605" cy="4320000"/>
          </a:xfrm>
        </p:spPr>
        <p:txBody>
          <a:bodyPr/>
          <a:lstStyle/>
          <a:p>
            <a:r>
              <a:rPr lang="en-GB" dirty="0"/>
              <a:t>Stage 0 (</a:t>
            </a:r>
            <a:r>
              <a:rPr lang="en-GB" dirty="0">
                <a:highlight>
                  <a:srgbClr val="FFFF00"/>
                </a:highlight>
              </a:rPr>
              <a:t>no sheet pile</a:t>
            </a:r>
            <a:r>
              <a:rPr lang="en-GB" dirty="0"/>
              <a:t>)</a:t>
            </a:r>
          </a:p>
          <a:p>
            <a:r>
              <a:rPr lang="en-GB" dirty="0"/>
              <a:t>Stage 1 (</a:t>
            </a:r>
            <a:r>
              <a:rPr lang="en-GB" dirty="0">
                <a:highlight>
                  <a:srgbClr val="FFFF00"/>
                </a:highlight>
              </a:rPr>
              <a:t>with sheet pile</a:t>
            </a:r>
            <a:r>
              <a:rPr lang="en-GB" dirty="0"/>
              <a:t>)</a:t>
            </a:r>
          </a:p>
          <a:p>
            <a:r>
              <a:rPr lang="en-GB" dirty="0"/>
              <a:t>Stage 2 (</a:t>
            </a:r>
            <a:r>
              <a:rPr lang="en-GB" dirty="0">
                <a:highlight>
                  <a:srgbClr val="FFFF00"/>
                </a:highlight>
              </a:rPr>
              <a:t>excavation, no anker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10 - 50 samples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E8C88F-FFAF-0189-92F8-4B94EC942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320" y="1349053"/>
            <a:ext cx="6963747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95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623CA-C87C-2934-C3C0-F7010D52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AAD6B-3662-AB3F-E953-3D6C5EA9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(max total displacement)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D8C9C-DBE3-6620-2591-8AB9985D0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3456F-2BFF-01A9-5B2C-8C6CE139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888A7-E080-021A-6429-3975AE574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17</a:t>
            </a:fld>
            <a:endParaRPr lang="nl-NL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CBAEE2-4D59-04D8-B1AF-EBFB0B97D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875605" cy="4320000"/>
          </a:xfrm>
        </p:spPr>
        <p:txBody>
          <a:bodyPr/>
          <a:lstStyle/>
          <a:p>
            <a:r>
              <a:rPr lang="en-GB" dirty="0"/>
              <a:t>Stage 3 (</a:t>
            </a:r>
            <a:r>
              <a:rPr lang="en-GB" dirty="0">
                <a:highlight>
                  <a:srgbClr val="FFFF00"/>
                </a:highlight>
              </a:rPr>
              <a:t>excavation, with anker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10 - 50 samples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219BFA-EF2B-FC6B-75CF-BBDC4920C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043" y="1162748"/>
            <a:ext cx="7087589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77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F1DEE-69F0-8140-5F89-C42000B9C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997B0-AA09-339D-08A1-C25F872F4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(max bending moment)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46FC9-6688-56B0-BA6D-B4B1CC22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7F53C-8294-DBE8-A2FC-EFED6BE1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BB3DE-222C-5E36-A33A-40036EBA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18</a:t>
            </a:fld>
            <a:endParaRPr lang="nl-N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380850B-48C6-271B-BDF6-751574239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5219637" cy="4320000"/>
          </a:xfrm>
        </p:spPr>
        <p:txBody>
          <a:bodyPr/>
          <a:lstStyle/>
          <a:p>
            <a:r>
              <a:rPr lang="en-GB" dirty="0"/>
              <a:t>Stage 0 (</a:t>
            </a:r>
            <a:r>
              <a:rPr lang="en-GB" dirty="0">
                <a:highlight>
                  <a:srgbClr val="FFFF00"/>
                </a:highlight>
              </a:rPr>
              <a:t>no sheet pile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10 – 50 samples</a:t>
            </a:r>
          </a:p>
          <a:p>
            <a:endParaRPr lang="en-GB" dirty="0"/>
          </a:p>
          <a:p>
            <a:r>
              <a:rPr lang="en-GB" dirty="0"/>
              <a:t>No results returned, but there was no sheet pile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51006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4995D-2A19-96B4-0F03-9C23C7181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2DA0E-E7F0-F416-E94A-41CCFDC9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(max bending moment)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6F27D-923F-9BD7-F4A7-E6787180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7DB67-5651-541D-C8F9-AB38E8E1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2E792-2D99-A1FF-EA23-152248FB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19</a:t>
            </a:fld>
            <a:endParaRPr lang="nl-N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A230C75-467A-F733-B47E-EB33AA284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875605" cy="4320000"/>
          </a:xfrm>
        </p:spPr>
        <p:txBody>
          <a:bodyPr/>
          <a:lstStyle/>
          <a:p>
            <a:r>
              <a:rPr lang="en-GB" dirty="0"/>
              <a:t>Stage 1 (</a:t>
            </a:r>
            <a:r>
              <a:rPr lang="en-GB" dirty="0">
                <a:highlight>
                  <a:srgbClr val="FFFF00"/>
                </a:highlight>
              </a:rPr>
              <a:t>with sheet pile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10 – 50 samples</a:t>
            </a:r>
            <a:endParaRPr lang="nl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265F7-E8DE-7557-1793-6C33430DF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591" y="1352871"/>
            <a:ext cx="6944694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08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7003F-D38A-ECA7-486F-30334F986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7441-6D38-9707-DB5C-EE4337FF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(max bending moment)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045E3-1693-6739-E60F-0F7EAB3F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41270-1227-ABFA-4470-6F2C59B3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DDED3-9938-152D-922E-886F78ED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20</a:t>
            </a:fld>
            <a:endParaRPr lang="nl-NL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8EB9B49-02EA-D504-5992-F812CE579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875605" cy="4320000"/>
          </a:xfrm>
        </p:spPr>
        <p:txBody>
          <a:bodyPr/>
          <a:lstStyle/>
          <a:p>
            <a:r>
              <a:rPr lang="en-GB" dirty="0"/>
              <a:t>Stage 2 (</a:t>
            </a:r>
            <a:r>
              <a:rPr lang="en-GB" dirty="0">
                <a:highlight>
                  <a:srgbClr val="FFFF00"/>
                </a:highlight>
              </a:rPr>
              <a:t>excavation, no anker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10 – 50 samples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2E56FD-6455-E7BF-C185-C11B79674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761" y="1410460"/>
            <a:ext cx="6906589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25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0D4DF-93C6-7F04-1068-71DC1A01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A2759-86FC-23FA-E717-EB9ECDDC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Uncertainty analysis (max bending moment)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A8DE8-F9A4-7B6C-CF74-1E140FEC4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9CE77-3888-B0BF-1785-C65CB4899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A7249-DA45-90A9-2028-197200A1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21</a:t>
            </a:fld>
            <a:endParaRPr lang="nl-NL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7FEA21-C5E4-F46F-6970-ABD2F3A05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68763"/>
            <a:ext cx="4875605" cy="4320000"/>
          </a:xfrm>
        </p:spPr>
        <p:txBody>
          <a:bodyPr/>
          <a:lstStyle/>
          <a:p>
            <a:r>
              <a:rPr lang="en-GB" dirty="0"/>
              <a:t>Stage 3 (</a:t>
            </a:r>
            <a:r>
              <a:rPr lang="en-GB" dirty="0">
                <a:highlight>
                  <a:srgbClr val="FFFF00"/>
                </a:highlight>
              </a:rPr>
              <a:t>excavation, with anker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Monte Carlo, 10 – 50 samples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403C54-BA22-96C8-94FE-9EBFEC1A2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24" y="1239861"/>
            <a:ext cx="6992326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92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704AA-B865-95B2-5CB4-2FF8F865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Summary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F2C8C-326A-C21A-770B-3EDDE8294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F461A-CBC5-1461-4F0F-9C54BECB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394-2256-44A2-8892-A610B7D3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6357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E3AD9-380B-94E1-847C-2E9B67823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Verbeterpunten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DD3CF-5425-EF78-AB96-B6701C5A0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Lineair model:</a:t>
            </a:r>
          </a:p>
          <a:p>
            <a:pPr lvl="1"/>
            <a:r>
              <a:rPr lang="nl-NL" dirty="0">
                <a:highlight>
                  <a:srgbClr val="00FF00"/>
                </a:highlight>
              </a:rPr>
              <a:t>Interfaces aanpassen in het lineair model (</a:t>
            </a:r>
            <a:r>
              <a:rPr lang="nl-NL" dirty="0" err="1">
                <a:highlight>
                  <a:srgbClr val="00FF00"/>
                </a:highlight>
              </a:rPr>
              <a:t>normal</a:t>
            </a:r>
            <a:r>
              <a:rPr lang="nl-NL" dirty="0">
                <a:highlight>
                  <a:srgbClr val="00FF00"/>
                </a:highlight>
              </a:rPr>
              <a:t>, 10**11)</a:t>
            </a:r>
          </a:p>
          <a:p>
            <a:pPr lvl="1"/>
            <a:r>
              <a:rPr lang="nl-NL" dirty="0">
                <a:sym typeface="Wingdings" panose="05000000000000000000" pitchFamily="2" charset="2"/>
              </a:rPr>
              <a:t>Klei: Volume gewicht + </a:t>
            </a:r>
            <a:r>
              <a:rPr lang="nl-NL" dirty="0" err="1">
                <a:highlight>
                  <a:srgbClr val="00FF00"/>
                </a:highlight>
                <a:sym typeface="Wingdings" panose="05000000000000000000" pitchFamily="2" charset="2"/>
              </a:rPr>
              <a:t>young</a:t>
            </a:r>
            <a:r>
              <a:rPr lang="nl-NL" dirty="0">
                <a:highlight>
                  <a:srgbClr val="00FF00"/>
                </a:highlight>
                <a:sym typeface="Wingdings" panose="05000000000000000000" pitchFamily="2" charset="2"/>
              </a:rPr>
              <a:t> modulus </a:t>
            </a:r>
            <a:endParaRPr lang="nl-NL" dirty="0">
              <a:highlight>
                <a:srgbClr val="00FF00"/>
              </a:highlight>
            </a:endParaRPr>
          </a:p>
          <a:p>
            <a:pPr lvl="1"/>
            <a:r>
              <a:rPr lang="nl-NL" dirty="0">
                <a:highlight>
                  <a:srgbClr val="00FF00"/>
                </a:highlight>
              </a:rPr>
              <a:t>Totale displacement, op het maaiveld ter plaatse van de damwand (met teken) </a:t>
            </a:r>
            <a:r>
              <a:rPr lang="nl-NL" dirty="0">
                <a:highlight>
                  <a:srgbClr val="00FF00"/>
                </a:highlight>
                <a:sym typeface="Wingdings" panose="05000000000000000000" pitchFamily="2" charset="2"/>
              </a:rPr>
              <a:t> maaiveld node 171</a:t>
            </a:r>
            <a:endParaRPr lang="nl-NL" dirty="0">
              <a:highlight>
                <a:srgbClr val="00FF00"/>
              </a:highlight>
            </a:endParaRPr>
          </a:p>
          <a:p>
            <a:pPr lvl="1"/>
            <a:r>
              <a:rPr lang="nl-NL" dirty="0">
                <a:highlight>
                  <a:srgbClr val="00FF00"/>
                </a:highlight>
              </a:rPr>
              <a:t>Onder + 2 net boven </a:t>
            </a:r>
            <a:r>
              <a:rPr lang="nl-NL" dirty="0">
                <a:highlight>
                  <a:srgbClr val="00FF00"/>
                </a:highlight>
                <a:sym typeface="Wingdings" panose="05000000000000000000" pitchFamily="2" charset="2"/>
              </a:rPr>
              <a:t> zand</a:t>
            </a:r>
          </a:p>
          <a:p>
            <a:pPr lvl="1"/>
            <a:r>
              <a:rPr lang="nl-NL" dirty="0">
                <a:sym typeface="Wingdings" panose="05000000000000000000" pitchFamily="2" charset="2"/>
              </a:rPr>
              <a:t>Correlatie</a:t>
            </a:r>
          </a:p>
          <a:p>
            <a:pPr lvl="1"/>
            <a:endParaRPr lang="nl-NL" dirty="0">
              <a:sym typeface="Wingdings" panose="05000000000000000000" pitchFamily="2" charset="2"/>
            </a:endParaRPr>
          </a:p>
          <a:p>
            <a:r>
              <a:rPr lang="nl-NL" dirty="0"/>
              <a:t>Mohr-</a:t>
            </a:r>
            <a:r>
              <a:rPr lang="nl-NL" dirty="0" err="1"/>
              <a:t>Coloumb</a:t>
            </a:r>
            <a:r>
              <a:rPr lang="nl-NL" dirty="0"/>
              <a:t>:</a:t>
            </a:r>
          </a:p>
          <a:p>
            <a:pPr lvl="1"/>
            <a:r>
              <a:rPr lang="nl-NL" dirty="0">
                <a:sym typeface="Wingdings" panose="05000000000000000000" pitchFamily="2" charset="2"/>
              </a:rPr>
              <a:t>Klei: Volume gewicht + </a:t>
            </a:r>
            <a:r>
              <a:rPr lang="nl-NL" dirty="0" err="1">
                <a:highlight>
                  <a:srgbClr val="00FF00"/>
                </a:highlight>
                <a:sym typeface="Wingdings" panose="05000000000000000000" pitchFamily="2" charset="2"/>
              </a:rPr>
              <a:t>young</a:t>
            </a:r>
            <a:r>
              <a:rPr lang="nl-NL" dirty="0">
                <a:highlight>
                  <a:srgbClr val="00FF00"/>
                </a:highlight>
                <a:sym typeface="Wingdings" panose="05000000000000000000" pitchFamily="2" charset="2"/>
              </a:rPr>
              <a:t> modulus </a:t>
            </a:r>
            <a:endParaRPr lang="nl-NL" dirty="0">
              <a:highlight>
                <a:srgbClr val="00FF00"/>
              </a:highlight>
            </a:endParaRPr>
          </a:p>
          <a:p>
            <a:pPr lvl="1"/>
            <a:r>
              <a:rPr lang="nl-NL" dirty="0">
                <a:highlight>
                  <a:srgbClr val="00FF00"/>
                </a:highlight>
              </a:rPr>
              <a:t>Totale displacement, op het maaiveld ter plaatse van de damwand (met teken) </a:t>
            </a:r>
            <a:r>
              <a:rPr lang="nl-NL" dirty="0">
                <a:highlight>
                  <a:srgbClr val="00FF00"/>
                </a:highlight>
                <a:sym typeface="Wingdings" panose="05000000000000000000" pitchFamily="2" charset="2"/>
              </a:rPr>
              <a:t> maaiveld node 171</a:t>
            </a:r>
            <a:endParaRPr lang="nl-NL" dirty="0">
              <a:highlight>
                <a:srgbClr val="00FF00"/>
              </a:highlight>
            </a:endParaRPr>
          </a:p>
          <a:p>
            <a:pPr lvl="1"/>
            <a:r>
              <a:rPr lang="nl-NL" dirty="0">
                <a:highlight>
                  <a:srgbClr val="00FF00"/>
                </a:highlight>
              </a:rPr>
              <a:t>Onder + 2 net boven </a:t>
            </a:r>
            <a:r>
              <a:rPr lang="nl-NL" dirty="0">
                <a:highlight>
                  <a:srgbClr val="00FF00"/>
                </a:highlight>
                <a:sym typeface="Wingdings" panose="05000000000000000000" pitchFamily="2" charset="2"/>
              </a:rPr>
              <a:t> zand</a:t>
            </a:r>
          </a:p>
          <a:p>
            <a:pPr lvl="1"/>
            <a:r>
              <a:rPr lang="nl-NL" dirty="0">
                <a:highlight>
                  <a:srgbClr val="00FF00"/>
                </a:highlight>
                <a:sym typeface="Wingdings" panose="05000000000000000000" pitchFamily="2" charset="2"/>
              </a:rPr>
              <a:t>Interfaces: net als bij grond</a:t>
            </a:r>
          </a:p>
          <a:p>
            <a:pPr lvl="1"/>
            <a:r>
              <a:rPr lang="nl-NL" dirty="0">
                <a:sym typeface="Wingdings" panose="05000000000000000000" pitchFamily="2" charset="2"/>
              </a:rPr>
              <a:t>Correlatie</a:t>
            </a:r>
          </a:p>
          <a:p>
            <a:pPr lvl="1"/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2A6D9-5E6D-33C4-BAE1-519482ED0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77769-2C7E-10FD-D8FE-6641A6519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0470F-12C8-D57D-4FE3-773987FA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3124354"/>
      </p:ext>
    </p:extLst>
  </p:cSld>
  <p:clrMapOvr>
    <a:masterClrMapping/>
  </p:clrMapOvr>
</p:sld>
</file>

<file path=ppt/theme/theme1.xml><?xml version="1.0" encoding="utf-8"?>
<a:theme xmlns:a="http://schemas.openxmlformats.org/drawingml/2006/main" name="Deltares">
  <a:themeElements>
    <a:clrScheme name="Deltares">
      <a:dk1>
        <a:sysClr val="windowText" lastClr="000000"/>
      </a:dk1>
      <a:lt1>
        <a:sysClr val="window" lastClr="FFFFFF"/>
      </a:lt1>
      <a:dk2>
        <a:srgbClr val="080C80"/>
      </a:dk2>
      <a:lt2>
        <a:srgbClr val="F2F2F2"/>
      </a:lt2>
      <a:accent1>
        <a:srgbClr val="080C80"/>
      </a:accent1>
      <a:accent2>
        <a:srgbClr val="0D38E0"/>
      </a:accent2>
      <a:accent3>
        <a:srgbClr val="0EBBF0"/>
      </a:accent3>
      <a:accent4>
        <a:srgbClr val="00B389"/>
      </a:accent4>
      <a:accent5>
        <a:srgbClr val="00CC96"/>
      </a:accent5>
      <a:accent6>
        <a:srgbClr val="00E6A1"/>
      </a:accent6>
      <a:hlink>
        <a:srgbClr val="0D38E0"/>
      </a:hlink>
      <a:folHlink>
        <a:srgbClr val="70707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res - Sjabloon NL.potx" id="{B5042D55-6068-4240-A1FC-01315EC513B9}" vid="{8C6F3C8F-138B-4215-B743-53866FE2FE19}"/>
    </a:ext>
  </a:extLst>
</a:theme>
</file>

<file path=ppt/theme/theme2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31082E7F932F4895FF772473B30116" ma:contentTypeVersion="11" ma:contentTypeDescription="Create a new document." ma:contentTypeScope="" ma:versionID="c30b5a7ebc79a8ae4b5672261524501a">
  <xsd:schema xmlns:xsd="http://www.w3.org/2001/XMLSchema" xmlns:xs="http://www.w3.org/2001/XMLSchema" xmlns:p="http://schemas.microsoft.com/office/2006/metadata/properties" xmlns:ns2="edd774d5-6d8f-4b83-b098-255576e86aac" xmlns:ns3="dead17b3-d09a-4d17-9633-982b423f4fbc" targetNamespace="http://schemas.microsoft.com/office/2006/metadata/properties" ma:root="true" ma:fieldsID="d0c78e411dc013314e83d6c65decba18" ns2:_="" ns3:_="">
    <xsd:import namespace="edd774d5-6d8f-4b83-b098-255576e86aac"/>
    <xsd:import namespace="dead17b3-d09a-4d17-9633-982b423f4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d774d5-6d8f-4b83-b098-255576e86a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17baf08-8363-4953-80fd-ae870aee1c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ad17b3-d09a-4d17-9633-982b423f4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4005174-1b38-469c-8ebf-12a293d8c4c9}" ma:internalName="TaxCatchAll" ma:showField="CatchAllData" ma:web="dead17b3-d09a-4d17-9633-982b423f4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ad17b3-d09a-4d17-9633-982b423f4fbc" xsi:nil="true"/>
    <lcf76f155ced4ddcb4097134ff3c332f xmlns="edd774d5-6d8f-4b83-b098-255576e86aa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6F5E9-25BB-4734-86C2-FD32BCBA5C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44D4F2-36BF-49E2-8330-5C01CEA3FA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d774d5-6d8f-4b83-b098-255576e86aac"/>
    <ds:schemaRef ds:uri="dead17b3-d09a-4d17-9633-982b423f4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338BAD-8BA4-4C42-A850-147A5D210631}">
  <ds:schemaRefs>
    <ds:schemaRef ds:uri="http://schemas.microsoft.com/office/2006/metadata/properties"/>
    <ds:schemaRef ds:uri="http://schemas.microsoft.com/office/infopath/2007/PartnerControls"/>
    <ds:schemaRef ds:uri="dead17b3-d09a-4d17-9633-982b423f4fbc"/>
    <ds:schemaRef ds:uri="edd774d5-6d8f-4b83-b098-255576e86a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Deltares - Sjabloon NL</Template>
  <TotalTime>521</TotalTime>
  <Words>926</Words>
  <Application>Microsoft Office PowerPoint</Application>
  <PresentationFormat>Widescreen</PresentationFormat>
  <Paragraphs>235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Wingdings</vt:lpstr>
      <vt:lpstr>Deltares</vt:lpstr>
      <vt:lpstr>Sheet pile</vt:lpstr>
      <vt:lpstr>Overview</vt:lpstr>
      <vt:lpstr>Sheet pile model, stages</vt:lpstr>
      <vt:lpstr>Lineair model</vt:lpstr>
      <vt:lpstr>Variables</vt:lpstr>
      <vt:lpstr>Uncertainty analysis (total displacement x)</vt:lpstr>
      <vt:lpstr>Uncertainty analysis (total displacement x)</vt:lpstr>
      <vt:lpstr>Uncertainty analysis (total displacement x)</vt:lpstr>
      <vt:lpstr>Uncertainty analysis (total displacement x)</vt:lpstr>
      <vt:lpstr>Uncertainty analysis (max bending moment)</vt:lpstr>
      <vt:lpstr>Uncertainty analysis (max bending moment)</vt:lpstr>
      <vt:lpstr>Uncertainty analysis (max bending moment)</vt:lpstr>
      <vt:lpstr>Uncertainty analysis (max bending moment)</vt:lpstr>
      <vt:lpstr>Mohr-Coulomb model</vt:lpstr>
      <vt:lpstr>Variables</vt:lpstr>
      <vt:lpstr>Uncertainty analysis (max total displacement)</vt:lpstr>
      <vt:lpstr>Uncertainty analysis (max total displacement)</vt:lpstr>
      <vt:lpstr>Uncertainty analysis (max bending moment)</vt:lpstr>
      <vt:lpstr>Uncertainty analysis (max bending moment)</vt:lpstr>
      <vt:lpstr>Uncertainty analysis (max bending moment)</vt:lpstr>
      <vt:lpstr>Uncertainty analysis (max bending moment)</vt:lpstr>
      <vt:lpstr>Summary</vt:lpstr>
      <vt:lpstr>Verbeterpunten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Karolina Wojciechowska</dc:creator>
  <dc:description>Template implementation by HQ Solutions B.V.</dc:description>
  <cp:lastModifiedBy>Karolina Wojciechowska</cp:lastModifiedBy>
  <cp:revision>7</cp:revision>
  <dcterms:created xsi:type="dcterms:W3CDTF">2025-06-05T04:42:54Z</dcterms:created>
  <dcterms:modified xsi:type="dcterms:W3CDTF">2025-06-06T05:04:25Z</dcterms:modified>
  <cp:version>1.0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0x0101000B31082E7F932F4895FF772473B30116</vt:lpwstr>
  </property>
  <property fmtid="{D5CDD505-2E9C-101B-9397-08002B2CF9AE}" pid="3" name="TaxKeyword">
    <vt:lpwstr/>
  </property>
</Properties>
</file>